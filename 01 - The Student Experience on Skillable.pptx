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a8d0889-69c8-1094-b12c-9f88d6da3b1b}">
          <p14:sldIdLst>
            <p14:sldId id="256"/>
          </p14:sldIdLst>
        </p14:section>
        <p14:section name="Getting in" id="{d5def8e6-4b5e-dc38-a3a1-03b45ff76490}">
          <p14:sldIdLst>
            <p14:sldId id="257"/>
            <p14:sldId id="258"/>
            <p14:sldId id="259"/>
            <p14:sldId id="260"/>
            <p14:sldId id="261"/>
            <p14:sldId id="262"/>
          </p14:sldIdLst>
        </p14:section>
        <p14:section name="In the lab" id="{dfc76f87-0452-2e04-3f9e-2833b007c299}">
          <p14:sldIdLst>
            <p14:sldId id="263"/>
            <p14:sldId id="264"/>
            <p14:sldId id="265"/>
            <p14:sldId id="266"/>
            <p14:sldId id="267"/>
            <p14:sldId id="268"/>
          </p14:sldIdLst>
        </p14:section>
        <p14:section name="Close" id="{9220cf00-aa81-b91d-c508-dd68efa6605d}">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never see Skillable Studio, where labs are built. Their whole world is the TMS website and the lab window it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steps at a high level. Students never see Skillable Studio, where labs are built. Their whole world is the TMS website and the lab window it opens. The following slides take each step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TMS also supports self-enrollment with a code, but in our pilot it caused a lot of errors (see the next slide). Each email address can only be used for one TMS account, so if a student's email changes, tell the CSM rather than letting them create a new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Self-enrollment saves CSMs some setup work, but the clean-up cost was far higher than the time saved. Manual enrollment is our preferred method for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 check doesn't need the student to launch the real lab. TMS access plus the connection test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Changing the password signs the student out straight away. That's expected. They sign back in with the new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student sees no class, the usual causes are a different email than the one we enrolled, or the class not yet having started. Labs become available when the class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Whichever option a program uses, instructors tell students at the start of each session exactly which lab to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students to launch a few minutes before the session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instructions pane holds steps, pages, check boxes, questions and clickable text. The machine pane is the virtual machine itself: desktop, terminal, VS Code. Encourage students to click the click-to-type text rather than retyping.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lab offers Save. If a student only sees End, that lab can't be saved and everything on the machine goes when it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Idle and closed-window times are Skillable defaults and can be configured per program. The safe habit: push to GitHub at every natural break, not just at the end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come to GA first, not Skillable. We own the class, the accounts and the lab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A_LIGHT">
    <p:bg>
      <p:bgPr>
        <a:solidFill>
          <a:srgbClr val="FFFFFF"/>
        </a:solidFill>
      </p:bgPr>
    </p:bg>
    <p:spTree>
      <p:nvGrpSpPr>
        <p:cNvPr id="1" name=""/>
        <p:cNvGrpSpPr/>
        <p:nvPr/>
      </p:nvGrpSpPr>
      <p:grpSpPr>
        <a:xfrm>
          <a:off x="0" y="0"/>
          <a:ext cx="0" cy="0"/>
          <a:chOff x="0" y="0"/>
          <a:chExt cx="0" cy="0"/>
        </a:xfrm>
      </p:grpSpPr>
      <p:pic>
        <p:nvPicPr>
          <p:cNvPr id="2" name="Image 0" descr="/home/claude/assets/logo-light.png">    </p:cNvPr>
          <p:cNvPicPr>
            <a:picLocks noChangeAspect="1"/>
          </p:cNvPicPr>
          <p:nvPr/>
        </p:nvPicPr>
        <p:blipFill>
          <a:blip r:embed="rId1"/>
          <a:stretch>
            <a:fillRect/>
          </a:stretch>
        </p:blipFill>
        <p:spPr>
          <a:xfrm>
            <a:off x="10314432" y="6400800"/>
            <a:ext cx="1325880" cy="165506"/>
          </a:xfrm>
          <a:prstGeom prst="rect">
            <a:avLst/>
          </a:prstGeom>
        </p:spPr>
      </p:pic>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A_DARK">
    <p:bg>
      <p:bgPr>
        <a:solidFill>
          <a:srgbClr val="000000"/>
        </a:solidFill>
      </p:bgPr>
    </p:bg>
    <p:spTree>
      <p:nvGrpSpPr>
        <p:cNvPr id="1" name=""/>
        <p:cNvGrpSpPr/>
        <p:nvPr/>
      </p:nvGrpSpPr>
      <p:grpSpPr>
        <a:xfrm>
          <a:off x="0" y="0"/>
          <a:ext cx="0" cy="0"/>
          <a:chOff x="0" y="0"/>
          <a:chExt cx="0" cy="0"/>
        </a:xfrm>
      </p:grpSpPr>
      <p:pic>
        <p:nvPicPr>
          <p:cNvPr id="2" name="Image 0" descr="/home/claude/assets/logo-dark.png">    </p:cNvPr>
          <p:cNvPicPr>
            <a:picLocks noChangeAspect="1"/>
          </p:cNvPicPr>
          <p:nvPr/>
        </p:nvPicPr>
        <p:blipFill>
          <a:blip r:embed="rId1"/>
          <a:stretch>
            <a:fillRect/>
          </a:stretch>
        </p:blipFill>
        <p:spPr>
          <a:xfrm>
            <a:off x="10314432" y="6400800"/>
            <a:ext cx="1325880" cy="144475"/>
          </a:xfrm>
          <a:prstGeom prst="rect">
            <a:avLst/>
          </a:prstGeom>
        </p:spPr>
      </p:pic>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latin typeface="Arial"/>
                <a:ea typeface="Arial"/>
                <a:cs typeface="Arial"/>
              </a:defRPr>
            </a:lvl1pPr>
          </a:lstStyle>
          <a:p>
            <a:pPr algn="l"/>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GA_RED">
    <p:bg>
      <p:bgPr>
        <a:solidFill>
          <a:srgbClr val="E41E2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Fingerprint" descr="/home/claude/deck/img/fp-whorl-white.png">    </p:cNvPr>
          <p:cNvPicPr>
            <a:picLocks noChangeAspect="1"/>
          </p:cNvPicPr>
          <p:nvPr/>
        </p:nvPicPr>
        <p:blipFill>
          <a:blip r:embed="rId1"/>
          <a:stretch>
            <a:fillRect/>
          </a:stretch>
        </p:blipFill>
        <p:spPr>
          <a:xfrm>
            <a:off x="8001000" y="-548640"/>
            <a:ext cx="4206240" cy="7004304"/>
          </a:xfrm>
          <a:prstGeom prst="rect">
            <a:avLst/>
          </a:prstGeom>
        </p:spPr>
      </p:pic>
      <p:sp>
        <p:nvSpPr>
          <p:cNvPr id="3" name="Angled shape"/>
          <p:cNvSpPr/>
          <p:nvPr/>
        </p:nvSpPr>
        <p:spPr>
          <a:xfrm flipH="1">
            <a:off x="0" y="5486400"/>
            <a:ext cx="12191695" cy="1371600"/>
          </a:xfrm>
          <a:prstGeom prst="rtTriangle">
            <a:avLst/>
          </a:prstGeom>
          <a:solidFill>
            <a:srgbClr val="E41E26"/>
          </a:solidFill>
          <a:ln w="12700">
            <a:solidFill>
              <a:srgbClr val="E41E26"/>
            </a:solidFill>
            <a:prstDash val="solid"/>
          </a:ln>
        </p:spPr>
      </p:sp>
      <p:pic>
        <p:nvPicPr>
          <p:cNvPr id="4" name="Image 1" descr="/home/claude/assets/logo-dark.png">    </p:cNvPr>
          <p:cNvPicPr>
            <a:picLocks noChangeAspect="1"/>
          </p:cNvPicPr>
          <p:nvPr/>
        </p:nvPicPr>
        <p:blipFill>
          <a:blip r:embed="rId2"/>
          <a:stretch>
            <a:fillRect/>
          </a:stretch>
        </p:blipFill>
        <p:spPr>
          <a:xfrm>
            <a:off x="548640" y="548640"/>
            <a:ext cx="2194560" cy="238658"/>
          </a:xfrm>
          <a:prstGeom prst="rect">
            <a:avLst/>
          </a:prstGeom>
        </p:spPr>
      </p:pic>
      <p:sp>
        <p:nvSpPr>
          <p:cNvPr id="5" name="Eyebrow"/>
          <p:cNvSpPr txBox="1"/>
          <p:nvPr/>
        </p:nvSpPr>
        <p:spPr>
          <a:xfrm>
            <a:off x="548640" y="1965960"/>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SKILLABLE ONBOARDING  ·  FOR THE GA TEAM</a:t>
            </a:r>
            <a:endParaRPr lang="en-US" sz="1200" dirty="0"/>
          </a:p>
        </p:txBody>
      </p:sp>
      <p:sp>
        <p:nvSpPr>
          <p:cNvPr id="6" name="Title"/>
          <p:cNvSpPr txBox="1"/>
          <p:nvPr/>
        </p:nvSpPr>
        <p:spPr>
          <a:xfrm>
            <a:off x="548640" y="2331720"/>
            <a:ext cx="8595360" cy="1737360"/>
          </a:xfrm>
          <a:prstGeom prst="rect">
            <a:avLst/>
          </a:prstGeom>
          <a:noFill/>
          <a:ln/>
        </p:spPr>
        <p:txBody>
          <a:bodyPr wrap="square" lIns="0" tIns="0" rIns="0" bIns="0" rtlCol="0" anchor="t"/>
          <a:lstStyle/>
          <a:p>
            <a:pPr indent="0" marL="0">
              <a:buNone/>
            </a:pPr>
            <a:r>
              <a:rPr lang="en-US" sz="5200" b="1" dirty="0">
                <a:solidFill>
                  <a:srgbClr val="FFFFFF"/>
                </a:solidFill>
                <a:latin typeface="Arial" pitchFamily="34" charset="0"/>
                <a:ea typeface="Arial" pitchFamily="34" charset="-122"/>
                <a:cs typeface="Arial" pitchFamily="34" charset="-120"/>
              </a:rPr>
              <a:t>The student experience on </a:t>
            </a:r>
            <a:pPr indent="0" marL="0">
              <a:buNone/>
            </a:pPr>
            <a:r>
              <a:rPr lang="en-US" sz="5200" b="1" dirty="0">
                <a:solidFill>
                  <a:srgbClr val="E41E26"/>
                </a:solidFill>
                <a:latin typeface="Arial" pitchFamily="34" charset="0"/>
                <a:ea typeface="Arial" pitchFamily="34" charset="-122"/>
                <a:cs typeface="Arial" pitchFamily="34" charset="-120"/>
              </a:rPr>
              <a:t>Skillable</a:t>
            </a:r>
            <a:pPr indent="0" marL="0">
              <a:buNone/>
            </a:pPr>
            <a:r>
              <a:rPr lang="en-US" sz="5200" b="1" dirty="0">
                <a:solidFill>
                  <a:srgbClr val="E41E26"/>
                </a:solidFill>
                <a:latin typeface="Arial" pitchFamily="34" charset="0"/>
                <a:ea typeface="Arial" pitchFamily="34" charset="-122"/>
                <a:cs typeface="Arial" pitchFamily="34" charset="-120"/>
              </a:rPr>
              <a:t>.</a:t>
            </a:r>
            <a:endParaRPr lang="en-US" sz="5200" dirty="0"/>
          </a:p>
        </p:txBody>
      </p:sp>
      <p:sp>
        <p:nvSpPr>
          <p:cNvPr id="7" name="Text 3"/>
          <p:cNvSpPr txBox="1"/>
          <p:nvPr/>
        </p:nvSpPr>
        <p:spPr>
          <a:xfrm>
            <a:off x="548640" y="4114800"/>
            <a:ext cx="6949440" cy="731520"/>
          </a:xfrm>
          <a:prstGeom prst="rect">
            <a:avLst/>
          </a:prstGeom>
          <a:noFill/>
          <a:ln/>
        </p:spPr>
        <p:txBody>
          <a:bodyPr wrap="square" lIns="0" tIns="0" rIns="0" bIns="0" rtlCol="0" anchor="t"/>
          <a:lstStyle/>
          <a:p>
            <a:pPr indent="0" marL="0">
              <a:spcAft>
                <a:spcPts val="400"/>
              </a:spcAft>
              <a:buNone/>
            </a:pPr>
            <a:r>
              <a:rPr lang="en-US" sz="1800" dirty="0">
                <a:solidFill>
                  <a:srgbClr val="D9D9D9"/>
                </a:solidFill>
                <a:latin typeface="Cambria" pitchFamily="34" charset="0"/>
                <a:ea typeface="Cambria" pitchFamily="34" charset="-122"/>
                <a:cs typeface="Cambria" pitchFamily="34" charset="-120"/>
              </a:rPr>
              <a:t>From inbox to running lab: what every learner sees, and how GA sets them up to succeed.</a:t>
            </a:r>
            <a:endParaRPr lang="en-US" sz="1800" dirty="0"/>
          </a:p>
        </p:txBody>
      </p:sp>
      <p:sp>
        <p:nvSpPr>
          <p:cNvPr id="8" name="Text 4"/>
          <p:cNvSpPr txBox="1"/>
          <p:nvPr/>
        </p:nvSpPr>
        <p:spPr>
          <a:xfrm>
            <a:off x="548640" y="4892040"/>
            <a:ext cx="5486400" cy="54864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Lauren Perez</a:t>
            </a:r>
            <a:endParaRPr lang="en-US" sz="1300" dirty="0"/>
          </a:p>
          <a:p>
            <a:pPr indent="0" marL="0">
              <a:buNone/>
            </a:pPr>
            <a:r>
              <a:rPr lang="en-US" sz="1300" dirty="0">
                <a:solidFill>
                  <a:srgbClr val="BFBFBF"/>
                </a:solidFill>
                <a:latin typeface="Arial" pitchFamily="34" charset="0"/>
                <a:ea typeface="Arial" pitchFamily="34" charset="-122"/>
                <a:cs typeface="Arial" pitchFamily="34" charset="-120"/>
              </a:rPr>
              <a:t>Lab Platform Admin, General Assembly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THE STUDENT JOURNEY AT A GLANCE</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From inbox to running lab in </a:t>
            </a:r>
            <a:pPr indent="0" marL="0">
              <a:buNone/>
            </a:pPr>
            <a:r>
              <a:rPr lang="en-US" sz="3400" b="1" dirty="0">
                <a:solidFill>
                  <a:srgbClr val="E41E26"/>
                </a:solidFill>
                <a:latin typeface="Arial" pitchFamily="34" charset="0"/>
                <a:ea typeface="Arial" pitchFamily="34" charset="-122"/>
                <a:cs typeface="Arial" pitchFamily="34" charset="-120"/>
              </a:rPr>
              <a:t>six steps</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sp>
        <p:nvSpPr>
          <p:cNvPr id="4" name="Connector"/>
          <p:cNvSpPr/>
          <p:nvPr/>
        </p:nvSpPr>
        <p:spPr>
          <a:xfrm>
            <a:off x="1473175" y="2697480"/>
            <a:ext cx="9245346" cy="0"/>
          </a:xfrm>
          <a:prstGeom prst="line">
            <a:avLst/>
          </a:prstGeom>
          <a:noFill/>
          <a:ln w="19050">
            <a:solidFill>
              <a:srgbClr val="BFBFBF"/>
            </a:solidFill>
            <a:prstDash val="dash"/>
          </a:ln>
        </p:spPr>
      </p:sp>
      <p:sp>
        <p:nvSpPr>
          <p:cNvPr id="5" name="Shape 3"/>
          <p:cNvSpPr/>
          <p:nvPr/>
        </p:nvSpPr>
        <p:spPr>
          <a:xfrm>
            <a:off x="970255" y="2194560"/>
            <a:ext cx="1005840" cy="1005840"/>
          </a:xfrm>
          <a:prstGeom prst="ellipse">
            <a:avLst/>
          </a:prstGeom>
          <a:solidFill>
            <a:srgbClr val="FFFFFF"/>
          </a:solidFill>
          <a:ln w="12700">
            <a:solidFill>
              <a:srgbClr val="FFFFFF"/>
            </a:solidFill>
            <a:prstDash val="solid"/>
          </a:ln>
        </p:spPr>
      </p:sp>
      <p:pic>
        <p:nvPicPr>
          <p:cNvPr id="6" name="Icon LuMail" descr="/home/claude/deck/img/LuMail-k.png">    </p:cNvPr>
          <p:cNvPicPr>
            <a:picLocks noChangeAspect="1"/>
          </p:cNvPicPr>
          <p:nvPr/>
        </p:nvPicPr>
        <p:blipFill>
          <a:blip r:embed="rId1"/>
          <a:stretch>
            <a:fillRect/>
          </a:stretch>
        </p:blipFill>
        <p:spPr>
          <a:xfrm>
            <a:off x="970255" y="2194560"/>
            <a:ext cx="1005840" cy="1005840"/>
          </a:xfrm>
          <a:prstGeom prst="rect">
            <a:avLst/>
          </a:prstGeom>
        </p:spPr>
      </p:pic>
      <p:sp>
        <p:nvSpPr>
          <p:cNvPr id="7" name="Text 4"/>
          <p:cNvSpPr txBox="1"/>
          <p:nvPr/>
        </p:nvSpPr>
        <p:spPr>
          <a:xfrm>
            <a:off x="650215" y="3429000"/>
            <a:ext cx="1645920" cy="320040"/>
          </a:xfrm>
          <a:prstGeom prst="rect">
            <a:avLst/>
          </a:prstGeom>
          <a:noFill/>
          <a:ln/>
        </p:spPr>
        <p:txBody>
          <a:bodyPr wrap="square" lIns="0" tIns="0" rIns="0" bIns="0" rtlCol="0" anchor="ctr"/>
          <a:lstStyle/>
          <a:p>
            <a:pPr algn="ctr" indent="0" marL="0">
              <a:buNone/>
            </a:pPr>
            <a:r>
              <a:rPr lang="en-US" sz="1400" b="1" dirty="0">
                <a:solidFill>
                  <a:srgbClr val="E41E26"/>
                </a:solidFill>
                <a:latin typeface="Arial" pitchFamily="34" charset="0"/>
                <a:ea typeface="Arial" pitchFamily="34" charset="-122"/>
                <a:cs typeface="Arial" pitchFamily="34" charset="-120"/>
              </a:rPr>
              <a:t>01</a:t>
            </a:r>
            <a:endParaRPr lang="en-US" sz="1400" dirty="0"/>
          </a:p>
        </p:txBody>
      </p:sp>
      <p:sp>
        <p:nvSpPr>
          <p:cNvPr id="8" name="Text 5"/>
          <p:cNvSpPr txBox="1"/>
          <p:nvPr/>
        </p:nvSpPr>
        <p:spPr>
          <a:xfrm>
            <a:off x="604495" y="3749040"/>
            <a:ext cx="1737360" cy="822960"/>
          </a:xfrm>
          <a:prstGeom prst="rect">
            <a:avLst/>
          </a:prstGeom>
          <a:noFill/>
          <a:ln/>
        </p:spPr>
        <p:txBody>
          <a:bodyPr wrap="square" lIns="0" tIns="0" rIns="0" bIns="0" rtlCol="0" anchor="t"/>
          <a:lstStyle/>
          <a:p>
            <a:pPr algn="ctr" indent="0" marL="0">
              <a:buNone/>
            </a:pPr>
            <a:r>
              <a:rPr lang="en-US" sz="1500" b="1" dirty="0">
                <a:solidFill>
                  <a:srgbClr val="000000"/>
                </a:solidFill>
                <a:latin typeface="Arial" pitchFamily="34" charset="0"/>
                <a:ea typeface="Arial" pitchFamily="34" charset="-122"/>
                <a:cs typeface="Arial" pitchFamily="34" charset="-120"/>
              </a:rPr>
              <a:t>Receive login details from GA</a:t>
            </a:r>
            <a:endParaRPr lang="en-US" sz="1500" dirty="0"/>
          </a:p>
        </p:txBody>
      </p:sp>
      <p:sp>
        <p:nvSpPr>
          <p:cNvPr id="9" name="Shape 6"/>
          <p:cNvSpPr/>
          <p:nvPr/>
        </p:nvSpPr>
        <p:spPr>
          <a:xfrm>
            <a:off x="2819324" y="2194560"/>
            <a:ext cx="1005840" cy="1005840"/>
          </a:xfrm>
          <a:prstGeom prst="ellipse">
            <a:avLst/>
          </a:prstGeom>
          <a:solidFill>
            <a:srgbClr val="FFFFFF"/>
          </a:solidFill>
          <a:ln w="12700">
            <a:solidFill>
              <a:srgbClr val="FFFFFF"/>
            </a:solidFill>
            <a:prstDash val="solid"/>
          </a:ln>
        </p:spPr>
      </p:sp>
      <p:pic>
        <p:nvPicPr>
          <p:cNvPr id="10" name="Icon LuWifi" descr="/home/claude/deck/img/LuWifi-k.png">    </p:cNvPr>
          <p:cNvPicPr>
            <a:picLocks noChangeAspect="1"/>
          </p:cNvPicPr>
          <p:nvPr/>
        </p:nvPicPr>
        <p:blipFill>
          <a:blip r:embed="rId2"/>
          <a:stretch>
            <a:fillRect/>
          </a:stretch>
        </p:blipFill>
        <p:spPr>
          <a:xfrm>
            <a:off x="2819324" y="2194560"/>
            <a:ext cx="1005840" cy="1005840"/>
          </a:xfrm>
          <a:prstGeom prst="rect">
            <a:avLst/>
          </a:prstGeom>
        </p:spPr>
      </p:pic>
      <p:sp>
        <p:nvSpPr>
          <p:cNvPr id="11" name="Text 7"/>
          <p:cNvSpPr txBox="1"/>
          <p:nvPr/>
        </p:nvSpPr>
        <p:spPr>
          <a:xfrm>
            <a:off x="2499284" y="3429000"/>
            <a:ext cx="1645920" cy="320040"/>
          </a:xfrm>
          <a:prstGeom prst="rect">
            <a:avLst/>
          </a:prstGeom>
          <a:noFill/>
          <a:ln/>
        </p:spPr>
        <p:txBody>
          <a:bodyPr wrap="square" lIns="0" tIns="0" rIns="0" bIns="0" rtlCol="0" anchor="ctr"/>
          <a:lstStyle/>
          <a:p>
            <a:pPr algn="ctr" indent="0" marL="0">
              <a:buNone/>
            </a:pPr>
            <a:r>
              <a:rPr lang="en-US" sz="1400" b="1" dirty="0">
                <a:solidFill>
                  <a:srgbClr val="E41E26"/>
                </a:solidFill>
                <a:latin typeface="Arial" pitchFamily="34" charset="0"/>
                <a:ea typeface="Arial" pitchFamily="34" charset="-122"/>
                <a:cs typeface="Arial" pitchFamily="34" charset="-120"/>
              </a:rPr>
              <a:t>02</a:t>
            </a:r>
            <a:endParaRPr lang="en-US" sz="1400" dirty="0"/>
          </a:p>
        </p:txBody>
      </p:sp>
      <p:sp>
        <p:nvSpPr>
          <p:cNvPr id="12" name="Text 8"/>
          <p:cNvSpPr txBox="1"/>
          <p:nvPr/>
        </p:nvSpPr>
        <p:spPr>
          <a:xfrm>
            <a:off x="2453564" y="3749040"/>
            <a:ext cx="1737360" cy="822960"/>
          </a:xfrm>
          <a:prstGeom prst="rect">
            <a:avLst/>
          </a:prstGeom>
          <a:noFill/>
          <a:ln/>
        </p:spPr>
        <p:txBody>
          <a:bodyPr wrap="square" lIns="0" tIns="0" rIns="0" bIns="0" rtlCol="0" anchor="t"/>
          <a:lstStyle/>
          <a:p>
            <a:pPr algn="ctr" indent="0" marL="0">
              <a:buNone/>
            </a:pPr>
            <a:r>
              <a:rPr lang="en-US" sz="1500" b="1" dirty="0">
                <a:solidFill>
                  <a:srgbClr val="000000"/>
                </a:solidFill>
                <a:latin typeface="Arial" pitchFamily="34" charset="0"/>
                <a:ea typeface="Arial" pitchFamily="34" charset="-122"/>
                <a:cs typeface="Arial" pitchFamily="34" charset="-120"/>
              </a:rPr>
              <a:t>Run the tech check</a:t>
            </a:r>
            <a:endParaRPr lang="en-US" sz="1500" dirty="0"/>
          </a:p>
        </p:txBody>
      </p:sp>
      <p:sp>
        <p:nvSpPr>
          <p:cNvPr id="13" name="Shape 9"/>
          <p:cNvSpPr/>
          <p:nvPr/>
        </p:nvSpPr>
        <p:spPr>
          <a:xfrm>
            <a:off x="4668393" y="2194560"/>
            <a:ext cx="1005840" cy="1005840"/>
          </a:xfrm>
          <a:prstGeom prst="ellipse">
            <a:avLst/>
          </a:prstGeom>
          <a:solidFill>
            <a:srgbClr val="FFFFFF"/>
          </a:solidFill>
          <a:ln w="12700">
            <a:solidFill>
              <a:srgbClr val="FFFFFF"/>
            </a:solidFill>
            <a:prstDash val="solid"/>
          </a:ln>
        </p:spPr>
      </p:sp>
      <p:pic>
        <p:nvPicPr>
          <p:cNvPr id="14" name="Icon LuLogIn" descr="/home/claude/deck/img/LuLogIn-k.png">    </p:cNvPr>
          <p:cNvPicPr>
            <a:picLocks noChangeAspect="1"/>
          </p:cNvPicPr>
          <p:nvPr/>
        </p:nvPicPr>
        <p:blipFill>
          <a:blip r:embed="rId3"/>
          <a:stretch>
            <a:fillRect/>
          </a:stretch>
        </p:blipFill>
        <p:spPr>
          <a:xfrm>
            <a:off x="4668393" y="2194560"/>
            <a:ext cx="1005840" cy="1005840"/>
          </a:xfrm>
          <a:prstGeom prst="rect">
            <a:avLst/>
          </a:prstGeom>
        </p:spPr>
      </p:pic>
      <p:sp>
        <p:nvSpPr>
          <p:cNvPr id="15" name="Text 10"/>
          <p:cNvSpPr txBox="1"/>
          <p:nvPr/>
        </p:nvSpPr>
        <p:spPr>
          <a:xfrm>
            <a:off x="4348353" y="3429000"/>
            <a:ext cx="1645920" cy="320040"/>
          </a:xfrm>
          <a:prstGeom prst="rect">
            <a:avLst/>
          </a:prstGeom>
          <a:noFill/>
          <a:ln/>
        </p:spPr>
        <p:txBody>
          <a:bodyPr wrap="square" lIns="0" tIns="0" rIns="0" bIns="0" rtlCol="0" anchor="ctr"/>
          <a:lstStyle/>
          <a:p>
            <a:pPr algn="ctr" indent="0" marL="0">
              <a:buNone/>
            </a:pPr>
            <a:r>
              <a:rPr lang="en-US" sz="1400" b="1" dirty="0">
                <a:solidFill>
                  <a:srgbClr val="E41E26"/>
                </a:solidFill>
                <a:latin typeface="Arial" pitchFamily="34" charset="0"/>
                <a:ea typeface="Arial" pitchFamily="34" charset="-122"/>
                <a:cs typeface="Arial" pitchFamily="34" charset="-120"/>
              </a:rPr>
              <a:t>03</a:t>
            </a:r>
            <a:endParaRPr lang="en-US" sz="1400" dirty="0"/>
          </a:p>
        </p:txBody>
      </p:sp>
      <p:sp>
        <p:nvSpPr>
          <p:cNvPr id="16" name="Text 11"/>
          <p:cNvSpPr txBox="1"/>
          <p:nvPr/>
        </p:nvSpPr>
        <p:spPr>
          <a:xfrm>
            <a:off x="4302633" y="3749040"/>
            <a:ext cx="1737360" cy="822960"/>
          </a:xfrm>
          <a:prstGeom prst="rect">
            <a:avLst/>
          </a:prstGeom>
          <a:noFill/>
          <a:ln/>
        </p:spPr>
        <p:txBody>
          <a:bodyPr wrap="square" lIns="0" tIns="0" rIns="0" bIns="0" rtlCol="0" anchor="t"/>
          <a:lstStyle/>
          <a:p>
            <a:pPr algn="ctr" indent="0" marL="0">
              <a:buNone/>
            </a:pPr>
            <a:r>
              <a:rPr lang="en-US" sz="1500" b="1" dirty="0">
                <a:solidFill>
                  <a:srgbClr val="000000"/>
                </a:solidFill>
                <a:latin typeface="Arial" pitchFamily="34" charset="0"/>
                <a:ea typeface="Arial" pitchFamily="34" charset="-122"/>
                <a:cs typeface="Arial" pitchFamily="34" charset="-120"/>
              </a:rPr>
              <a:t>Sign in to Skillable TMS</a:t>
            </a:r>
            <a:endParaRPr lang="en-US" sz="1500" dirty="0"/>
          </a:p>
        </p:txBody>
      </p:sp>
      <p:sp>
        <p:nvSpPr>
          <p:cNvPr id="17" name="Shape 12"/>
          <p:cNvSpPr/>
          <p:nvPr/>
        </p:nvSpPr>
        <p:spPr>
          <a:xfrm>
            <a:off x="6517462" y="2194560"/>
            <a:ext cx="1005840" cy="1005840"/>
          </a:xfrm>
          <a:prstGeom prst="ellipse">
            <a:avLst/>
          </a:prstGeom>
          <a:solidFill>
            <a:srgbClr val="FFFFFF"/>
          </a:solidFill>
          <a:ln w="12700">
            <a:solidFill>
              <a:srgbClr val="FFFFFF"/>
            </a:solidFill>
            <a:prstDash val="solid"/>
          </a:ln>
        </p:spPr>
      </p:sp>
      <p:pic>
        <p:nvPicPr>
          <p:cNvPr id="18" name="Icon LuKeyRound" descr="/home/claude/deck/img/LuKeyRound-k.png">    </p:cNvPr>
          <p:cNvPicPr>
            <a:picLocks noChangeAspect="1"/>
          </p:cNvPicPr>
          <p:nvPr/>
        </p:nvPicPr>
        <p:blipFill>
          <a:blip r:embed="rId4"/>
          <a:stretch>
            <a:fillRect/>
          </a:stretch>
        </p:blipFill>
        <p:spPr>
          <a:xfrm>
            <a:off x="6517462" y="2194560"/>
            <a:ext cx="1005840" cy="1005840"/>
          </a:xfrm>
          <a:prstGeom prst="rect">
            <a:avLst/>
          </a:prstGeom>
        </p:spPr>
      </p:pic>
      <p:sp>
        <p:nvSpPr>
          <p:cNvPr id="19" name="Text 13"/>
          <p:cNvSpPr txBox="1"/>
          <p:nvPr/>
        </p:nvSpPr>
        <p:spPr>
          <a:xfrm>
            <a:off x="6197422" y="3429000"/>
            <a:ext cx="1645920" cy="320040"/>
          </a:xfrm>
          <a:prstGeom prst="rect">
            <a:avLst/>
          </a:prstGeom>
          <a:noFill/>
          <a:ln/>
        </p:spPr>
        <p:txBody>
          <a:bodyPr wrap="square" lIns="0" tIns="0" rIns="0" bIns="0" rtlCol="0" anchor="ctr"/>
          <a:lstStyle/>
          <a:p>
            <a:pPr algn="ctr" indent="0" marL="0">
              <a:buNone/>
            </a:pPr>
            <a:r>
              <a:rPr lang="en-US" sz="1400" b="1" dirty="0">
                <a:solidFill>
                  <a:srgbClr val="E41E26"/>
                </a:solidFill>
                <a:latin typeface="Arial" pitchFamily="34" charset="0"/>
                <a:ea typeface="Arial" pitchFamily="34" charset="-122"/>
                <a:cs typeface="Arial" pitchFamily="34" charset="-120"/>
              </a:rPr>
              <a:t>04</a:t>
            </a:r>
            <a:endParaRPr lang="en-US" sz="1400" dirty="0"/>
          </a:p>
        </p:txBody>
      </p:sp>
      <p:sp>
        <p:nvSpPr>
          <p:cNvPr id="20" name="Text 14"/>
          <p:cNvSpPr txBox="1"/>
          <p:nvPr/>
        </p:nvSpPr>
        <p:spPr>
          <a:xfrm>
            <a:off x="6151702" y="3749040"/>
            <a:ext cx="1737360" cy="822960"/>
          </a:xfrm>
          <a:prstGeom prst="rect">
            <a:avLst/>
          </a:prstGeom>
          <a:noFill/>
          <a:ln/>
        </p:spPr>
        <p:txBody>
          <a:bodyPr wrap="square" lIns="0" tIns="0" rIns="0" bIns="0" rtlCol="0" anchor="t"/>
          <a:lstStyle/>
          <a:p>
            <a:pPr algn="ctr" indent="0" marL="0">
              <a:buNone/>
            </a:pPr>
            <a:r>
              <a:rPr lang="en-US" sz="1500" b="1" dirty="0">
                <a:solidFill>
                  <a:srgbClr val="000000"/>
                </a:solidFill>
                <a:latin typeface="Arial" pitchFamily="34" charset="0"/>
                <a:ea typeface="Arial" pitchFamily="34" charset="-122"/>
                <a:cs typeface="Arial" pitchFamily="34" charset="-120"/>
              </a:rPr>
              <a:t>Set a new password</a:t>
            </a:r>
            <a:endParaRPr lang="en-US" sz="1500" dirty="0"/>
          </a:p>
        </p:txBody>
      </p:sp>
      <p:sp>
        <p:nvSpPr>
          <p:cNvPr id="21" name="Shape 15"/>
          <p:cNvSpPr/>
          <p:nvPr/>
        </p:nvSpPr>
        <p:spPr>
          <a:xfrm>
            <a:off x="8366531" y="2194560"/>
            <a:ext cx="1005840" cy="1005840"/>
          </a:xfrm>
          <a:prstGeom prst="ellipse">
            <a:avLst/>
          </a:prstGeom>
          <a:solidFill>
            <a:srgbClr val="FFFFFF"/>
          </a:solidFill>
          <a:ln w="12700">
            <a:solidFill>
              <a:srgbClr val="FFFFFF"/>
            </a:solidFill>
            <a:prstDash val="solid"/>
          </a:ln>
        </p:spPr>
      </p:sp>
      <p:pic>
        <p:nvPicPr>
          <p:cNvPr id="22" name="Icon LuSchool" descr="/home/claude/deck/img/LuSchool-k.png">    </p:cNvPr>
          <p:cNvPicPr>
            <a:picLocks noChangeAspect="1"/>
          </p:cNvPicPr>
          <p:nvPr/>
        </p:nvPicPr>
        <p:blipFill>
          <a:blip r:embed="rId5"/>
          <a:stretch>
            <a:fillRect/>
          </a:stretch>
        </p:blipFill>
        <p:spPr>
          <a:xfrm>
            <a:off x="8366531" y="2194560"/>
            <a:ext cx="1005840" cy="1005840"/>
          </a:xfrm>
          <a:prstGeom prst="rect">
            <a:avLst/>
          </a:prstGeom>
        </p:spPr>
      </p:pic>
      <p:sp>
        <p:nvSpPr>
          <p:cNvPr id="23" name="Text 16"/>
          <p:cNvSpPr txBox="1"/>
          <p:nvPr/>
        </p:nvSpPr>
        <p:spPr>
          <a:xfrm>
            <a:off x="8046491" y="3429000"/>
            <a:ext cx="1645920" cy="320040"/>
          </a:xfrm>
          <a:prstGeom prst="rect">
            <a:avLst/>
          </a:prstGeom>
          <a:noFill/>
          <a:ln/>
        </p:spPr>
        <p:txBody>
          <a:bodyPr wrap="square" lIns="0" tIns="0" rIns="0" bIns="0" rtlCol="0" anchor="ctr"/>
          <a:lstStyle/>
          <a:p>
            <a:pPr algn="ctr" indent="0" marL="0">
              <a:buNone/>
            </a:pPr>
            <a:r>
              <a:rPr lang="en-US" sz="1400" b="1" dirty="0">
                <a:solidFill>
                  <a:srgbClr val="E41E26"/>
                </a:solidFill>
                <a:latin typeface="Arial" pitchFamily="34" charset="0"/>
                <a:ea typeface="Arial" pitchFamily="34" charset="-122"/>
                <a:cs typeface="Arial" pitchFamily="34" charset="-120"/>
              </a:rPr>
              <a:t>05</a:t>
            </a:r>
            <a:endParaRPr lang="en-US" sz="1400" dirty="0"/>
          </a:p>
        </p:txBody>
      </p:sp>
      <p:sp>
        <p:nvSpPr>
          <p:cNvPr id="24" name="Text 17"/>
          <p:cNvSpPr txBox="1"/>
          <p:nvPr/>
        </p:nvSpPr>
        <p:spPr>
          <a:xfrm>
            <a:off x="8000771" y="3749040"/>
            <a:ext cx="1737360" cy="822960"/>
          </a:xfrm>
          <a:prstGeom prst="rect">
            <a:avLst/>
          </a:prstGeom>
          <a:noFill/>
          <a:ln/>
        </p:spPr>
        <p:txBody>
          <a:bodyPr wrap="square" lIns="0" tIns="0" rIns="0" bIns="0" rtlCol="0" anchor="t"/>
          <a:lstStyle/>
          <a:p>
            <a:pPr algn="ctr" indent="0" marL="0">
              <a:buNone/>
            </a:pPr>
            <a:r>
              <a:rPr lang="en-US" sz="1500" b="1" dirty="0">
                <a:solidFill>
                  <a:srgbClr val="000000"/>
                </a:solidFill>
                <a:latin typeface="Arial" pitchFamily="34" charset="0"/>
                <a:ea typeface="Arial" pitchFamily="34" charset="-122"/>
                <a:cs typeface="Arial" pitchFamily="34" charset="-120"/>
              </a:rPr>
              <a:t>Open the class from the dashboard</a:t>
            </a:r>
            <a:endParaRPr lang="en-US" sz="1500" dirty="0"/>
          </a:p>
        </p:txBody>
      </p:sp>
      <p:sp>
        <p:nvSpPr>
          <p:cNvPr id="25" name="Shape 18"/>
          <p:cNvSpPr/>
          <p:nvPr/>
        </p:nvSpPr>
        <p:spPr>
          <a:xfrm>
            <a:off x="10215601" y="2194560"/>
            <a:ext cx="1005840" cy="1005840"/>
          </a:xfrm>
          <a:prstGeom prst="ellipse">
            <a:avLst/>
          </a:prstGeom>
          <a:solidFill>
            <a:srgbClr val="FFFFFF"/>
          </a:solidFill>
          <a:ln w="12700">
            <a:solidFill>
              <a:srgbClr val="FFFFFF"/>
            </a:solidFill>
            <a:prstDash val="solid"/>
          </a:ln>
        </p:spPr>
      </p:sp>
      <p:pic>
        <p:nvPicPr>
          <p:cNvPr id="26" name="Icon LuPlay" descr="/home/claude/deck/img/LuPlay-k.png">    </p:cNvPr>
          <p:cNvPicPr>
            <a:picLocks noChangeAspect="1"/>
          </p:cNvPicPr>
          <p:nvPr/>
        </p:nvPicPr>
        <p:blipFill>
          <a:blip r:embed="rId6"/>
          <a:stretch>
            <a:fillRect/>
          </a:stretch>
        </p:blipFill>
        <p:spPr>
          <a:xfrm>
            <a:off x="10215601" y="2194560"/>
            <a:ext cx="1005840" cy="1005840"/>
          </a:xfrm>
          <a:prstGeom prst="rect">
            <a:avLst/>
          </a:prstGeom>
        </p:spPr>
      </p:pic>
      <p:sp>
        <p:nvSpPr>
          <p:cNvPr id="27" name="Text 19"/>
          <p:cNvSpPr txBox="1"/>
          <p:nvPr/>
        </p:nvSpPr>
        <p:spPr>
          <a:xfrm>
            <a:off x="9895561" y="3429000"/>
            <a:ext cx="1645920" cy="320040"/>
          </a:xfrm>
          <a:prstGeom prst="rect">
            <a:avLst/>
          </a:prstGeom>
          <a:noFill/>
          <a:ln/>
        </p:spPr>
        <p:txBody>
          <a:bodyPr wrap="square" lIns="0" tIns="0" rIns="0" bIns="0" rtlCol="0" anchor="ctr"/>
          <a:lstStyle/>
          <a:p>
            <a:pPr algn="ctr" indent="0" marL="0">
              <a:buNone/>
            </a:pPr>
            <a:r>
              <a:rPr lang="en-US" sz="1400" b="1" dirty="0">
                <a:solidFill>
                  <a:srgbClr val="E41E26"/>
                </a:solidFill>
                <a:latin typeface="Arial" pitchFamily="34" charset="0"/>
                <a:ea typeface="Arial" pitchFamily="34" charset="-122"/>
                <a:cs typeface="Arial" pitchFamily="34" charset="-120"/>
              </a:rPr>
              <a:t>06</a:t>
            </a:r>
            <a:endParaRPr lang="en-US" sz="1400" dirty="0"/>
          </a:p>
        </p:txBody>
      </p:sp>
      <p:sp>
        <p:nvSpPr>
          <p:cNvPr id="28" name="Text 20"/>
          <p:cNvSpPr txBox="1"/>
          <p:nvPr/>
        </p:nvSpPr>
        <p:spPr>
          <a:xfrm>
            <a:off x="9849841" y="3749040"/>
            <a:ext cx="1737360" cy="822960"/>
          </a:xfrm>
          <a:prstGeom prst="rect">
            <a:avLst/>
          </a:prstGeom>
          <a:noFill/>
          <a:ln/>
        </p:spPr>
        <p:txBody>
          <a:bodyPr wrap="square" lIns="0" tIns="0" rIns="0" bIns="0" rtlCol="0" anchor="t"/>
          <a:lstStyle/>
          <a:p>
            <a:pPr algn="ctr" indent="0" marL="0">
              <a:buNone/>
            </a:pPr>
            <a:r>
              <a:rPr lang="en-US" sz="1500" b="1" dirty="0">
                <a:solidFill>
                  <a:srgbClr val="000000"/>
                </a:solidFill>
                <a:latin typeface="Arial" pitchFamily="34" charset="0"/>
                <a:ea typeface="Arial" pitchFamily="34" charset="-122"/>
                <a:cs typeface="Arial" pitchFamily="34" charset="-120"/>
              </a:rPr>
              <a:t>Launch the lab</a:t>
            </a:r>
            <a:endParaRPr lang="en-US" sz="1500" dirty="0"/>
          </a:p>
        </p:txBody>
      </p:sp>
      <p:sp>
        <p:nvSpPr>
          <p:cNvPr id="29" name="Panel"/>
          <p:cNvSpPr/>
          <p:nvPr/>
        </p:nvSpPr>
        <p:spPr>
          <a:xfrm>
            <a:off x="548640" y="4983480"/>
            <a:ext cx="11094415" cy="960120"/>
          </a:xfrm>
          <a:prstGeom prst="rect">
            <a:avLst/>
          </a:prstGeom>
          <a:solidFill>
            <a:srgbClr val="EFEFEF"/>
          </a:solidFill>
          <a:ln w="12700">
            <a:solidFill>
              <a:srgbClr val="EFEFEF"/>
            </a:solidFill>
            <a:prstDash val="solid"/>
          </a:ln>
        </p:spPr>
      </p:sp>
      <p:pic>
        <p:nvPicPr>
          <p:cNvPr id="30" name="Image 6" descr="/home/claude/deck/img/fp-loop-black.png">    </p:cNvPr>
          <p:cNvPicPr>
            <a:picLocks noChangeAspect="1"/>
          </p:cNvPicPr>
          <p:nvPr/>
        </p:nvPicPr>
        <p:blipFill>
          <a:blip r:embed="rId7"/>
          <a:stretch>
            <a:fillRect/>
          </a:stretch>
        </p:blipFill>
        <p:spPr>
          <a:xfrm>
            <a:off x="10607040" y="4983480"/>
            <a:ext cx="576072" cy="960120"/>
          </a:xfrm>
          <a:prstGeom prst="rect">
            <a:avLst/>
          </a:prstGeom>
        </p:spPr>
      </p:pic>
      <p:sp>
        <p:nvSpPr>
          <p:cNvPr id="31" name="Text 22"/>
          <p:cNvSpPr txBox="1"/>
          <p:nvPr/>
        </p:nvSpPr>
        <p:spPr>
          <a:xfrm>
            <a:off x="868680" y="4983480"/>
            <a:ext cx="9601200" cy="960120"/>
          </a:xfrm>
          <a:prstGeom prst="rect">
            <a:avLst/>
          </a:prstGeom>
          <a:noFill/>
          <a:ln/>
        </p:spPr>
        <p:txBody>
          <a:bodyPr wrap="square" lIns="0" tIns="0" rIns="0" bIns="0" rtlCol="0" anchor="ctr"/>
          <a:lstStyle/>
          <a:p>
            <a:pPr indent="0" marL="0">
              <a:spcAft>
                <a:spcPts val="400"/>
              </a:spcAft>
              <a:buNone/>
            </a:pPr>
            <a:r>
              <a:rPr lang="en-US" sz="1600" b="1" dirty="0">
                <a:solidFill>
                  <a:srgbClr val="000000"/>
                </a:solidFill>
                <a:latin typeface="Cambria" pitchFamily="34" charset="0"/>
                <a:ea typeface="Cambria" pitchFamily="34" charset="-122"/>
                <a:cs typeface="Cambria" pitchFamily="34" charset="-120"/>
              </a:rPr>
              <a:t>Students never see Skillable Studio. </a:t>
            </a:r>
            <a:pPr indent="0" marL="0">
              <a:spcAft>
                <a:spcPts val="400"/>
              </a:spcAft>
              <a:buNone/>
            </a:pPr>
            <a:r>
              <a:rPr lang="en-US" sz="1600" dirty="0">
                <a:solidFill>
                  <a:srgbClr val="000000"/>
                </a:solidFill>
                <a:latin typeface="Cambria" pitchFamily="34" charset="0"/>
                <a:ea typeface="Cambria" pitchFamily="34" charset="-122"/>
                <a:cs typeface="Cambria" pitchFamily="34" charset="-120"/>
              </a:rPr>
              <a:t>Their whole world is the TMS website and the lab window it opens.</a:t>
            </a:r>
            <a:endParaRPr lang="en-US" sz="16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HOW STUDENTS GET ACCESS</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GA enrolls </a:t>
            </a:r>
            <a:pPr indent="0" marL="0">
              <a:buNone/>
            </a:pPr>
            <a:r>
              <a:rPr lang="en-US" sz="3400" b="1" dirty="0">
                <a:solidFill>
                  <a:srgbClr val="E41E26"/>
                </a:solidFill>
                <a:latin typeface="Arial" pitchFamily="34" charset="0"/>
                <a:ea typeface="Arial" pitchFamily="34" charset="-122"/>
                <a:cs typeface="Arial" pitchFamily="34" charset="-120"/>
              </a:rPr>
              <a:t>every</a:t>
            </a:r>
            <a:pPr indent="0" marL="0">
              <a:buNone/>
            </a:pPr>
            <a:r>
              <a:rPr lang="en-US" sz="3400" b="1" dirty="0">
                <a:solidFill>
                  <a:srgbClr val="000000"/>
                </a:solidFill>
                <a:latin typeface="Arial" pitchFamily="34" charset="0"/>
                <a:ea typeface="Arial" pitchFamily="34" charset="-122"/>
                <a:cs typeface="Arial" pitchFamily="34" charset="-120"/>
              </a:rPr>
              <a:t> student</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sp>
        <p:nvSpPr>
          <p:cNvPr id="4" name="Step 1"/>
          <p:cNvSpPr/>
          <p:nvPr/>
        </p:nvSpPr>
        <p:spPr>
          <a:xfrm>
            <a:off x="548640" y="1874520"/>
            <a:ext cx="502920" cy="502920"/>
          </a:xfrm>
          <a:prstGeom prst="ellipse">
            <a:avLst/>
          </a:prstGeom>
          <a:solidFill>
            <a:srgbClr val="E41E26"/>
          </a:solidFill>
          <a:ln w="12700">
            <a:solidFill>
              <a:srgbClr val="E41E26"/>
            </a:solidFill>
            <a:prstDash val="solid"/>
          </a:ln>
        </p:spPr>
      </p:sp>
      <p:sp>
        <p:nvSpPr>
          <p:cNvPr id="5" name="Text 3"/>
          <p:cNvSpPr txBox="1"/>
          <p:nvPr/>
        </p:nvSpPr>
        <p:spPr>
          <a:xfrm>
            <a:off x="548640" y="18745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pic>
        <p:nvPicPr>
          <p:cNvPr id="6" name="Icon LuClipboardList" descr="/home/claude/deck/img/LuClipboardList-k.png">    </p:cNvPr>
          <p:cNvPicPr>
            <a:picLocks noChangeAspect="1"/>
          </p:cNvPicPr>
          <p:nvPr/>
        </p:nvPicPr>
        <p:blipFill>
          <a:blip r:embed="rId1"/>
          <a:stretch>
            <a:fillRect/>
          </a:stretch>
        </p:blipFill>
        <p:spPr>
          <a:xfrm>
            <a:off x="1325880" y="1783080"/>
            <a:ext cx="685800" cy="685800"/>
          </a:xfrm>
          <a:prstGeom prst="rect">
            <a:avLst/>
          </a:prstGeom>
        </p:spPr>
      </p:pic>
      <p:sp>
        <p:nvSpPr>
          <p:cNvPr id="7" name="Text 4"/>
          <p:cNvSpPr txBox="1"/>
          <p:nvPr/>
        </p:nvSpPr>
        <p:spPr>
          <a:xfrm>
            <a:off x="2240280" y="1783080"/>
            <a:ext cx="5120640" cy="365760"/>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Collect the roster</a:t>
            </a:r>
            <a:endParaRPr lang="en-US" sz="1800" dirty="0"/>
          </a:p>
        </p:txBody>
      </p:sp>
      <p:sp>
        <p:nvSpPr>
          <p:cNvPr id="8" name="Text 5"/>
          <p:cNvSpPr txBox="1"/>
          <p:nvPr/>
        </p:nvSpPr>
        <p:spPr>
          <a:xfrm>
            <a:off x="2240280" y="2167128"/>
            <a:ext cx="5120640" cy="77724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GA gathers each student’s first name, last name and email from the client on a roster CSV.</a:t>
            </a:r>
            <a:endParaRPr lang="en-US" sz="1400" dirty="0"/>
          </a:p>
        </p:txBody>
      </p:sp>
      <p:sp>
        <p:nvSpPr>
          <p:cNvPr id="9" name="Step 2"/>
          <p:cNvSpPr/>
          <p:nvPr/>
        </p:nvSpPr>
        <p:spPr>
          <a:xfrm>
            <a:off x="548640" y="3246120"/>
            <a:ext cx="502920" cy="502920"/>
          </a:xfrm>
          <a:prstGeom prst="ellipse">
            <a:avLst/>
          </a:prstGeom>
          <a:solidFill>
            <a:srgbClr val="E41E26"/>
          </a:solidFill>
          <a:ln w="12700">
            <a:solidFill>
              <a:srgbClr val="E41E26"/>
            </a:solidFill>
            <a:prstDash val="solid"/>
          </a:ln>
        </p:spPr>
      </p:sp>
      <p:sp>
        <p:nvSpPr>
          <p:cNvPr id="10" name="Text 7"/>
          <p:cNvSpPr txBox="1"/>
          <p:nvPr/>
        </p:nvSpPr>
        <p:spPr>
          <a:xfrm>
            <a:off x="548640" y="32461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pic>
        <p:nvPicPr>
          <p:cNvPr id="11" name="Icon LuServer" descr="/home/claude/deck/img/LuServer-k.png">    </p:cNvPr>
          <p:cNvPicPr>
            <a:picLocks noChangeAspect="1"/>
          </p:cNvPicPr>
          <p:nvPr/>
        </p:nvPicPr>
        <p:blipFill>
          <a:blip r:embed="rId2"/>
          <a:stretch>
            <a:fillRect/>
          </a:stretch>
        </p:blipFill>
        <p:spPr>
          <a:xfrm>
            <a:off x="1325880" y="3154680"/>
            <a:ext cx="685800" cy="685800"/>
          </a:xfrm>
          <a:prstGeom prst="rect">
            <a:avLst/>
          </a:prstGeom>
        </p:spPr>
      </p:pic>
      <p:sp>
        <p:nvSpPr>
          <p:cNvPr id="12" name="Text 8"/>
          <p:cNvSpPr txBox="1"/>
          <p:nvPr/>
        </p:nvSpPr>
        <p:spPr>
          <a:xfrm>
            <a:off x="2240280" y="3154680"/>
            <a:ext cx="5120640" cy="365760"/>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Upload to TMS</a:t>
            </a:r>
            <a:endParaRPr lang="en-US" sz="1800" dirty="0"/>
          </a:p>
        </p:txBody>
      </p:sp>
      <p:sp>
        <p:nvSpPr>
          <p:cNvPr id="13" name="Text 9"/>
          <p:cNvSpPr txBox="1"/>
          <p:nvPr/>
        </p:nvSpPr>
        <p:spPr>
          <a:xfrm>
            <a:off x="2240280" y="3538728"/>
            <a:ext cx="5120640" cy="77724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TMS creates the accounts and enrolls every student in the right class, in advance.</a:t>
            </a:r>
            <a:endParaRPr lang="en-US" sz="1400" dirty="0"/>
          </a:p>
        </p:txBody>
      </p:sp>
      <p:sp>
        <p:nvSpPr>
          <p:cNvPr id="14" name="Step 3"/>
          <p:cNvSpPr/>
          <p:nvPr/>
        </p:nvSpPr>
        <p:spPr>
          <a:xfrm>
            <a:off x="548640" y="4617720"/>
            <a:ext cx="502920" cy="502920"/>
          </a:xfrm>
          <a:prstGeom prst="ellipse">
            <a:avLst/>
          </a:prstGeom>
          <a:solidFill>
            <a:srgbClr val="E41E26"/>
          </a:solidFill>
          <a:ln w="12700">
            <a:solidFill>
              <a:srgbClr val="E41E26"/>
            </a:solidFill>
            <a:prstDash val="solid"/>
          </a:ln>
        </p:spPr>
      </p:sp>
      <p:sp>
        <p:nvSpPr>
          <p:cNvPr id="15" name="Text 11"/>
          <p:cNvSpPr txBox="1"/>
          <p:nvPr/>
        </p:nvSpPr>
        <p:spPr>
          <a:xfrm>
            <a:off x="548640" y="46177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pic>
        <p:nvPicPr>
          <p:cNvPr id="16" name="Icon LuMail" descr="/home/claude/deck/img/LuMail-k.png">    </p:cNvPr>
          <p:cNvPicPr>
            <a:picLocks noChangeAspect="1"/>
          </p:cNvPicPr>
          <p:nvPr/>
        </p:nvPicPr>
        <p:blipFill>
          <a:blip r:embed="rId3"/>
          <a:stretch>
            <a:fillRect/>
          </a:stretch>
        </p:blipFill>
        <p:spPr>
          <a:xfrm>
            <a:off x="1325880" y="4526280"/>
            <a:ext cx="685800" cy="685800"/>
          </a:xfrm>
          <a:prstGeom prst="rect">
            <a:avLst/>
          </a:prstGeom>
        </p:spPr>
      </p:pic>
      <p:sp>
        <p:nvSpPr>
          <p:cNvPr id="17" name="Text 12"/>
          <p:cNvSpPr txBox="1"/>
          <p:nvPr/>
        </p:nvSpPr>
        <p:spPr>
          <a:xfrm>
            <a:off x="2240280" y="4526280"/>
            <a:ext cx="5120640" cy="365760"/>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Send credentials</a:t>
            </a:r>
            <a:endParaRPr lang="en-US" sz="1800" dirty="0"/>
          </a:p>
        </p:txBody>
      </p:sp>
      <p:sp>
        <p:nvSpPr>
          <p:cNvPr id="18" name="Text 13"/>
          <p:cNvSpPr txBox="1"/>
          <p:nvPr/>
        </p:nvSpPr>
        <p:spPr>
          <a:xfrm>
            <a:off x="2240280" y="4910328"/>
            <a:ext cx="5120640" cy="77724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Each student receives a username (their email) and a temporary password.</a:t>
            </a:r>
            <a:endParaRPr lang="en-US" sz="1400" dirty="0"/>
          </a:p>
        </p:txBody>
      </p:sp>
      <p:sp>
        <p:nvSpPr>
          <p:cNvPr id="19" name="Panel"/>
          <p:cNvSpPr/>
          <p:nvPr/>
        </p:nvSpPr>
        <p:spPr>
          <a:xfrm>
            <a:off x="7543800" y="1783080"/>
            <a:ext cx="4096512" cy="4160520"/>
          </a:xfrm>
          <a:prstGeom prst="rect">
            <a:avLst/>
          </a:prstGeom>
          <a:solidFill>
            <a:srgbClr val="000000"/>
          </a:solidFill>
          <a:ln w="12700">
            <a:solidFill>
              <a:srgbClr val="000000"/>
            </a:solidFill>
            <a:prstDash val="solid"/>
          </a:ln>
        </p:spPr>
      </p:sp>
      <p:pic>
        <p:nvPicPr>
          <p:cNvPr id="20" name="Image 3" descr="/home/claude/deck/img/fp-arch-white.png">    </p:cNvPr>
          <p:cNvPicPr>
            <a:picLocks noChangeAspect="1"/>
          </p:cNvPicPr>
          <p:nvPr/>
        </p:nvPicPr>
        <p:blipFill>
          <a:blip r:embed="rId4"/>
          <a:stretch>
            <a:fillRect/>
          </a:stretch>
        </p:blipFill>
        <p:spPr>
          <a:xfrm>
            <a:off x="9509760" y="3154680"/>
            <a:ext cx="1920240" cy="2743200"/>
          </a:xfrm>
          <a:prstGeom prst="rect">
            <a:avLst/>
          </a:prstGeom>
        </p:spPr>
      </p:pic>
      <p:pic>
        <p:nvPicPr>
          <p:cNvPr id="21" name="Icon LuShieldCheck" descr="/home/claude/deck/img/LuShieldCheck-w.png">    </p:cNvPr>
          <p:cNvPicPr>
            <a:picLocks noChangeAspect="1"/>
          </p:cNvPicPr>
          <p:nvPr/>
        </p:nvPicPr>
        <p:blipFill>
          <a:blip r:embed="rId5"/>
          <a:stretch>
            <a:fillRect/>
          </a:stretch>
        </p:blipFill>
        <p:spPr>
          <a:xfrm>
            <a:off x="7863840" y="2103120"/>
            <a:ext cx="640080" cy="640080"/>
          </a:xfrm>
          <a:prstGeom prst="rect">
            <a:avLst/>
          </a:prstGeom>
        </p:spPr>
      </p:pic>
      <p:sp>
        <p:nvSpPr>
          <p:cNvPr id="22" name="Text 15"/>
          <p:cNvSpPr txBox="1"/>
          <p:nvPr/>
        </p:nvSpPr>
        <p:spPr>
          <a:xfrm>
            <a:off x="7863840" y="2926080"/>
            <a:ext cx="347472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Why we do it this way</a:t>
            </a:r>
            <a:endParaRPr lang="en-US" sz="1800" dirty="0"/>
          </a:p>
        </p:txBody>
      </p:sp>
      <p:sp>
        <p:nvSpPr>
          <p:cNvPr id="23" name="Text 16"/>
          <p:cNvSpPr txBox="1"/>
          <p:nvPr/>
        </p:nvSpPr>
        <p:spPr>
          <a:xfrm>
            <a:off x="7863840" y="3383280"/>
            <a:ext cx="3474720" cy="1371600"/>
          </a:xfrm>
          <a:prstGeom prst="rect">
            <a:avLst/>
          </a:prstGeom>
          <a:noFill/>
          <a:ln/>
        </p:spPr>
        <p:txBody>
          <a:bodyPr wrap="square" lIns="0" tIns="0" rIns="0" bIns="0" rtlCol="0" anchor="t"/>
          <a:lstStyle/>
          <a:p>
            <a:pPr indent="0" marL="0">
              <a:spcAft>
                <a:spcPts val="400"/>
              </a:spcAft>
              <a:buNone/>
            </a:pPr>
            <a:r>
              <a:rPr lang="en-US" sz="1500" dirty="0">
                <a:solidFill>
                  <a:srgbClr val="D9D9D9"/>
                </a:solidFill>
                <a:latin typeface="Cambria" pitchFamily="34" charset="0"/>
                <a:ea typeface="Cambria" pitchFamily="34" charset="-122"/>
                <a:cs typeface="Cambria" pitchFamily="34" charset="-120"/>
              </a:rPr>
              <a:t>Every student is confirmed in the right class before day one, so nobody is debugging access in the first hour.</a:t>
            </a:r>
            <a:endParaRPr lang="en-US" sz="1500" dirty="0"/>
          </a:p>
        </p:txBody>
      </p:sp>
      <p:sp>
        <p:nvSpPr>
          <p:cNvPr id="24" name="Text 17"/>
          <p:cNvSpPr txBox="1"/>
          <p:nvPr/>
        </p:nvSpPr>
        <p:spPr>
          <a:xfrm>
            <a:off x="7863840" y="4892040"/>
            <a:ext cx="3474720" cy="731520"/>
          </a:xfrm>
          <a:prstGeom prst="rect">
            <a:avLst/>
          </a:prstGeom>
          <a:noFill/>
          <a:ln/>
        </p:spPr>
        <p:txBody>
          <a:bodyPr wrap="square" lIns="0" tIns="0" rIns="0" bIns="0" rtlCol="0" anchor="ctr"/>
          <a:lstStyle/>
          <a:p>
            <a:pPr indent="0" marL="0">
              <a:buNone/>
            </a:pPr>
            <a:r>
              <a:rPr lang="en-US" sz="1600" b="1" dirty="0">
                <a:solidFill>
                  <a:srgbClr val="E41E26"/>
                </a:solidFill>
                <a:latin typeface="Arial" pitchFamily="34" charset="0"/>
                <a:ea typeface="Arial" pitchFamily="34" charset="-122"/>
                <a:cs typeface="Arial" pitchFamily="34" charset="-120"/>
              </a:rPr>
              <a:t>No training keys.</a:t>
            </a:r>
            <a:endParaRPr lang="en-US" sz="1600" dirty="0"/>
          </a:p>
          <a:p>
            <a:pPr indent="0" marL="0">
              <a:buNone/>
            </a:pPr>
            <a:r>
              <a:rPr lang="en-US" sz="1600" b="1" dirty="0">
                <a:solidFill>
                  <a:srgbClr val="E41E26"/>
                </a:solidFill>
                <a:latin typeface="Arial" pitchFamily="34" charset="0"/>
                <a:ea typeface="Arial" pitchFamily="34" charset="-122"/>
                <a:cs typeface="Arial" pitchFamily="34" charset="-120"/>
              </a:rPr>
              <a:t>No self-enroll codes.</a:t>
            </a:r>
            <a:endParaRPr lang="en-US" sz="16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TWO WAYS TO ENROLL IN TMS</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Why not </a:t>
            </a:r>
            <a:pPr indent="0" marL="0">
              <a:buNone/>
            </a:pPr>
            <a:r>
              <a:rPr lang="en-US" sz="3400" b="1" dirty="0">
                <a:solidFill>
                  <a:srgbClr val="E41E26"/>
                </a:solidFill>
                <a:latin typeface="Arial" pitchFamily="34" charset="0"/>
                <a:ea typeface="Arial" pitchFamily="34" charset="-122"/>
                <a:cs typeface="Arial" pitchFamily="34" charset="-120"/>
              </a:rPr>
              <a:t>self-enrollment</a:t>
            </a:r>
            <a:pPr indent="0" marL="0">
              <a:buNone/>
            </a:pPr>
            <a:r>
              <a:rPr lang="en-US" sz="3400" b="1" dirty="0">
                <a:solidFill>
                  <a:srgbClr val="000000"/>
                </a:solidFill>
                <a:latin typeface="Arial" pitchFamily="34" charset="0"/>
                <a:ea typeface="Arial" pitchFamily="34" charset="-122"/>
                <a:cs typeface="Arial" pitchFamily="34" charset="-120"/>
              </a:rPr>
              <a:t>?</a:t>
            </a:r>
            <a:endParaRPr lang="en-US" sz="3400" dirty="0"/>
          </a:p>
        </p:txBody>
      </p:sp>
      <p:sp>
        <p:nvSpPr>
          <p:cNvPr id="4" name="Panel"/>
          <p:cNvSpPr/>
          <p:nvPr/>
        </p:nvSpPr>
        <p:spPr>
          <a:xfrm>
            <a:off x="548640" y="1737360"/>
            <a:ext cx="5404104" cy="2331720"/>
          </a:xfrm>
          <a:prstGeom prst="rect">
            <a:avLst/>
          </a:prstGeom>
          <a:solidFill>
            <a:srgbClr val="EFEFEF"/>
          </a:solidFill>
          <a:ln w="12700">
            <a:solidFill>
              <a:srgbClr val="EFEFEF"/>
            </a:solidFill>
            <a:prstDash val="solid"/>
          </a:ln>
        </p:spPr>
      </p:sp>
      <p:sp>
        <p:nvSpPr>
          <p:cNvPr id="5" name="Text 3"/>
          <p:cNvSpPr txBox="1"/>
          <p:nvPr/>
        </p:nvSpPr>
        <p:spPr>
          <a:xfrm>
            <a:off x="868680" y="1920240"/>
            <a:ext cx="3657600" cy="411480"/>
          </a:xfrm>
          <a:prstGeom prst="rect">
            <a:avLst/>
          </a:prstGeom>
          <a:noFill/>
          <a:ln/>
        </p:spPr>
        <p:txBody>
          <a:bodyPr wrap="square" lIns="0" tIns="0" rIns="0" bIns="0" rtlCol="0" anchor="ctr"/>
          <a:lstStyle/>
          <a:p>
            <a:pPr indent="0" marL="0">
              <a:buNone/>
            </a:pPr>
            <a:r>
              <a:rPr lang="en-US" sz="1900" b="1" dirty="0">
                <a:solidFill>
                  <a:srgbClr val="000000"/>
                </a:solidFill>
                <a:latin typeface="Arial" pitchFamily="34" charset="0"/>
                <a:ea typeface="Arial" pitchFamily="34" charset="-122"/>
                <a:cs typeface="Arial" pitchFamily="34" charset="-120"/>
              </a:rPr>
              <a:t>Self-enrollment (code)</a:t>
            </a:r>
            <a:endParaRPr lang="en-US" sz="1900" dirty="0"/>
          </a:p>
        </p:txBody>
      </p:sp>
      <p:sp>
        <p:nvSpPr>
          <p:cNvPr id="6" name="Text 4"/>
          <p:cNvSpPr txBox="1"/>
          <p:nvPr/>
        </p:nvSpPr>
        <p:spPr>
          <a:xfrm>
            <a:off x="868680" y="2487168"/>
            <a:ext cx="1417320" cy="457200"/>
          </a:xfrm>
          <a:prstGeom prst="rect">
            <a:avLst/>
          </a:prstGeom>
          <a:noFill/>
          <a:ln/>
        </p:spPr>
        <p:txBody>
          <a:bodyPr wrap="square" lIns="0" tIns="0" rIns="0" bIns="0" rtlCol="0" anchor="ctr"/>
          <a:lstStyle/>
          <a:p>
            <a:pPr indent="0" marL="0">
              <a:buNone/>
            </a:pPr>
            <a:r>
              <a:rPr lang="en-US" sz="1000" b="1" spc="150" kern="0" dirty="0">
                <a:solidFill>
                  <a:srgbClr val="E41E26"/>
                </a:solidFill>
                <a:latin typeface="Arial" pitchFamily="34" charset="0"/>
                <a:ea typeface="Arial" pitchFamily="34" charset="-122"/>
                <a:cs typeface="Arial" pitchFamily="34" charset="-120"/>
              </a:rPr>
              <a:t>HOW IT WORKS</a:t>
            </a:r>
            <a:endParaRPr lang="en-US" sz="1000" dirty="0"/>
          </a:p>
        </p:txBody>
      </p:sp>
      <p:sp>
        <p:nvSpPr>
          <p:cNvPr id="7" name="Text 5"/>
          <p:cNvSpPr txBox="1"/>
          <p:nvPr/>
        </p:nvSpPr>
        <p:spPr>
          <a:xfrm>
            <a:off x="2331720" y="2487168"/>
            <a:ext cx="3383280" cy="502920"/>
          </a:xfrm>
          <a:prstGeom prst="rect">
            <a:avLst/>
          </a:prstGeom>
          <a:noFill/>
          <a:ln/>
        </p:spPr>
        <p:txBody>
          <a:bodyPr wrap="square" lIns="0" tIns="0" rIns="0" bIns="0" rtlCol="0" anchor="t"/>
          <a:lstStyle/>
          <a:p>
            <a:pPr indent="0" marL="0">
              <a:spcAft>
                <a:spcPts val="400"/>
              </a:spcAft>
              <a:buNone/>
            </a:pPr>
            <a:r>
              <a:rPr lang="en-US" sz="1400" dirty="0">
                <a:solidFill>
                  <a:srgbClr val="000000"/>
                </a:solidFill>
                <a:latin typeface="Cambria" pitchFamily="34" charset="0"/>
                <a:ea typeface="Cambria" pitchFamily="34" charset="-122"/>
                <a:cs typeface="Cambria" pitchFamily="34" charset="-120"/>
              </a:rPr>
              <a:t>Student enters a code on the TMS login page and creates their own account</a:t>
            </a:r>
            <a:endParaRPr lang="en-US" sz="1400" dirty="0"/>
          </a:p>
        </p:txBody>
      </p:sp>
      <p:sp>
        <p:nvSpPr>
          <p:cNvPr id="8" name="Text 6"/>
          <p:cNvSpPr txBox="1"/>
          <p:nvPr/>
        </p:nvSpPr>
        <p:spPr>
          <a:xfrm>
            <a:off x="868680" y="2990088"/>
            <a:ext cx="1417320" cy="457200"/>
          </a:xfrm>
          <a:prstGeom prst="rect">
            <a:avLst/>
          </a:prstGeom>
          <a:noFill/>
          <a:ln/>
        </p:spPr>
        <p:txBody>
          <a:bodyPr wrap="square" lIns="0" tIns="0" rIns="0" bIns="0" rtlCol="0" anchor="ctr"/>
          <a:lstStyle/>
          <a:p>
            <a:pPr indent="0" marL="0">
              <a:buNone/>
            </a:pPr>
            <a:r>
              <a:rPr lang="en-US" sz="1000" b="1" spc="150" kern="0" dirty="0">
                <a:solidFill>
                  <a:srgbClr val="E41E26"/>
                </a:solidFill>
                <a:latin typeface="Arial" pitchFamily="34" charset="0"/>
                <a:ea typeface="Arial" pitchFamily="34" charset="-122"/>
                <a:cs typeface="Arial" pitchFamily="34" charset="-120"/>
              </a:rPr>
              <a:t>ADMIN EFFORT</a:t>
            </a:r>
            <a:endParaRPr lang="en-US" sz="1000" dirty="0"/>
          </a:p>
        </p:txBody>
      </p:sp>
      <p:sp>
        <p:nvSpPr>
          <p:cNvPr id="9" name="Text 7"/>
          <p:cNvSpPr txBox="1"/>
          <p:nvPr/>
        </p:nvSpPr>
        <p:spPr>
          <a:xfrm>
            <a:off x="2331720" y="2990088"/>
            <a:ext cx="3383280" cy="502920"/>
          </a:xfrm>
          <a:prstGeom prst="rect">
            <a:avLst/>
          </a:prstGeom>
          <a:noFill/>
          <a:ln/>
        </p:spPr>
        <p:txBody>
          <a:bodyPr wrap="square" lIns="0" tIns="0" rIns="0" bIns="0" rtlCol="0" anchor="t"/>
          <a:lstStyle/>
          <a:p>
            <a:pPr indent="0" marL="0">
              <a:spcAft>
                <a:spcPts val="400"/>
              </a:spcAft>
              <a:buNone/>
            </a:pPr>
            <a:r>
              <a:rPr lang="en-US" sz="1400" dirty="0">
                <a:solidFill>
                  <a:srgbClr val="000000"/>
                </a:solidFill>
                <a:latin typeface="Cambria" pitchFamily="34" charset="0"/>
                <a:ea typeface="Cambria" pitchFamily="34" charset="-122"/>
                <a:cs typeface="Cambria" pitchFamily="34" charset="-120"/>
              </a:rPr>
              <a:t>Lower</a:t>
            </a:r>
            <a:endParaRPr lang="en-US" sz="1400" dirty="0"/>
          </a:p>
        </p:txBody>
      </p:sp>
      <p:sp>
        <p:nvSpPr>
          <p:cNvPr id="10" name="Text 8"/>
          <p:cNvSpPr txBox="1"/>
          <p:nvPr/>
        </p:nvSpPr>
        <p:spPr>
          <a:xfrm>
            <a:off x="868680" y="3493008"/>
            <a:ext cx="1417320" cy="457200"/>
          </a:xfrm>
          <a:prstGeom prst="rect">
            <a:avLst/>
          </a:prstGeom>
          <a:noFill/>
          <a:ln/>
        </p:spPr>
        <p:txBody>
          <a:bodyPr wrap="square" lIns="0" tIns="0" rIns="0" bIns="0" rtlCol="0" anchor="ctr"/>
          <a:lstStyle/>
          <a:p>
            <a:pPr indent="0" marL="0">
              <a:buNone/>
            </a:pPr>
            <a:r>
              <a:rPr lang="en-US" sz="1000" b="1" spc="150" kern="0" dirty="0">
                <a:solidFill>
                  <a:srgbClr val="E41E26"/>
                </a:solidFill>
                <a:latin typeface="Arial" pitchFamily="34" charset="0"/>
                <a:ea typeface="Arial" pitchFamily="34" charset="-122"/>
                <a:cs typeface="Arial" pitchFamily="34" charset="-120"/>
              </a:rPr>
              <a:t>ACCURACY</a:t>
            </a:r>
            <a:endParaRPr lang="en-US" sz="1000" dirty="0"/>
          </a:p>
        </p:txBody>
      </p:sp>
      <p:sp>
        <p:nvSpPr>
          <p:cNvPr id="11" name="Text 9"/>
          <p:cNvSpPr txBox="1"/>
          <p:nvPr/>
        </p:nvSpPr>
        <p:spPr>
          <a:xfrm>
            <a:off x="2331720" y="3493008"/>
            <a:ext cx="3383280" cy="502920"/>
          </a:xfrm>
          <a:prstGeom prst="rect">
            <a:avLst/>
          </a:prstGeom>
          <a:noFill/>
          <a:ln/>
        </p:spPr>
        <p:txBody>
          <a:bodyPr wrap="square" lIns="0" tIns="0" rIns="0" bIns="0" rtlCol="0" anchor="t"/>
          <a:lstStyle/>
          <a:p>
            <a:pPr indent="0" marL="0">
              <a:spcAft>
                <a:spcPts val="400"/>
              </a:spcAft>
              <a:buNone/>
            </a:pPr>
            <a:r>
              <a:rPr lang="en-US" sz="1400" b="1" dirty="0">
                <a:solidFill>
                  <a:srgbClr val="000000"/>
                </a:solidFill>
                <a:latin typeface="Cambria" pitchFamily="34" charset="0"/>
                <a:ea typeface="Cambria" pitchFamily="34" charset="-122"/>
                <a:cs typeface="Cambria" pitchFamily="34" charset="-120"/>
              </a:rPr>
              <a:t>Error-prone</a:t>
            </a:r>
            <a:endParaRPr lang="en-US" sz="1400" dirty="0"/>
          </a:p>
        </p:txBody>
      </p:sp>
      <p:sp>
        <p:nvSpPr>
          <p:cNvPr id="12" name="Panel"/>
          <p:cNvSpPr/>
          <p:nvPr/>
        </p:nvSpPr>
        <p:spPr>
          <a:xfrm>
            <a:off x="6236208" y="1737360"/>
            <a:ext cx="5404104" cy="2331720"/>
          </a:xfrm>
          <a:prstGeom prst="rect">
            <a:avLst/>
          </a:prstGeom>
          <a:solidFill>
            <a:srgbClr val="000000"/>
          </a:solidFill>
          <a:ln w="12700">
            <a:solidFill>
              <a:srgbClr val="000000"/>
            </a:solidFill>
            <a:prstDash val="solid"/>
          </a:ln>
        </p:spPr>
      </p:sp>
      <p:sp>
        <p:nvSpPr>
          <p:cNvPr id="13" name="Text 11"/>
          <p:cNvSpPr txBox="1"/>
          <p:nvPr/>
        </p:nvSpPr>
        <p:spPr>
          <a:xfrm>
            <a:off x="6556248" y="1920240"/>
            <a:ext cx="365760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GA enrolls (CSV upload)</a:t>
            </a:r>
            <a:endParaRPr lang="en-US" sz="1900" dirty="0"/>
          </a:p>
        </p:txBody>
      </p:sp>
      <p:sp>
        <p:nvSpPr>
          <p:cNvPr id="14" name="Text 12"/>
          <p:cNvSpPr txBox="1"/>
          <p:nvPr/>
        </p:nvSpPr>
        <p:spPr>
          <a:xfrm>
            <a:off x="10030968" y="1965960"/>
            <a:ext cx="1325880" cy="292608"/>
          </a:xfrm>
          <a:prstGeom prst="rect">
            <a:avLst/>
          </a:prstGeom>
          <a:solidFill>
            <a:srgbClr val="E41E26"/>
          </a:solidFill>
          <a:ln/>
        </p:spPr>
        <p:txBody>
          <a:bodyPr wrap="square" lIns="0" tIns="0" rIns="0" bIns="0" rtlCol="0" anchor="ctr"/>
          <a:lstStyle/>
          <a:p>
            <a:pPr algn="ctr" indent="0" marL="0">
              <a:buNone/>
            </a:pPr>
            <a:r>
              <a:rPr lang="en-US" sz="1000" b="1" spc="200" kern="0" dirty="0">
                <a:solidFill>
                  <a:srgbClr val="FFFFFF"/>
                </a:solidFill>
                <a:latin typeface="Arial" pitchFamily="34" charset="0"/>
                <a:ea typeface="Arial" pitchFamily="34" charset="-122"/>
                <a:cs typeface="Arial" pitchFamily="34" charset="-120"/>
              </a:rPr>
              <a:t>OUR METHOD</a:t>
            </a:r>
            <a:endParaRPr lang="en-US" sz="1000" dirty="0"/>
          </a:p>
        </p:txBody>
      </p:sp>
      <p:sp>
        <p:nvSpPr>
          <p:cNvPr id="15" name="Text 13"/>
          <p:cNvSpPr txBox="1"/>
          <p:nvPr/>
        </p:nvSpPr>
        <p:spPr>
          <a:xfrm>
            <a:off x="6556248" y="2487168"/>
            <a:ext cx="1417320" cy="457200"/>
          </a:xfrm>
          <a:prstGeom prst="rect">
            <a:avLst/>
          </a:prstGeom>
          <a:noFill/>
          <a:ln/>
        </p:spPr>
        <p:txBody>
          <a:bodyPr wrap="square" lIns="0" tIns="0" rIns="0" bIns="0" rtlCol="0" anchor="ctr"/>
          <a:lstStyle/>
          <a:p>
            <a:pPr indent="0" marL="0">
              <a:buNone/>
            </a:pPr>
            <a:r>
              <a:rPr lang="en-US" sz="1000" b="1" spc="150" kern="0" dirty="0">
                <a:solidFill>
                  <a:srgbClr val="E41E26"/>
                </a:solidFill>
                <a:latin typeface="Arial" pitchFamily="34" charset="0"/>
                <a:ea typeface="Arial" pitchFamily="34" charset="-122"/>
                <a:cs typeface="Arial" pitchFamily="34" charset="-120"/>
              </a:rPr>
              <a:t>HOW IT WORKS</a:t>
            </a:r>
            <a:endParaRPr lang="en-US" sz="1000" dirty="0"/>
          </a:p>
        </p:txBody>
      </p:sp>
      <p:sp>
        <p:nvSpPr>
          <p:cNvPr id="16" name="Text 14"/>
          <p:cNvSpPr txBox="1"/>
          <p:nvPr/>
        </p:nvSpPr>
        <p:spPr>
          <a:xfrm>
            <a:off x="8019288" y="2487168"/>
            <a:ext cx="3383280" cy="502920"/>
          </a:xfrm>
          <a:prstGeom prst="rect">
            <a:avLst/>
          </a:prstGeom>
          <a:noFill/>
          <a:ln/>
        </p:spPr>
        <p:txBody>
          <a:bodyPr wrap="square" lIns="0" tIns="0" rIns="0" bIns="0" rtlCol="0" anchor="t"/>
          <a:lstStyle/>
          <a:p>
            <a:pPr indent="0" marL="0">
              <a:spcAft>
                <a:spcPts val="400"/>
              </a:spcAft>
              <a:buNone/>
            </a:pPr>
            <a:r>
              <a:rPr lang="en-US" sz="1400" dirty="0">
                <a:solidFill>
                  <a:srgbClr val="FFFFFF"/>
                </a:solidFill>
                <a:latin typeface="Cambria" pitchFamily="34" charset="0"/>
                <a:ea typeface="Cambria" pitchFamily="34" charset="-122"/>
                <a:cs typeface="Cambria" pitchFamily="34" charset="-120"/>
              </a:rPr>
              <a:t>GA fills in a roster CSV and uploads it before class</a:t>
            </a:r>
            <a:endParaRPr lang="en-US" sz="1400" dirty="0"/>
          </a:p>
        </p:txBody>
      </p:sp>
      <p:sp>
        <p:nvSpPr>
          <p:cNvPr id="17" name="Text 15"/>
          <p:cNvSpPr txBox="1"/>
          <p:nvPr/>
        </p:nvSpPr>
        <p:spPr>
          <a:xfrm>
            <a:off x="6556248" y="2990088"/>
            <a:ext cx="1417320" cy="457200"/>
          </a:xfrm>
          <a:prstGeom prst="rect">
            <a:avLst/>
          </a:prstGeom>
          <a:noFill/>
          <a:ln/>
        </p:spPr>
        <p:txBody>
          <a:bodyPr wrap="square" lIns="0" tIns="0" rIns="0" bIns="0" rtlCol="0" anchor="ctr"/>
          <a:lstStyle/>
          <a:p>
            <a:pPr indent="0" marL="0">
              <a:buNone/>
            </a:pPr>
            <a:r>
              <a:rPr lang="en-US" sz="1000" b="1" spc="150" kern="0" dirty="0">
                <a:solidFill>
                  <a:srgbClr val="E41E26"/>
                </a:solidFill>
                <a:latin typeface="Arial" pitchFamily="34" charset="0"/>
                <a:ea typeface="Arial" pitchFamily="34" charset="-122"/>
                <a:cs typeface="Arial" pitchFamily="34" charset="-120"/>
              </a:rPr>
              <a:t>ADMIN EFFORT</a:t>
            </a:r>
            <a:endParaRPr lang="en-US" sz="1000" dirty="0"/>
          </a:p>
        </p:txBody>
      </p:sp>
      <p:sp>
        <p:nvSpPr>
          <p:cNvPr id="18" name="Text 16"/>
          <p:cNvSpPr txBox="1"/>
          <p:nvPr/>
        </p:nvSpPr>
        <p:spPr>
          <a:xfrm>
            <a:off x="8019288" y="2990088"/>
            <a:ext cx="3383280" cy="502920"/>
          </a:xfrm>
          <a:prstGeom prst="rect">
            <a:avLst/>
          </a:prstGeom>
          <a:noFill/>
          <a:ln/>
        </p:spPr>
        <p:txBody>
          <a:bodyPr wrap="square" lIns="0" tIns="0" rIns="0" bIns="0" rtlCol="0" anchor="t"/>
          <a:lstStyle/>
          <a:p>
            <a:pPr indent="0" marL="0">
              <a:spcAft>
                <a:spcPts val="400"/>
              </a:spcAft>
              <a:buNone/>
            </a:pPr>
            <a:r>
              <a:rPr lang="en-US" sz="1400" dirty="0">
                <a:solidFill>
                  <a:srgbClr val="FFFFFF"/>
                </a:solidFill>
                <a:latin typeface="Cambria" pitchFamily="34" charset="0"/>
                <a:ea typeface="Cambria" pitchFamily="34" charset="-122"/>
                <a:cs typeface="Cambria" pitchFamily="34" charset="-120"/>
              </a:rPr>
              <a:t>A little higher, but quick</a:t>
            </a:r>
            <a:endParaRPr lang="en-US" sz="1400" dirty="0"/>
          </a:p>
        </p:txBody>
      </p:sp>
      <p:sp>
        <p:nvSpPr>
          <p:cNvPr id="19" name="Text 17"/>
          <p:cNvSpPr txBox="1"/>
          <p:nvPr/>
        </p:nvSpPr>
        <p:spPr>
          <a:xfrm>
            <a:off x="6556248" y="3493008"/>
            <a:ext cx="1417320" cy="457200"/>
          </a:xfrm>
          <a:prstGeom prst="rect">
            <a:avLst/>
          </a:prstGeom>
          <a:noFill/>
          <a:ln/>
        </p:spPr>
        <p:txBody>
          <a:bodyPr wrap="square" lIns="0" tIns="0" rIns="0" bIns="0" rtlCol="0" anchor="ctr"/>
          <a:lstStyle/>
          <a:p>
            <a:pPr indent="0" marL="0">
              <a:buNone/>
            </a:pPr>
            <a:r>
              <a:rPr lang="en-US" sz="1000" b="1" spc="150" kern="0" dirty="0">
                <a:solidFill>
                  <a:srgbClr val="E41E26"/>
                </a:solidFill>
                <a:latin typeface="Arial" pitchFamily="34" charset="0"/>
                <a:ea typeface="Arial" pitchFamily="34" charset="-122"/>
                <a:cs typeface="Arial" pitchFamily="34" charset="-120"/>
              </a:rPr>
              <a:t>ACCURACY</a:t>
            </a:r>
            <a:endParaRPr lang="en-US" sz="1000" dirty="0"/>
          </a:p>
        </p:txBody>
      </p:sp>
      <p:sp>
        <p:nvSpPr>
          <p:cNvPr id="20" name="Text 18"/>
          <p:cNvSpPr txBox="1"/>
          <p:nvPr/>
        </p:nvSpPr>
        <p:spPr>
          <a:xfrm>
            <a:off x="8019288" y="3493008"/>
            <a:ext cx="3383280" cy="502920"/>
          </a:xfrm>
          <a:prstGeom prst="rect">
            <a:avLst/>
          </a:prstGeom>
          <a:noFill/>
          <a:ln/>
        </p:spPr>
        <p:txBody>
          <a:bodyPr wrap="square" lIns="0" tIns="0" rIns="0" bIns="0" rtlCol="0" anchor="t"/>
          <a:lstStyle/>
          <a:p>
            <a:pPr indent="0" marL="0">
              <a:spcAft>
                <a:spcPts val="400"/>
              </a:spcAft>
              <a:buNone/>
            </a:pPr>
            <a:r>
              <a:rPr lang="en-US" sz="1400" b="1" dirty="0">
                <a:solidFill>
                  <a:srgbClr val="FFFFFF"/>
                </a:solidFill>
                <a:latin typeface="Cambria" pitchFamily="34" charset="0"/>
                <a:ea typeface="Cambria" pitchFamily="34" charset="-122"/>
                <a:cs typeface="Cambria" pitchFamily="34" charset="-120"/>
              </a:rPr>
              <a:t>Clean roster on day one</a:t>
            </a:r>
            <a:endParaRPr lang="en-US" sz="1400" dirty="0"/>
          </a:p>
        </p:txBody>
      </p:sp>
      <p:sp>
        <p:nvSpPr>
          <p:cNvPr id="21" name="Text 19"/>
          <p:cNvSpPr txBox="1"/>
          <p:nvPr/>
        </p:nvSpPr>
        <p:spPr>
          <a:xfrm>
            <a:off x="548640" y="4343400"/>
            <a:ext cx="9144000" cy="365760"/>
          </a:xfrm>
          <a:prstGeom prst="rect">
            <a:avLst/>
          </a:prstGeom>
          <a:noFill/>
          <a:ln/>
        </p:spPr>
        <p:txBody>
          <a:bodyPr wrap="square" lIns="0" tIns="0" rIns="0" bIns="0" rtlCol="0" anchor="ctr"/>
          <a:lstStyle/>
          <a:p>
            <a:pPr indent="0" marL="0">
              <a:buNone/>
            </a:pPr>
            <a:r>
              <a:rPr lang="en-US" sz="1600" b="1" dirty="0">
                <a:solidFill>
                  <a:srgbClr val="000000"/>
                </a:solidFill>
                <a:latin typeface="Arial" pitchFamily="34" charset="0"/>
                <a:ea typeface="Arial" pitchFamily="34" charset="-122"/>
                <a:cs typeface="Arial" pitchFamily="34" charset="-120"/>
              </a:rPr>
              <a:t>What went wrong with self-enrollment in our pilot</a:t>
            </a:r>
            <a:endParaRPr lang="en-US" sz="1600" dirty="0"/>
          </a:p>
        </p:txBody>
      </p:sp>
      <p:pic>
        <p:nvPicPr>
          <p:cNvPr id="22" name="Icon LuKeyRound" descr="/home/claude/deck/img/LuKeyRound-k.png">    </p:cNvPr>
          <p:cNvPicPr>
            <a:picLocks noChangeAspect="1"/>
          </p:cNvPicPr>
          <p:nvPr/>
        </p:nvPicPr>
        <p:blipFill>
          <a:blip r:embed="rId1"/>
          <a:stretch>
            <a:fillRect/>
          </a:stretch>
        </p:blipFill>
        <p:spPr>
          <a:xfrm>
            <a:off x="548640" y="4892040"/>
            <a:ext cx="566928" cy="566928"/>
          </a:xfrm>
          <a:prstGeom prst="rect">
            <a:avLst/>
          </a:prstGeom>
        </p:spPr>
      </p:pic>
      <p:sp>
        <p:nvSpPr>
          <p:cNvPr id="23" name="Text 20"/>
          <p:cNvSpPr txBox="1"/>
          <p:nvPr/>
        </p:nvSpPr>
        <p:spPr>
          <a:xfrm>
            <a:off x="1280160" y="4892040"/>
            <a:ext cx="2788920" cy="566928"/>
          </a:xfrm>
          <a:prstGeom prst="rect">
            <a:avLst/>
          </a:prstGeom>
          <a:noFill/>
          <a:ln/>
        </p:spPr>
        <p:txBody>
          <a:bodyPr wrap="square" lIns="0" tIns="0" rIns="0" bIns="0" rtlCol="0" anchor="ctr"/>
          <a:lstStyle/>
          <a:p>
            <a:pPr indent="0" marL="0">
              <a:spcAft>
                <a:spcPts val="400"/>
              </a:spcAft>
              <a:buNone/>
            </a:pPr>
            <a:r>
              <a:rPr lang="en-US" sz="1400" dirty="0">
                <a:solidFill>
                  <a:srgbClr val="000000"/>
                </a:solidFill>
                <a:latin typeface="Cambria" pitchFamily="34" charset="0"/>
                <a:ea typeface="Cambria" pitchFamily="34" charset="-122"/>
                <a:cs typeface="Cambria" pitchFamily="34" charset="-120"/>
              </a:rPr>
              <a:t>Codes entered incorrectly</a:t>
            </a:r>
            <a:endParaRPr lang="en-US" sz="1400" dirty="0"/>
          </a:p>
        </p:txBody>
      </p:sp>
      <p:pic>
        <p:nvPicPr>
          <p:cNvPr id="24" name="Icon LuPencil" descr="/home/claude/deck/img/LuPencil-k.png">    </p:cNvPr>
          <p:cNvPicPr>
            <a:picLocks noChangeAspect="1"/>
          </p:cNvPicPr>
          <p:nvPr/>
        </p:nvPicPr>
        <p:blipFill>
          <a:blip r:embed="rId2"/>
          <a:stretch>
            <a:fillRect/>
          </a:stretch>
        </p:blipFill>
        <p:spPr>
          <a:xfrm>
            <a:off x="4279392" y="4892040"/>
            <a:ext cx="566928" cy="566928"/>
          </a:xfrm>
          <a:prstGeom prst="rect">
            <a:avLst/>
          </a:prstGeom>
        </p:spPr>
      </p:pic>
      <p:sp>
        <p:nvSpPr>
          <p:cNvPr id="25" name="Text 21"/>
          <p:cNvSpPr txBox="1"/>
          <p:nvPr/>
        </p:nvSpPr>
        <p:spPr>
          <a:xfrm>
            <a:off x="5010912" y="4892040"/>
            <a:ext cx="2788920" cy="566928"/>
          </a:xfrm>
          <a:prstGeom prst="rect">
            <a:avLst/>
          </a:prstGeom>
          <a:noFill/>
          <a:ln/>
        </p:spPr>
        <p:txBody>
          <a:bodyPr wrap="square" lIns="0" tIns="0" rIns="0" bIns="0" rtlCol="0" anchor="ctr"/>
          <a:lstStyle/>
          <a:p>
            <a:pPr indent="0" marL="0">
              <a:spcAft>
                <a:spcPts val="400"/>
              </a:spcAft>
              <a:buNone/>
            </a:pPr>
            <a:r>
              <a:rPr lang="en-US" sz="1400" dirty="0">
                <a:solidFill>
                  <a:srgbClr val="000000"/>
                </a:solidFill>
                <a:latin typeface="Cambria" pitchFamily="34" charset="0"/>
                <a:ea typeface="Cambria" pitchFamily="34" charset="-122"/>
                <a:cs typeface="Cambria" pitchFamily="34" charset="-120"/>
              </a:rPr>
              <a:t>Students mistyped their own names</a:t>
            </a:r>
            <a:endParaRPr lang="en-US" sz="1400" dirty="0"/>
          </a:p>
        </p:txBody>
      </p:sp>
      <p:pic>
        <p:nvPicPr>
          <p:cNvPr id="26" name="Icon LuUsers" descr="/home/claude/deck/img/LuUsers-k.png">    </p:cNvPr>
          <p:cNvPicPr>
            <a:picLocks noChangeAspect="1"/>
          </p:cNvPicPr>
          <p:nvPr/>
        </p:nvPicPr>
        <p:blipFill>
          <a:blip r:embed="rId3"/>
          <a:stretch>
            <a:fillRect/>
          </a:stretch>
        </p:blipFill>
        <p:spPr>
          <a:xfrm>
            <a:off x="8010144" y="4892040"/>
            <a:ext cx="566928" cy="566928"/>
          </a:xfrm>
          <a:prstGeom prst="rect">
            <a:avLst/>
          </a:prstGeom>
        </p:spPr>
      </p:pic>
      <p:sp>
        <p:nvSpPr>
          <p:cNvPr id="27" name="Text 22"/>
          <p:cNvSpPr txBox="1"/>
          <p:nvPr/>
        </p:nvSpPr>
        <p:spPr>
          <a:xfrm>
            <a:off x="8741664" y="4892040"/>
            <a:ext cx="2788920" cy="566928"/>
          </a:xfrm>
          <a:prstGeom prst="rect">
            <a:avLst/>
          </a:prstGeom>
          <a:noFill/>
          <a:ln/>
        </p:spPr>
        <p:txBody>
          <a:bodyPr wrap="square" lIns="0" tIns="0" rIns="0" bIns="0" rtlCol="0" anchor="ctr"/>
          <a:lstStyle/>
          <a:p>
            <a:pPr indent="0" marL="0">
              <a:spcAft>
                <a:spcPts val="400"/>
              </a:spcAft>
              <a:buNone/>
            </a:pPr>
            <a:r>
              <a:rPr lang="en-US" sz="1400" dirty="0">
                <a:solidFill>
                  <a:srgbClr val="000000"/>
                </a:solidFill>
                <a:latin typeface="Cambria" pitchFamily="34" charset="0"/>
                <a:ea typeface="Cambria" pitchFamily="34" charset="-122"/>
                <a:cs typeface="Cambria" pitchFamily="34" charset="-120"/>
              </a:rPr>
              <a:t>Unsure their account existed, students made a second one, taking two roster spots</a:t>
            </a:r>
            <a:endParaRPr lang="en-US" sz="14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TWO THINGS TO CONFIRM</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Before day one: a </a:t>
            </a:r>
            <a:pPr indent="0" marL="0">
              <a:buNone/>
            </a:pPr>
            <a:r>
              <a:rPr lang="en-US" sz="3400" b="1" dirty="0">
                <a:solidFill>
                  <a:srgbClr val="E41E26"/>
                </a:solidFill>
                <a:latin typeface="Arial" pitchFamily="34" charset="0"/>
                <a:ea typeface="Arial" pitchFamily="34" charset="-122"/>
                <a:cs typeface="Arial" pitchFamily="34" charset="-120"/>
              </a:rPr>
              <a:t>five-minute</a:t>
            </a:r>
            <a:pPr indent="0" marL="0">
              <a:buNone/>
            </a:pPr>
            <a:r>
              <a:rPr lang="en-US" sz="3400" b="1" dirty="0">
                <a:solidFill>
                  <a:srgbClr val="000000"/>
                </a:solidFill>
                <a:latin typeface="Arial" pitchFamily="34" charset="0"/>
                <a:ea typeface="Arial" pitchFamily="34" charset="-122"/>
                <a:cs typeface="Arial" pitchFamily="34" charset="-120"/>
              </a:rPr>
              <a:t> tech check</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sp>
        <p:nvSpPr>
          <p:cNvPr id="4" name="Card Sign in to TMS"/>
          <p:cNvSpPr/>
          <p:nvPr/>
        </p:nvSpPr>
        <p:spPr>
          <a:xfrm>
            <a:off x="548640" y="1783080"/>
            <a:ext cx="3611880" cy="4114800"/>
          </a:xfrm>
          <a:prstGeom prst="rect">
            <a:avLst/>
          </a:prstGeom>
          <a:solidFill>
            <a:srgbClr val="EFEFEF"/>
          </a:solidFill>
          <a:ln w="12700">
            <a:solidFill>
              <a:srgbClr val="EFEFEF"/>
            </a:solidFill>
            <a:prstDash val="solid"/>
          </a:ln>
        </p:spPr>
      </p:sp>
      <p:pic>
        <p:nvPicPr>
          <p:cNvPr id="5" name="Icon LuLogIn" descr="/home/claude/deck/img/LuLogIn-k.png">    </p:cNvPr>
          <p:cNvPicPr>
            <a:picLocks noChangeAspect="1"/>
          </p:cNvPicPr>
          <p:nvPr/>
        </p:nvPicPr>
        <p:blipFill>
          <a:blip r:embed="rId1"/>
          <a:stretch>
            <a:fillRect/>
          </a:stretch>
        </p:blipFill>
        <p:spPr>
          <a:xfrm>
            <a:off x="822960" y="2057400"/>
            <a:ext cx="731520" cy="731520"/>
          </a:xfrm>
          <a:prstGeom prst="rect">
            <a:avLst/>
          </a:prstGeom>
        </p:spPr>
      </p:pic>
      <p:sp>
        <p:nvSpPr>
          <p:cNvPr id="6" name="Text 3"/>
          <p:cNvSpPr txBox="1"/>
          <p:nvPr/>
        </p:nvSpPr>
        <p:spPr>
          <a:xfrm>
            <a:off x="822960" y="2971800"/>
            <a:ext cx="3063240" cy="457200"/>
          </a:xfrm>
          <a:prstGeom prst="rect">
            <a:avLst/>
          </a:prstGeom>
          <a:noFill/>
          <a:ln/>
        </p:spPr>
        <p:txBody>
          <a:bodyPr wrap="square" lIns="0" tIns="0" rIns="0" bIns="0" rtlCol="0" anchor="t"/>
          <a:lstStyle/>
          <a:p>
            <a:pPr indent="0" marL="0">
              <a:buNone/>
            </a:pPr>
            <a:r>
              <a:rPr lang="en-US" sz="1900" b="1" dirty="0">
                <a:solidFill>
                  <a:srgbClr val="000000"/>
                </a:solidFill>
                <a:latin typeface="Arial" pitchFamily="34" charset="0"/>
                <a:ea typeface="Arial" pitchFamily="34" charset="-122"/>
                <a:cs typeface="Arial" pitchFamily="34" charset="-120"/>
              </a:rPr>
              <a:t>Sign in to TMS</a:t>
            </a:r>
            <a:endParaRPr lang="en-US" sz="1900" dirty="0"/>
          </a:p>
        </p:txBody>
      </p:sp>
      <p:sp>
        <p:nvSpPr>
          <p:cNvPr id="7" name="Text 4"/>
          <p:cNvSpPr txBox="1"/>
          <p:nvPr/>
        </p:nvSpPr>
        <p:spPr>
          <a:xfrm>
            <a:off x="822960" y="3474720"/>
            <a:ext cx="3063240" cy="2377440"/>
          </a:xfrm>
          <a:prstGeom prst="rect">
            <a:avLst/>
          </a:prstGeom>
          <a:noFill/>
          <a:ln/>
        </p:spPr>
        <p:txBody>
          <a:bodyPr wrap="square" lIns="0" tIns="0" rIns="0" bIns="0" rtlCol="0" anchor="t"/>
          <a:lstStyle/>
          <a:p>
            <a:pPr indent="0" marL="0">
              <a:spcAft>
                <a:spcPts val="400"/>
              </a:spcAft>
              <a:buNone/>
            </a:pPr>
            <a:r>
              <a:rPr lang="en-US" sz="1500" dirty="0">
                <a:solidFill>
                  <a:srgbClr val="262626"/>
                </a:solidFill>
                <a:latin typeface="Cambria" pitchFamily="34" charset="0"/>
                <a:ea typeface="Cambria" pitchFamily="34" charset="-122"/>
                <a:cs typeface="Cambria" pitchFamily="34" charset="-120"/>
              </a:rPr>
              <a:t>Confirms the account works and the student can reach the class.</a:t>
            </a:r>
            <a:endParaRPr lang="en-US" sz="1500" dirty="0"/>
          </a:p>
        </p:txBody>
      </p:sp>
      <p:sp>
        <p:nvSpPr>
          <p:cNvPr id="8" name="Card Run the connection test"/>
          <p:cNvSpPr/>
          <p:nvPr/>
        </p:nvSpPr>
        <p:spPr>
          <a:xfrm>
            <a:off x="4434840" y="1783080"/>
            <a:ext cx="3611880" cy="4114800"/>
          </a:xfrm>
          <a:prstGeom prst="rect">
            <a:avLst/>
          </a:prstGeom>
          <a:solidFill>
            <a:srgbClr val="EFEFEF"/>
          </a:solidFill>
          <a:ln w="12700">
            <a:solidFill>
              <a:srgbClr val="EFEFEF"/>
            </a:solidFill>
            <a:prstDash val="solid"/>
          </a:ln>
        </p:spPr>
      </p:sp>
      <p:pic>
        <p:nvPicPr>
          <p:cNvPr id="9" name="Icon LuWifi" descr="/home/claude/deck/img/LuWifi-k.png">    </p:cNvPr>
          <p:cNvPicPr>
            <a:picLocks noChangeAspect="1"/>
          </p:cNvPicPr>
          <p:nvPr/>
        </p:nvPicPr>
        <p:blipFill>
          <a:blip r:embed="rId2"/>
          <a:stretch>
            <a:fillRect/>
          </a:stretch>
        </p:blipFill>
        <p:spPr>
          <a:xfrm>
            <a:off x="4709160" y="2057400"/>
            <a:ext cx="731520" cy="731520"/>
          </a:xfrm>
          <a:prstGeom prst="rect">
            <a:avLst/>
          </a:prstGeom>
        </p:spPr>
      </p:pic>
      <p:sp>
        <p:nvSpPr>
          <p:cNvPr id="10" name="Text 6"/>
          <p:cNvSpPr txBox="1"/>
          <p:nvPr/>
        </p:nvSpPr>
        <p:spPr>
          <a:xfrm>
            <a:off x="4709160" y="2971800"/>
            <a:ext cx="3063240" cy="457200"/>
          </a:xfrm>
          <a:prstGeom prst="rect">
            <a:avLst/>
          </a:prstGeom>
          <a:noFill/>
          <a:ln/>
        </p:spPr>
        <p:txBody>
          <a:bodyPr wrap="square" lIns="0" tIns="0" rIns="0" bIns="0" rtlCol="0" anchor="t"/>
          <a:lstStyle/>
          <a:p>
            <a:pPr indent="0" marL="0">
              <a:buNone/>
            </a:pPr>
            <a:r>
              <a:rPr lang="en-US" sz="1900" b="1" dirty="0">
                <a:solidFill>
                  <a:srgbClr val="000000"/>
                </a:solidFill>
                <a:latin typeface="Arial" pitchFamily="34" charset="0"/>
                <a:ea typeface="Arial" pitchFamily="34" charset="-122"/>
                <a:cs typeface="Arial" pitchFamily="34" charset="-120"/>
              </a:rPr>
              <a:t>Run the connection test</a:t>
            </a:r>
            <a:endParaRPr lang="en-US" sz="1900" dirty="0"/>
          </a:p>
        </p:txBody>
      </p:sp>
      <p:sp>
        <p:nvSpPr>
          <p:cNvPr id="11" name="Text 7"/>
          <p:cNvSpPr txBox="1"/>
          <p:nvPr/>
        </p:nvSpPr>
        <p:spPr>
          <a:xfrm>
            <a:off x="4709160" y="3474720"/>
            <a:ext cx="3063240" cy="2377440"/>
          </a:xfrm>
          <a:prstGeom prst="rect">
            <a:avLst/>
          </a:prstGeom>
          <a:noFill/>
          <a:ln/>
        </p:spPr>
        <p:txBody>
          <a:bodyPr wrap="square" lIns="0" tIns="0" rIns="0" bIns="0" rtlCol="0" anchor="t"/>
          <a:lstStyle/>
          <a:p>
            <a:pPr indent="0" marL="0">
              <a:spcAft>
                <a:spcPts val="400"/>
              </a:spcAft>
              <a:buNone/>
            </a:pPr>
            <a:r>
              <a:rPr lang="en-US" sz="1500" dirty="0">
                <a:solidFill>
                  <a:srgbClr val="262626"/>
                </a:solidFill>
                <a:latin typeface="Cambria" pitchFamily="34" charset="0"/>
                <a:ea typeface="Cambria" pitchFamily="34" charset="-122"/>
                <a:cs typeface="Cambria" pitchFamily="34" charset="-120"/>
              </a:rPr>
              <a:t>Skillable’s speed test, on the same network and browser the student will use.</a:t>
            </a:r>
            <a:endParaRPr lang="en-US" sz="1500" dirty="0"/>
          </a:p>
          <a:p>
            <a:pPr indent="0" marL="0">
              <a:spcAft>
                <a:spcPts val="400"/>
              </a:spcAft>
              <a:buNone/>
            </a:pPr>
            <a:endParaRPr lang="en-US" sz="1500" dirty="0"/>
          </a:p>
          <a:p>
            <a:pPr indent="0" marL="0">
              <a:spcAft>
                <a:spcPts val="400"/>
              </a:spcAft>
              <a:buNone/>
            </a:pPr>
            <a:r>
              <a:rPr lang="en-US" sz="1500" dirty="0">
                <a:solidFill>
                  <a:srgbClr val="262626"/>
                </a:solidFill>
                <a:latin typeface="Cambria" pitchFamily="34" charset="0"/>
                <a:ea typeface="Cambria" pitchFamily="34" charset="-122"/>
                <a:cs typeface="Cambria" pitchFamily="34" charset="-120"/>
              </a:rPr>
              <a:t>skillable.com/customer-support/speed-test</a:t>
            </a:r>
            <a:endParaRPr lang="en-US" sz="1500" dirty="0"/>
          </a:p>
        </p:txBody>
      </p:sp>
      <p:sp>
        <p:nvSpPr>
          <p:cNvPr id="12" name="Panel"/>
          <p:cNvSpPr/>
          <p:nvPr/>
        </p:nvSpPr>
        <p:spPr>
          <a:xfrm>
            <a:off x="8321040" y="1783080"/>
            <a:ext cx="3319272" cy="4114800"/>
          </a:xfrm>
          <a:prstGeom prst="rect">
            <a:avLst/>
          </a:prstGeom>
          <a:solidFill>
            <a:srgbClr val="E41E26"/>
          </a:solidFill>
          <a:ln w="12700">
            <a:solidFill>
              <a:srgbClr val="E41E26"/>
            </a:solidFill>
            <a:prstDash val="solid"/>
          </a:ln>
        </p:spPr>
      </p:sp>
      <p:pic>
        <p:nvPicPr>
          <p:cNvPr id="13" name="Image 2" descr="/home/claude/deck/img/fp-loop-black.png">    </p:cNvPr>
          <p:cNvPicPr>
            <a:picLocks noChangeAspect="1"/>
          </p:cNvPicPr>
          <p:nvPr/>
        </p:nvPicPr>
        <p:blipFill>
          <a:blip r:embed="rId3"/>
          <a:stretch>
            <a:fillRect/>
          </a:stretch>
        </p:blipFill>
        <p:spPr>
          <a:xfrm>
            <a:off x="9966960" y="3657600"/>
            <a:ext cx="1417320" cy="2194560"/>
          </a:xfrm>
          <a:prstGeom prst="rect">
            <a:avLst/>
          </a:prstGeom>
        </p:spPr>
      </p:pic>
      <p:sp>
        <p:nvSpPr>
          <p:cNvPr id="14" name="Text 9"/>
          <p:cNvSpPr txBox="1"/>
          <p:nvPr/>
        </p:nvSpPr>
        <p:spPr>
          <a:xfrm>
            <a:off x="8595360" y="2057400"/>
            <a:ext cx="2834640" cy="77724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Common blockers on corporate laptops</a:t>
            </a:r>
            <a:endParaRPr lang="en-US" sz="1700" dirty="0"/>
          </a:p>
        </p:txBody>
      </p:sp>
      <p:sp>
        <p:nvSpPr>
          <p:cNvPr id="15" name="Text 10"/>
          <p:cNvSpPr txBox="1"/>
          <p:nvPr/>
        </p:nvSpPr>
        <p:spPr>
          <a:xfrm>
            <a:off x="8595360" y="2926080"/>
            <a:ext cx="283464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FFFFFF"/>
                </a:solidFill>
                <a:latin typeface="Cambria" pitchFamily="34" charset="0"/>
                <a:ea typeface="Cambria" pitchFamily="34" charset="-122"/>
                <a:cs typeface="Cambria" pitchFamily="34" charset="-120"/>
              </a:rPr>
              <a:t>VPNs</a:t>
            </a:r>
            <a:endParaRPr lang="en-US" sz="1500" dirty="0"/>
          </a:p>
          <a:p>
            <a:pPr marL="342900" indent="-342900">
              <a:spcAft>
                <a:spcPts val="600"/>
              </a:spcAft>
              <a:buSzPct val="100000"/>
              <a:buChar char="•"/>
            </a:pPr>
            <a:r>
              <a:rPr lang="en-US" sz="1500" dirty="0">
                <a:solidFill>
                  <a:srgbClr val="FFFFFF"/>
                </a:solidFill>
                <a:latin typeface="Cambria" pitchFamily="34" charset="0"/>
                <a:ea typeface="Cambria" pitchFamily="34" charset="-122"/>
                <a:cs typeface="Cambria" pitchFamily="34" charset="-120"/>
              </a:rPr>
              <a:t>Proxy restrictions</a:t>
            </a:r>
            <a:endParaRPr lang="en-US" sz="1500" dirty="0"/>
          </a:p>
          <a:p>
            <a:pPr marL="342900" indent="-342900">
              <a:spcAft>
                <a:spcPts val="600"/>
              </a:spcAft>
              <a:buSzPct val="100000"/>
              <a:buChar char="•"/>
            </a:pPr>
            <a:r>
              <a:rPr lang="en-US" sz="1500" dirty="0">
                <a:solidFill>
                  <a:srgbClr val="FFFFFF"/>
                </a:solidFill>
                <a:latin typeface="Cambria" pitchFamily="34" charset="0"/>
                <a:ea typeface="Cambria" pitchFamily="34" charset="-122"/>
                <a:cs typeface="Cambria" pitchFamily="34" charset="-120"/>
              </a:rPr>
              <a:t>Browser extensions that block pop-ups</a:t>
            </a:r>
            <a:endParaRPr lang="en-US" sz="1500" dirty="0"/>
          </a:p>
        </p:txBody>
      </p:sp>
      <p:sp>
        <p:nvSpPr>
          <p:cNvPr id="16" name="Text 11"/>
          <p:cNvSpPr txBox="1"/>
          <p:nvPr/>
        </p:nvSpPr>
        <p:spPr>
          <a:xfrm>
            <a:off x="8595360" y="4480560"/>
            <a:ext cx="2194560" cy="1188720"/>
          </a:xfrm>
          <a:prstGeom prst="rect">
            <a:avLst/>
          </a:prstGeom>
          <a:noFill/>
          <a:ln/>
        </p:spPr>
        <p:txBody>
          <a:bodyPr wrap="square" lIns="0" tIns="0" rIns="0" bIns="0" rtlCol="0" anchor="t"/>
          <a:lstStyle/>
          <a:p>
            <a:pPr indent="0" marL="0">
              <a:spcAft>
                <a:spcPts val="400"/>
              </a:spcAft>
              <a:buNone/>
            </a:pPr>
            <a:r>
              <a:rPr lang="en-US" sz="1300" dirty="0">
                <a:solidFill>
                  <a:srgbClr val="FFFFFF"/>
                </a:solidFill>
                <a:latin typeface="Cambria" pitchFamily="34" charset="0"/>
                <a:ea typeface="Cambria" pitchFamily="34" charset="-122"/>
                <a:cs typeface="Cambria" pitchFamily="34" charset="-120"/>
              </a:rPr>
              <a:t>The lab opens in a new window, </a:t>
            </a:r>
            <a:pPr indent="0" marL="0">
              <a:spcAft>
                <a:spcPts val="400"/>
              </a:spcAft>
              <a:buNone/>
            </a:pPr>
            <a:r>
              <a:rPr lang="en-US" sz="1300" b="1" dirty="0">
                <a:solidFill>
                  <a:srgbClr val="FFFFFF"/>
                </a:solidFill>
                <a:latin typeface="Cambria" pitchFamily="34" charset="0"/>
                <a:ea typeface="Cambria" pitchFamily="34" charset="-122"/>
                <a:cs typeface="Cambria" pitchFamily="34" charset="-120"/>
              </a:rPr>
              <a:t>so pop-ups must be allowed for the TMS site.</a:t>
            </a:r>
            <a:endParaRPr lang="en-US" sz="13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FIVE STEPS</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Signing in for the </a:t>
            </a:r>
            <a:pPr indent="0" marL="0">
              <a:buNone/>
            </a:pPr>
            <a:r>
              <a:rPr lang="en-US" sz="3400" b="1" dirty="0">
                <a:solidFill>
                  <a:srgbClr val="E41E26"/>
                </a:solidFill>
                <a:latin typeface="Arial" pitchFamily="34" charset="0"/>
                <a:ea typeface="Arial" pitchFamily="34" charset="-122"/>
                <a:cs typeface="Arial" pitchFamily="34" charset="-120"/>
              </a:rPr>
              <a:t>first</a:t>
            </a:r>
            <a:pPr indent="0" marL="0">
              <a:buNone/>
            </a:pPr>
            <a:r>
              <a:rPr lang="en-US" sz="3400" b="1" dirty="0">
                <a:solidFill>
                  <a:srgbClr val="000000"/>
                </a:solidFill>
                <a:latin typeface="Arial" pitchFamily="34" charset="0"/>
                <a:ea typeface="Arial" pitchFamily="34" charset="-122"/>
                <a:cs typeface="Arial" pitchFamily="34" charset="-120"/>
              </a:rPr>
              <a:t> time</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sp>
        <p:nvSpPr>
          <p:cNvPr id="4" name="Step 1"/>
          <p:cNvSpPr/>
          <p:nvPr/>
        </p:nvSpPr>
        <p:spPr>
          <a:xfrm>
            <a:off x="548640" y="1783080"/>
            <a:ext cx="502920" cy="502920"/>
          </a:xfrm>
          <a:prstGeom prst="ellipse">
            <a:avLst/>
          </a:prstGeom>
          <a:solidFill>
            <a:srgbClr val="E41E26"/>
          </a:solidFill>
          <a:ln w="12700">
            <a:solidFill>
              <a:srgbClr val="E41E26"/>
            </a:solidFill>
            <a:prstDash val="solid"/>
          </a:ln>
        </p:spPr>
      </p:sp>
      <p:sp>
        <p:nvSpPr>
          <p:cNvPr id="5" name="Text 3"/>
          <p:cNvSpPr txBox="1"/>
          <p:nvPr/>
        </p:nvSpPr>
        <p:spPr>
          <a:xfrm>
            <a:off x="548640" y="17830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6" name="Text 4"/>
          <p:cNvSpPr txBox="1"/>
          <p:nvPr/>
        </p:nvSpPr>
        <p:spPr>
          <a:xfrm>
            <a:off x="1280160" y="1783080"/>
            <a:ext cx="5120640" cy="502920"/>
          </a:xfrm>
          <a:prstGeom prst="rect">
            <a:avLst/>
          </a:prstGeom>
          <a:noFill/>
          <a:ln/>
        </p:spPr>
        <p:txBody>
          <a:bodyPr wrap="square" lIns="0" tIns="0" rIns="0" bIns="0" rtlCol="0" anchor="ctr"/>
          <a:lstStyle/>
          <a:p>
            <a:pPr indent="0" marL="0">
              <a:spcAft>
                <a:spcPts val="400"/>
              </a:spcAft>
              <a:buNone/>
            </a:pPr>
            <a:r>
              <a:rPr lang="en-US" sz="1600" dirty="0">
                <a:solidFill>
                  <a:srgbClr val="000000"/>
                </a:solidFill>
                <a:latin typeface="Cambria" pitchFamily="34" charset="0"/>
                <a:ea typeface="Cambria" pitchFamily="34" charset="-122"/>
                <a:cs typeface="Cambria" pitchFamily="34" charset="-120"/>
              </a:rPr>
              <a:t>Go to the TMS sign-in page</a:t>
            </a:r>
            <a:endParaRPr lang="en-US" sz="1600" dirty="0"/>
          </a:p>
        </p:txBody>
      </p:sp>
      <p:sp>
        <p:nvSpPr>
          <p:cNvPr id="7" name="Step 2"/>
          <p:cNvSpPr/>
          <p:nvPr/>
        </p:nvSpPr>
        <p:spPr>
          <a:xfrm>
            <a:off x="548640" y="2606040"/>
            <a:ext cx="502920" cy="502920"/>
          </a:xfrm>
          <a:prstGeom prst="ellipse">
            <a:avLst/>
          </a:prstGeom>
          <a:solidFill>
            <a:srgbClr val="E41E26"/>
          </a:solidFill>
          <a:ln w="12700">
            <a:solidFill>
              <a:srgbClr val="E41E26"/>
            </a:solidFill>
            <a:prstDash val="solid"/>
          </a:ln>
        </p:spPr>
      </p:sp>
      <p:sp>
        <p:nvSpPr>
          <p:cNvPr id="8" name="Text 6"/>
          <p:cNvSpPr txBox="1"/>
          <p:nvPr/>
        </p:nvSpPr>
        <p:spPr>
          <a:xfrm>
            <a:off x="548640" y="26060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9" name="Text 7"/>
          <p:cNvSpPr txBox="1"/>
          <p:nvPr/>
        </p:nvSpPr>
        <p:spPr>
          <a:xfrm>
            <a:off x="1280160" y="2606040"/>
            <a:ext cx="5120640" cy="502920"/>
          </a:xfrm>
          <a:prstGeom prst="rect">
            <a:avLst/>
          </a:prstGeom>
          <a:noFill/>
          <a:ln/>
        </p:spPr>
        <p:txBody>
          <a:bodyPr wrap="square" lIns="0" tIns="0" rIns="0" bIns="0" rtlCol="0" anchor="ctr"/>
          <a:lstStyle/>
          <a:p>
            <a:pPr indent="0" marL="0">
              <a:spcAft>
                <a:spcPts val="400"/>
              </a:spcAft>
              <a:buNone/>
            </a:pPr>
            <a:r>
              <a:rPr lang="en-US" sz="1600" dirty="0">
                <a:solidFill>
                  <a:srgbClr val="000000"/>
                </a:solidFill>
                <a:latin typeface="Cambria" pitchFamily="34" charset="0"/>
                <a:ea typeface="Cambria" pitchFamily="34" charset="-122"/>
                <a:cs typeface="Cambria" pitchFamily="34" charset="-120"/>
              </a:rPr>
              <a:t>Select Sign In</a:t>
            </a:r>
            <a:endParaRPr lang="en-US" sz="1600" dirty="0"/>
          </a:p>
        </p:txBody>
      </p:sp>
      <p:sp>
        <p:nvSpPr>
          <p:cNvPr id="10" name="Step 3"/>
          <p:cNvSpPr/>
          <p:nvPr/>
        </p:nvSpPr>
        <p:spPr>
          <a:xfrm>
            <a:off x="548640" y="3429000"/>
            <a:ext cx="502920" cy="502920"/>
          </a:xfrm>
          <a:prstGeom prst="ellipse">
            <a:avLst/>
          </a:prstGeom>
          <a:solidFill>
            <a:srgbClr val="E41E26"/>
          </a:solidFill>
          <a:ln w="12700">
            <a:solidFill>
              <a:srgbClr val="E41E26"/>
            </a:solidFill>
            <a:prstDash val="solid"/>
          </a:ln>
        </p:spPr>
      </p:sp>
      <p:sp>
        <p:nvSpPr>
          <p:cNvPr id="11" name="Text 9"/>
          <p:cNvSpPr txBox="1"/>
          <p:nvPr/>
        </p:nvSpPr>
        <p:spPr>
          <a:xfrm>
            <a:off x="548640" y="34290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2" name="Text 10"/>
          <p:cNvSpPr txBox="1"/>
          <p:nvPr/>
        </p:nvSpPr>
        <p:spPr>
          <a:xfrm>
            <a:off x="1280160" y="3429000"/>
            <a:ext cx="5120640" cy="502920"/>
          </a:xfrm>
          <a:prstGeom prst="rect">
            <a:avLst/>
          </a:prstGeom>
          <a:noFill/>
          <a:ln/>
        </p:spPr>
        <p:txBody>
          <a:bodyPr wrap="square" lIns="0" tIns="0" rIns="0" bIns="0" rtlCol="0" anchor="ctr"/>
          <a:lstStyle/>
          <a:p>
            <a:pPr indent="0" marL="0">
              <a:spcAft>
                <a:spcPts val="400"/>
              </a:spcAft>
              <a:buNone/>
            </a:pPr>
            <a:r>
              <a:rPr lang="en-US" sz="1600" dirty="0">
                <a:solidFill>
                  <a:srgbClr val="000000"/>
                </a:solidFill>
                <a:latin typeface="Cambria" pitchFamily="34" charset="0"/>
                <a:ea typeface="Cambria" pitchFamily="34" charset="-122"/>
                <a:cs typeface="Cambria" pitchFamily="34" charset="-120"/>
              </a:rPr>
              <a:t>Enter the email and temporary password from GA</a:t>
            </a:r>
            <a:endParaRPr lang="en-US" sz="1600" dirty="0"/>
          </a:p>
        </p:txBody>
      </p:sp>
      <p:sp>
        <p:nvSpPr>
          <p:cNvPr id="13" name="Step 4"/>
          <p:cNvSpPr/>
          <p:nvPr/>
        </p:nvSpPr>
        <p:spPr>
          <a:xfrm>
            <a:off x="548640" y="4251960"/>
            <a:ext cx="502920" cy="502920"/>
          </a:xfrm>
          <a:prstGeom prst="ellipse">
            <a:avLst/>
          </a:prstGeom>
          <a:solidFill>
            <a:srgbClr val="E41E26"/>
          </a:solidFill>
          <a:ln w="12700">
            <a:solidFill>
              <a:srgbClr val="E41E26"/>
            </a:solidFill>
            <a:prstDash val="solid"/>
          </a:ln>
        </p:spPr>
      </p:sp>
      <p:sp>
        <p:nvSpPr>
          <p:cNvPr id="14" name="Text 12"/>
          <p:cNvSpPr txBox="1"/>
          <p:nvPr/>
        </p:nvSpPr>
        <p:spPr>
          <a:xfrm>
            <a:off x="548640" y="42519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5" name="Text 13"/>
          <p:cNvSpPr txBox="1"/>
          <p:nvPr/>
        </p:nvSpPr>
        <p:spPr>
          <a:xfrm>
            <a:off x="1280160" y="4251960"/>
            <a:ext cx="5120640" cy="502920"/>
          </a:xfrm>
          <a:prstGeom prst="rect">
            <a:avLst/>
          </a:prstGeom>
          <a:noFill/>
          <a:ln/>
        </p:spPr>
        <p:txBody>
          <a:bodyPr wrap="square" lIns="0" tIns="0" rIns="0" bIns="0" rtlCol="0" anchor="ctr"/>
          <a:lstStyle/>
          <a:p>
            <a:pPr indent="0" marL="0">
              <a:spcAft>
                <a:spcPts val="400"/>
              </a:spcAft>
              <a:buNone/>
            </a:pPr>
            <a:r>
              <a:rPr lang="en-US" sz="1600" b="1" dirty="0">
                <a:solidFill>
                  <a:srgbClr val="000000"/>
                </a:solidFill>
                <a:latin typeface="Cambria" pitchFamily="34" charset="0"/>
                <a:ea typeface="Cambria" pitchFamily="34" charset="-122"/>
                <a:cs typeface="Cambria" pitchFamily="34" charset="-120"/>
              </a:rPr>
              <a:t>TMS prompts for a new password. Set it and keep it safe</a:t>
            </a:r>
            <a:endParaRPr lang="en-US" sz="1600" dirty="0"/>
          </a:p>
        </p:txBody>
      </p:sp>
      <p:sp>
        <p:nvSpPr>
          <p:cNvPr id="16" name="Step 5"/>
          <p:cNvSpPr/>
          <p:nvPr/>
        </p:nvSpPr>
        <p:spPr>
          <a:xfrm>
            <a:off x="548640" y="5074920"/>
            <a:ext cx="502920" cy="502920"/>
          </a:xfrm>
          <a:prstGeom prst="ellipse">
            <a:avLst/>
          </a:prstGeom>
          <a:solidFill>
            <a:srgbClr val="E41E26"/>
          </a:solidFill>
          <a:ln w="12700">
            <a:solidFill>
              <a:srgbClr val="E41E26"/>
            </a:solidFill>
            <a:prstDash val="solid"/>
          </a:ln>
        </p:spPr>
      </p:sp>
      <p:sp>
        <p:nvSpPr>
          <p:cNvPr id="17" name="Text 15"/>
          <p:cNvSpPr txBox="1"/>
          <p:nvPr/>
        </p:nvSpPr>
        <p:spPr>
          <a:xfrm>
            <a:off x="548640" y="50749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18" name="Text 16"/>
          <p:cNvSpPr txBox="1"/>
          <p:nvPr/>
        </p:nvSpPr>
        <p:spPr>
          <a:xfrm>
            <a:off x="1280160" y="5074920"/>
            <a:ext cx="5120640" cy="502920"/>
          </a:xfrm>
          <a:prstGeom prst="rect">
            <a:avLst/>
          </a:prstGeom>
          <a:noFill/>
          <a:ln/>
        </p:spPr>
        <p:txBody>
          <a:bodyPr wrap="square" lIns="0" tIns="0" rIns="0" bIns="0" rtlCol="0" anchor="ctr"/>
          <a:lstStyle/>
          <a:p>
            <a:pPr indent="0" marL="0">
              <a:spcAft>
                <a:spcPts val="400"/>
              </a:spcAft>
              <a:buNone/>
            </a:pPr>
            <a:r>
              <a:rPr lang="en-US" sz="1600" dirty="0">
                <a:solidFill>
                  <a:srgbClr val="000000"/>
                </a:solidFill>
                <a:latin typeface="Cambria" pitchFamily="34" charset="0"/>
                <a:ea typeface="Cambria" pitchFamily="34" charset="-122"/>
                <a:cs typeface="Cambria" pitchFamily="34" charset="-120"/>
              </a:rPr>
              <a:t>Land on the Student Dashboard</a:t>
            </a:r>
            <a:endParaRPr lang="en-US" sz="1600" dirty="0"/>
          </a:p>
        </p:txBody>
      </p:sp>
      <p:sp>
        <p:nvSpPr>
          <p:cNvPr id="19" name="Browser mockup"/>
          <p:cNvSpPr/>
          <p:nvPr/>
        </p:nvSpPr>
        <p:spPr>
          <a:xfrm>
            <a:off x="6720840" y="1783080"/>
            <a:ext cx="4919472" cy="2788920"/>
          </a:xfrm>
          <a:prstGeom prst="rect">
            <a:avLst/>
          </a:prstGeom>
          <a:solidFill>
            <a:srgbClr val="EFEFEF"/>
          </a:solidFill>
          <a:ln w="12700">
            <a:solidFill>
              <a:srgbClr val="EFEFEF"/>
            </a:solidFill>
            <a:prstDash val="solid"/>
          </a:ln>
        </p:spPr>
      </p:sp>
      <p:sp>
        <p:nvSpPr>
          <p:cNvPr id="20" name="Shape 18"/>
          <p:cNvSpPr/>
          <p:nvPr/>
        </p:nvSpPr>
        <p:spPr>
          <a:xfrm>
            <a:off x="6903720" y="1938528"/>
            <a:ext cx="118872" cy="118872"/>
          </a:xfrm>
          <a:prstGeom prst="ellipse">
            <a:avLst/>
          </a:prstGeom>
          <a:solidFill>
            <a:srgbClr val="BFBFBF"/>
          </a:solidFill>
          <a:ln w="12700">
            <a:solidFill>
              <a:srgbClr val="BFBFBF"/>
            </a:solidFill>
            <a:prstDash val="solid"/>
          </a:ln>
        </p:spPr>
      </p:sp>
      <p:sp>
        <p:nvSpPr>
          <p:cNvPr id="21" name="Shape 19"/>
          <p:cNvSpPr/>
          <p:nvPr/>
        </p:nvSpPr>
        <p:spPr>
          <a:xfrm>
            <a:off x="7104888" y="1938528"/>
            <a:ext cx="118872" cy="118872"/>
          </a:xfrm>
          <a:prstGeom prst="ellipse">
            <a:avLst/>
          </a:prstGeom>
          <a:solidFill>
            <a:srgbClr val="BFBFBF"/>
          </a:solidFill>
          <a:ln w="12700">
            <a:solidFill>
              <a:srgbClr val="BFBFBF"/>
            </a:solidFill>
            <a:prstDash val="solid"/>
          </a:ln>
        </p:spPr>
      </p:sp>
      <p:sp>
        <p:nvSpPr>
          <p:cNvPr id="22" name="Shape 20"/>
          <p:cNvSpPr/>
          <p:nvPr/>
        </p:nvSpPr>
        <p:spPr>
          <a:xfrm>
            <a:off x="7306056" y="1938528"/>
            <a:ext cx="118872" cy="118872"/>
          </a:xfrm>
          <a:prstGeom prst="ellipse">
            <a:avLst/>
          </a:prstGeom>
          <a:solidFill>
            <a:srgbClr val="BFBFBF"/>
          </a:solidFill>
          <a:ln w="12700">
            <a:solidFill>
              <a:srgbClr val="BFBFBF"/>
            </a:solidFill>
            <a:prstDash val="solid"/>
          </a:ln>
        </p:spPr>
      </p:sp>
      <p:sp>
        <p:nvSpPr>
          <p:cNvPr id="23" name="Address bar"/>
          <p:cNvSpPr/>
          <p:nvPr/>
        </p:nvSpPr>
        <p:spPr>
          <a:xfrm>
            <a:off x="7589520" y="1874520"/>
            <a:ext cx="3840480" cy="301752"/>
          </a:xfrm>
          <a:prstGeom prst="rect">
            <a:avLst/>
          </a:prstGeom>
          <a:solidFill>
            <a:srgbClr val="FFFFFF"/>
          </a:solidFill>
          <a:ln w="12700">
            <a:solidFill>
              <a:srgbClr val="FFFFFF"/>
            </a:solidFill>
            <a:prstDash val="solid"/>
          </a:ln>
        </p:spPr>
      </p:sp>
      <p:sp>
        <p:nvSpPr>
          <p:cNvPr id="24" name="Text 22"/>
          <p:cNvSpPr txBox="1"/>
          <p:nvPr/>
        </p:nvSpPr>
        <p:spPr>
          <a:xfrm>
            <a:off x="7699248" y="1874520"/>
            <a:ext cx="3657600" cy="301752"/>
          </a:xfrm>
          <a:prstGeom prst="rect">
            <a:avLst/>
          </a:prstGeom>
          <a:noFill/>
          <a:ln/>
        </p:spPr>
        <p:txBody>
          <a:bodyPr wrap="square" lIns="0" tIns="0" rIns="0" bIns="0" rtlCol="0" anchor="ctr"/>
          <a:lstStyle/>
          <a:p>
            <a:pPr indent="0" marL="0">
              <a:buNone/>
            </a:pPr>
            <a:r>
              <a:rPr lang="en-US" sz="1100" dirty="0">
                <a:solidFill>
                  <a:srgbClr val="595959"/>
                </a:solidFill>
                <a:latin typeface="Courier New" pitchFamily="34" charset="0"/>
                <a:ea typeface="Courier New" pitchFamily="34" charset="-122"/>
                <a:cs typeface="Courier New" pitchFamily="34" charset="-120"/>
              </a:rPr>
              <a:t>generalassembly.learnondemand.net</a:t>
            </a:r>
            <a:endParaRPr lang="en-US" sz="1100" dirty="0"/>
          </a:p>
        </p:txBody>
      </p:sp>
      <p:sp>
        <p:nvSpPr>
          <p:cNvPr id="25" name="Page"/>
          <p:cNvSpPr/>
          <p:nvPr/>
        </p:nvSpPr>
        <p:spPr>
          <a:xfrm>
            <a:off x="6903720" y="2377440"/>
            <a:ext cx="4553712" cy="2011680"/>
          </a:xfrm>
          <a:prstGeom prst="rect">
            <a:avLst/>
          </a:prstGeom>
          <a:solidFill>
            <a:srgbClr val="FFFFFF"/>
          </a:solidFill>
          <a:ln w="12700">
            <a:solidFill>
              <a:srgbClr val="FFFFFF"/>
            </a:solidFill>
            <a:prstDash val="solid"/>
          </a:ln>
        </p:spPr>
      </p:sp>
      <p:pic>
        <p:nvPicPr>
          <p:cNvPr id="26" name="Image 0" descr="/home/claude/assets/logo-light.png">    </p:cNvPr>
          <p:cNvPicPr>
            <a:picLocks noChangeAspect="1"/>
          </p:cNvPicPr>
          <p:nvPr/>
        </p:nvPicPr>
        <p:blipFill>
          <a:blip r:embed="rId1"/>
          <a:stretch>
            <a:fillRect/>
          </a:stretch>
        </p:blipFill>
        <p:spPr>
          <a:xfrm>
            <a:off x="8183880" y="2697480"/>
            <a:ext cx="2011680" cy="251460"/>
          </a:xfrm>
          <a:prstGeom prst="rect">
            <a:avLst/>
          </a:prstGeom>
        </p:spPr>
      </p:pic>
      <p:sp>
        <p:nvSpPr>
          <p:cNvPr id="27" name="Email field"/>
          <p:cNvSpPr/>
          <p:nvPr/>
        </p:nvSpPr>
        <p:spPr>
          <a:xfrm>
            <a:off x="7726680" y="3246120"/>
            <a:ext cx="2926080" cy="292608"/>
          </a:xfrm>
          <a:prstGeom prst="rect">
            <a:avLst/>
          </a:prstGeom>
          <a:solidFill>
            <a:srgbClr val="F2F2F2"/>
          </a:solidFill>
          <a:ln w="12700">
            <a:solidFill>
              <a:srgbClr val="F2F2F2"/>
            </a:solidFill>
            <a:prstDash val="solid"/>
          </a:ln>
        </p:spPr>
      </p:sp>
      <p:sp>
        <p:nvSpPr>
          <p:cNvPr id="28" name="Password field"/>
          <p:cNvSpPr/>
          <p:nvPr/>
        </p:nvSpPr>
        <p:spPr>
          <a:xfrm>
            <a:off x="7726680" y="3630168"/>
            <a:ext cx="2926080" cy="292608"/>
          </a:xfrm>
          <a:prstGeom prst="rect">
            <a:avLst/>
          </a:prstGeom>
          <a:solidFill>
            <a:srgbClr val="F2F2F2"/>
          </a:solidFill>
          <a:ln w="12700">
            <a:solidFill>
              <a:srgbClr val="F2F2F2"/>
            </a:solidFill>
            <a:prstDash val="solid"/>
          </a:ln>
        </p:spPr>
      </p:sp>
      <p:sp>
        <p:nvSpPr>
          <p:cNvPr id="29" name="Text 26"/>
          <p:cNvSpPr txBox="1"/>
          <p:nvPr/>
        </p:nvSpPr>
        <p:spPr>
          <a:xfrm>
            <a:off x="8549640" y="4023360"/>
            <a:ext cx="1280160" cy="292608"/>
          </a:xfrm>
          <a:prstGeom prst="rect">
            <a:avLst/>
          </a:prstGeom>
          <a:solidFill>
            <a:srgbClr val="E41E26"/>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Sign In</a:t>
            </a:r>
            <a:endParaRPr lang="en-US" sz="1200" dirty="0"/>
          </a:p>
        </p:txBody>
      </p:sp>
      <p:sp>
        <p:nvSpPr>
          <p:cNvPr id="30" name="Expected behavior"/>
          <p:cNvSpPr/>
          <p:nvPr/>
        </p:nvSpPr>
        <p:spPr>
          <a:xfrm>
            <a:off x="6720840" y="4800600"/>
            <a:ext cx="4919472" cy="1143000"/>
          </a:xfrm>
          <a:prstGeom prst="rect">
            <a:avLst/>
          </a:prstGeom>
          <a:solidFill>
            <a:srgbClr val="000000"/>
          </a:solidFill>
          <a:ln w="12700">
            <a:solidFill>
              <a:srgbClr val="000000"/>
            </a:solidFill>
            <a:prstDash val="solid"/>
          </a:ln>
        </p:spPr>
      </p:sp>
      <p:pic>
        <p:nvPicPr>
          <p:cNvPr id="31" name="Icon LuLightbulb" descr="/home/claude/deck/img/LuLightbulb-w.png">    </p:cNvPr>
          <p:cNvPicPr>
            <a:picLocks noChangeAspect="1"/>
          </p:cNvPicPr>
          <p:nvPr/>
        </p:nvPicPr>
        <p:blipFill>
          <a:blip r:embed="rId2"/>
          <a:stretch>
            <a:fillRect/>
          </a:stretch>
        </p:blipFill>
        <p:spPr>
          <a:xfrm>
            <a:off x="6949440" y="5029200"/>
            <a:ext cx="658368" cy="658368"/>
          </a:xfrm>
          <a:prstGeom prst="rect">
            <a:avLst/>
          </a:prstGeom>
        </p:spPr>
      </p:pic>
      <p:sp>
        <p:nvSpPr>
          <p:cNvPr id="32" name="Text 28"/>
          <p:cNvSpPr txBox="1"/>
          <p:nvPr/>
        </p:nvSpPr>
        <p:spPr>
          <a:xfrm>
            <a:off x="7772400" y="4800600"/>
            <a:ext cx="3657600" cy="1143000"/>
          </a:xfrm>
          <a:prstGeom prst="rect">
            <a:avLst/>
          </a:prstGeom>
          <a:noFill/>
          <a:ln/>
        </p:spPr>
        <p:txBody>
          <a:bodyPr wrap="square" lIns="0" tIns="0" rIns="0" bIns="0" rtlCol="0" anchor="ctr"/>
          <a:lstStyle/>
          <a:p>
            <a:pPr indent="0" marL="0">
              <a:spcAft>
                <a:spcPts val="400"/>
              </a:spcAft>
              <a:buNone/>
            </a:pPr>
            <a:r>
              <a:rPr lang="en-US" sz="1400" b="1" dirty="0">
                <a:solidFill>
                  <a:srgbClr val="E41E26"/>
                </a:solidFill>
                <a:latin typeface="Cambria" pitchFamily="34" charset="0"/>
                <a:ea typeface="Cambria" pitchFamily="34" charset="-122"/>
                <a:cs typeface="Cambria" pitchFamily="34" charset="-120"/>
              </a:rPr>
              <a:t>That’s expected. </a:t>
            </a:r>
            <a:pPr indent="0" marL="0">
              <a:spcAft>
                <a:spcPts val="400"/>
              </a:spcAft>
              <a:buNone/>
            </a:pPr>
            <a:r>
              <a:rPr lang="en-US" sz="1400" dirty="0">
                <a:solidFill>
                  <a:srgbClr val="FFFFFF"/>
                </a:solidFill>
                <a:latin typeface="Cambria" pitchFamily="34" charset="0"/>
                <a:ea typeface="Cambria" pitchFamily="34" charset="-122"/>
                <a:cs typeface="Cambria" pitchFamily="34" charset="-120"/>
              </a:rPr>
              <a:t>Changing the password signs the student out straight away. They sign back in with the new one.</a:t>
            </a:r>
            <a:endParaRPr lang="en-US" sz="14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FROM DASHBOARD TO LABS</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Finding the </a:t>
            </a:r>
            <a:pPr indent="0" marL="0">
              <a:buNone/>
            </a:pPr>
            <a:r>
              <a:rPr lang="en-US" sz="3400" b="1" dirty="0">
                <a:solidFill>
                  <a:srgbClr val="E41E26"/>
                </a:solidFill>
                <a:latin typeface="Arial" pitchFamily="34" charset="0"/>
                <a:ea typeface="Arial" pitchFamily="34" charset="-122"/>
                <a:cs typeface="Arial" pitchFamily="34" charset="-120"/>
              </a:rPr>
              <a:t>class</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sp>
        <p:nvSpPr>
          <p:cNvPr id="4" name="Panel"/>
          <p:cNvSpPr/>
          <p:nvPr/>
        </p:nvSpPr>
        <p:spPr>
          <a:xfrm>
            <a:off x="548640" y="1828800"/>
            <a:ext cx="2468880" cy="1783080"/>
          </a:xfrm>
          <a:prstGeom prst="rect">
            <a:avLst/>
          </a:prstGeom>
          <a:solidFill>
            <a:srgbClr val="EFEFEF"/>
          </a:solidFill>
          <a:ln w="12700">
            <a:solidFill>
              <a:srgbClr val="EFEFEF"/>
            </a:solidFill>
            <a:prstDash val="solid"/>
          </a:ln>
        </p:spPr>
      </p:sp>
      <p:sp>
        <p:nvSpPr>
          <p:cNvPr id="5" name="Text 3"/>
          <p:cNvSpPr txBox="1"/>
          <p:nvPr/>
        </p:nvSpPr>
        <p:spPr>
          <a:xfrm>
            <a:off x="822960" y="2057400"/>
            <a:ext cx="914400" cy="320040"/>
          </a:xfrm>
          <a:prstGeom prst="rect">
            <a:avLst/>
          </a:prstGeom>
          <a:noFill/>
          <a:ln/>
        </p:spPr>
        <p:txBody>
          <a:bodyPr wrap="square" lIns="0" tIns="0" rIns="0" bIns="0" rtlCol="0" anchor="ctr"/>
          <a:lstStyle/>
          <a:p>
            <a:pPr indent="0" marL="0">
              <a:buNone/>
            </a:pPr>
            <a:r>
              <a:rPr lang="en-US" sz="1400" b="1" dirty="0">
                <a:solidFill>
                  <a:srgbClr val="E41E26"/>
                </a:solidFill>
                <a:latin typeface="Arial" pitchFamily="34" charset="0"/>
                <a:ea typeface="Arial" pitchFamily="34" charset="-122"/>
                <a:cs typeface="Arial" pitchFamily="34" charset="-120"/>
              </a:rPr>
              <a:t>01</a:t>
            </a:r>
            <a:endParaRPr lang="en-US" sz="1400" dirty="0"/>
          </a:p>
        </p:txBody>
      </p:sp>
      <p:sp>
        <p:nvSpPr>
          <p:cNvPr id="6" name="Text 4"/>
          <p:cNvSpPr txBox="1"/>
          <p:nvPr/>
        </p:nvSpPr>
        <p:spPr>
          <a:xfrm>
            <a:off x="822960" y="2377440"/>
            <a:ext cx="2011680" cy="411480"/>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Dashboard</a:t>
            </a:r>
            <a:endParaRPr lang="en-US" sz="2000" dirty="0"/>
          </a:p>
        </p:txBody>
      </p:sp>
      <p:sp>
        <p:nvSpPr>
          <p:cNvPr id="7" name="Text 5"/>
          <p:cNvSpPr txBox="1"/>
          <p:nvPr/>
        </p:nvSpPr>
        <p:spPr>
          <a:xfrm>
            <a:off x="822960" y="2834640"/>
            <a:ext cx="1965960" cy="64008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Where students land after signing in</a:t>
            </a:r>
            <a:endParaRPr lang="en-US" sz="1400" dirty="0"/>
          </a:p>
        </p:txBody>
      </p:sp>
      <p:sp>
        <p:nvSpPr>
          <p:cNvPr id="8" name="Text 6"/>
          <p:cNvSpPr txBox="1"/>
          <p:nvPr/>
        </p:nvSpPr>
        <p:spPr>
          <a:xfrm>
            <a:off x="3017520" y="2423160"/>
            <a:ext cx="393192" cy="548640"/>
          </a:xfrm>
          <a:prstGeom prst="rect">
            <a:avLst/>
          </a:prstGeom>
          <a:noFill/>
          <a:ln/>
        </p:spPr>
        <p:txBody>
          <a:bodyPr wrap="square" lIns="0" tIns="0" rIns="0" bIns="0" rtlCol="0" anchor="ctr"/>
          <a:lstStyle/>
          <a:p>
            <a:pPr algn="ctr" indent="0" marL="0">
              <a:buNone/>
            </a:pPr>
            <a:r>
              <a:rPr lang="en-US" sz="2400" b="1" dirty="0">
                <a:solidFill>
                  <a:srgbClr val="E41E26"/>
                </a:solidFill>
                <a:latin typeface="Arial" pitchFamily="34" charset="0"/>
                <a:ea typeface="Arial" pitchFamily="34" charset="-122"/>
                <a:cs typeface="Arial" pitchFamily="34" charset="-120"/>
              </a:rPr>
              <a:t>→</a:t>
            </a:r>
            <a:endParaRPr lang="en-US" sz="2400" dirty="0"/>
          </a:p>
        </p:txBody>
      </p:sp>
      <p:sp>
        <p:nvSpPr>
          <p:cNvPr id="9" name="Panel"/>
          <p:cNvSpPr/>
          <p:nvPr/>
        </p:nvSpPr>
        <p:spPr>
          <a:xfrm>
            <a:off x="3410712" y="1828800"/>
            <a:ext cx="2468880" cy="1783080"/>
          </a:xfrm>
          <a:prstGeom prst="rect">
            <a:avLst/>
          </a:prstGeom>
          <a:solidFill>
            <a:srgbClr val="EFEFEF"/>
          </a:solidFill>
          <a:ln w="12700">
            <a:solidFill>
              <a:srgbClr val="EFEFEF"/>
            </a:solidFill>
            <a:prstDash val="solid"/>
          </a:ln>
        </p:spPr>
      </p:sp>
      <p:sp>
        <p:nvSpPr>
          <p:cNvPr id="10" name="Text 8"/>
          <p:cNvSpPr txBox="1"/>
          <p:nvPr/>
        </p:nvSpPr>
        <p:spPr>
          <a:xfrm>
            <a:off x="3685032" y="2057400"/>
            <a:ext cx="914400" cy="320040"/>
          </a:xfrm>
          <a:prstGeom prst="rect">
            <a:avLst/>
          </a:prstGeom>
          <a:noFill/>
          <a:ln/>
        </p:spPr>
        <p:txBody>
          <a:bodyPr wrap="square" lIns="0" tIns="0" rIns="0" bIns="0" rtlCol="0" anchor="ctr"/>
          <a:lstStyle/>
          <a:p>
            <a:pPr indent="0" marL="0">
              <a:buNone/>
            </a:pPr>
            <a:r>
              <a:rPr lang="en-US" sz="1400" b="1" dirty="0">
                <a:solidFill>
                  <a:srgbClr val="E41E26"/>
                </a:solidFill>
                <a:latin typeface="Arial" pitchFamily="34" charset="0"/>
                <a:ea typeface="Arial" pitchFamily="34" charset="-122"/>
                <a:cs typeface="Arial" pitchFamily="34" charset="-120"/>
              </a:rPr>
              <a:t>02</a:t>
            </a:r>
            <a:endParaRPr lang="en-US" sz="1400" dirty="0"/>
          </a:p>
        </p:txBody>
      </p:sp>
      <p:sp>
        <p:nvSpPr>
          <p:cNvPr id="11" name="Text 9"/>
          <p:cNvSpPr txBox="1"/>
          <p:nvPr/>
        </p:nvSpPr>
        <p:spPr>
          <a:xfrm>
            <a:off x="3685032" y="2377440"/>
            <a:ext cx="2011680" cy="411480"/>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Classes tab</a:t>
            </a:r>
            <a:endParaRPr lang="en-US" sz="2000" dirty="0"/>
          </a:p>
        </p:txBody>
      </p:sp>
      <p:sp>
        <p:nvSpPr>
          <p:cNvPr id="12" name="Text 10"/>
          <p:cNvSpPr txBox="1"/>
          <p:nvPr/>
        </p:nvSpPr>
        <p:spPr>
          <a:xfrm>
            <a:off x="3685032" y="2834640"/>
            <a:ext cx="1965960" cy="64008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The class appears with its name and dates</a:t>
            </a:r>
            <a:endParaRPr lang="en-US" sz="1400" dirty="0"/>
          </a:p>
        </p:txBody>
      </p:sp>
      <p:sp>
        <p:nvSpPr>
          <p:cNvPr id="13" name="Text 11"/>
          <p:cNvSpPr txBox="1"/>
          <p:nvPr/>
        </p:nvSpPr>
        <p:spPr>
          <a:xfrm>
            <a:off x="5879592" y="2423160"/>
            <a:ext cx="393192" cy="548640"/>
          </a:xfrm>
          <a:prstGeom prst="rect">
            <a:avLst/>
          </a:prstGeom>
          <a:noFill/>
          <a:ln/>
        </p:spPr>
        <p:txBody>
          <a:bodyPr wrap="square" lIns="0" tIns="0" rIns="0" bIns="0" rtlCol="0" anchor="ctr"/>
          <a:lstStyle/>
          <a:p>
            <a:pPr algn="ctr" indent="0" marL="0">
              <a:buNone/>
            </a:pPr>
            <a:r>
              <a:rPr lang="en-US" sz="2400" b="1" dirty="0">
                <a:solidFill>
                  <a:srgbClr val="E41E26"/>
                </a:solidFill>
                <a:latin typeface="Arial" pitchFamily="34" charset="0"/>
                <a:ea typeface="Arial" pitchFamily="34" charset="-122"/>
                <a:cs typeface="Arial" pitchFamily="34" charset="-120"/>
              </a:rPr>
              <a:t>→</a:t>
            </a:r>
            <a:endParaRPr lang="en-US" sz="2400" dirty="0"/>
          </a:p>
        </p:txBody>
      </p:sp>
      <p:sp>
        <p:nvSpPr>
          <p:cNvPr id="14" name="Panel"/>
          <p:cNvSpPr/>
          <p:nvPr/>
        </p:nvSpPr>
        <p:spPr>
          <a:xfrm>
            <a:off x="6272784" y="1828800"/>
            <a:ext cx="2468880" cy="1783080"/>
          </a:xfrm>
          <a:prstGeom prst="rect">
            <a:avLst/>
          </a:prstGeom>
          <a:solidFill>
            <a:srgbClr val="EFEFEF"/>
          </a:solidFill>
          <a:ln w="12700">
            <a:solidFill>
              <a:srgbClr val="EFEFEF"/>
            </a:solidFill>
            <a:prstDash val="solid"/>
          </a:ln>
        </p:spPr>
      </p:sp>
      <p:sp>
        <p:nvSpPr>
          <p:cNvPr id="15" name="Text 13"/>
          <p:cNvSpPr txBox="1"/>
          <p:nvPr/>
        </p:nvSpPr>
        <p:spPr>
          <a:xfrm>
            <a:off x="6547104" y="2057400"/>
            <a:ext cx="914400" cy="320040"/>
          </a:xfrm>
          <a:prstGeom prst="rect">
            <a:avLst/>
          </a:prstGeom>
          <a:noFill/>
          <a:ln/>
        </p:spPr>
        <p:txBody>
          <a:bodyPr wrap="square" lIns="0" tIns="0" rIns="0" bIns="0" rtlCol="0" anchor="ctr"/>
          <a:lstStyle/>
          <a:p>
            <a:pPr indent="0" marL="0">
              <a:buNone/>
            </a:pPr>
            <a:r>
              <a:rPr lang="en-US" sz="1400" b="1" dirty="0">
                <a:solidFill>
                  <a:srgbClr val="E41E26"/>
                </a:solidFill>
                <a:latin typeface="Arial" pitchFamily="34" charset="0"/>
                <a:ea typeface="Arial" pitchFamily="34" charset="-122"/>
                <a:cs typeface="Arial" pitchFamily="34" charset="-120"/>
              </a:rPr>
              <a:t>03</a:t>
            </a:r>
            <a:endParaRPr lang="en-US" sz="1400" dirty="0"/>
          </a:p>
        </p:txBody>
      </p:sp>
      <p:sp>
        <p:nvSpPr>
          <p:cNvPr id="16" name="Text 14"/>
          <p:cNvSpPr txBox="1"/>
          <p:nvPr/>
        </p:nvSpPr>
        <p:spPr>
          <a:xfrm>
            <a:off x="6547104" y="2377440"/>
            <a:ext cx="2011680" cy="411480"/>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Enrollment</a:t>
            </a:r>
            <a:endParaRPr lang="en-US" sz="2000" dirty="0"/>
          </a:p>
        </p:txBody>
      </p:sp>
      <p:sp>
        <p:nvSpPr>
          <p:cNvPr id="17" name="Text 15"/>
          <p:cNvSpPr txBox="1"/>
          <p:nvPr/>
        </p:nvSpPr>
        <p:spPr>
          <a:xfrm>
            <a:off x="6547104" y="2834640"/>
            <a:ext cx="1965960" cy="64008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Select the class to open it</a:t>
            </a:r>
            <a:endParaRPr lang="en-US" sz="1400" dirty="0"/>
          </a:p>
        </p:txBody>
      </p:sp>
      <p:sp>
        <p:nvSpPr>
          <p:cNvPr id="18" name="Text 16"/>
          <p:cNvSpPr txBox="1"/>
          <p:nvPr/>
        </p:nvSpPr>
        <p:spPr>
          <a:xfrm>
            <a:off x="8741664" y="2423160"/>
            <a:ext cx="393192" cy="548640"/>
          </a:xfrm>
          <a:prstGeom prst="rect">
            <a:avLst/>
          </a:prstGeom>
          <a:noFill/>
          <a:ln/>
        </p:spPr>
        <p:txBody>
          <a:bodyPr wrap="square" lIns="0" tIns="0" rIns="0" bIns="0" rtlCol="0" anchor="ctr"/>
          <a:lstStyle/>
          <a:p>
            <a:pPr algn="ctr" indent="0" marL="0">
              <a:buNone/>
            </a:pPr>
            <a:r>
              <a:rPr lang="en-US" sz="2400" b="1" dirty="0">
                <a:solidFill>
                  <a:srgbClr val="E41E26"/>
                </a:solidFill>
                <a:latin typeface="Arial" pitchFamily="34" charset="0"/>
                <a:ea typeface="Arial" pitchFamily="34" charset="-122"/>
                <a:cs typeface="Arial" pitchFamily="34" charset="-120"/>
              </a:rPr>
              <a:t>→</a:t>
            </a:r>
            <a:endParaRPr lang="en-US" sz="2400" dirty="0"/>
          </a:p>
        </p:txBody>
      </p:sp>
      <p:sp>
        <p:nvSpPr>
          <p:cNvPr id="19" name="Panel"/>
          <p:cNvSpPr/>
          <p:nvPr/>
        </p:nvSpPr>
        <p:spPr>
          <a:xfrm>
            <a:off x="9134856" y="1828800"/>
            <a:ext cx="2468880" cy="1783080"/>
          </a:xfrm>
          <a:prstGeom prst="rect">
            <a:avLst/>
          </a:prstGeom>
          <a:solidFill>
            <a:srgbClr val="000000"/>
          </a:solidFill>
          <a:ln w="12700">
            <a:solidFill>
              <a:srgbClr val="000000"/>
            </a:solidFill>
            <a:prstDash val="solid"/>
          </a:ln>
        </p:spPr>
      </p:sp>
      <p:sp>
        <p:nvSpPr>
          <p:cNvPr id="20" name="Text 18"/>
          <p:cNvSpPr txBox="1"/>
          <p:nvPr/>
        </p:nvSpPr>
        <p:spPr>
          <a:xfrm>
            <a:off x="9409176" y="2057400"/>
            <a:ext cx="914400" cy="320040"/>
          </a:xfrm>
          <a:prstGeom prst="rect">
            <a:avLst/>
          </a:prstGeom>
          <a:noFill/>
          <a:ln/>
        </p:spPr>
        <p:txBody>
          <a:bodyPr wrap="square" lIns="0" tIns="0" rIns="0" bIns="0" rtlCol="0" anchor="ctr"/>
          <a:lstStyle/>
          <a:p>
            <a:pPr indent="0" marL="0">
              <a:buNone/>
            </a:pPr>
            <a:r>
              <a:rPr lang="en-US" sz="1400" b="1" dirty="0">
                <a:solidFill>
                  <a:srgbClr val="E41E26"/>
                </a:solidFill>
                <a:latin typeface="Arial" pitchFamily="34" charset="0"/>
                <a:ea typeface="Arial" pitchFamily="34" charset="-122"/>
                <a:cs typeface="Arial" pitchFamily="34" charset="-120"/>
              </a:rPr>
              <a:t>04</a:t>
            </a:r>
            <a:endParaRPr lang="en-US" sz="1400" dirty="0"/>
          </a:p>
        </p:txBody>
      </p:sp>
      <p:sp>
        <p:nvSpPr>
          <p:cNvPr id="21" name="Text 19"/>
          <p:cNvSpPr txBox="1"/>
          <p:nvPr/>
        </p:nvSpPr>
        <p:spPr>
          <a:xfrm>
            <a:off x="9409176" y="2377440"/>
            <a:ext cx="201168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Activities</a:t>
            </a:r>
            <a:endParaRPr lang="en-US" sz="2000" dirty="0"/>
          </a:p>
        </p:txBody>
      </p:sp>
      <p:sp>
        <p:nvSpPr>
          <p:cNvPr id="22" name="Text 20"/>
          <p:cNvSpPr txBox="1"/>
          <p:nvPr/>
        </p:nvSpPr>
        <p:spPr>
          <a:xfrm>
            <a:off x="9409176" y="2834640"/>
            <a:ext cx="1965960" cy="640080"/>
          </a:xfrm>
          <a:prstGeom prst="rect">
            <a:avLst/>
          </a:prstGeom>
          <a:noFill/>
          <a:ln/>
        </p:spPr>
        <p:txBody>
          <a:bodyPr wrap="square" lIns="0" tIns="0" rIns="0" bIns="0" rtlCol="0" anchor="t"/>
          <a:lstStyle/>
          <a:p>
            <a:pPr indent="0" marL="0">
              <a:spcAft>
                <a:spcPts val="400"/>
              </a:spcAft>
              <a:buNone/>
            </a:pPr>
            <a:r>
              <a:rPr lang="en-US" sz="1400" dirty="0">
                <a:solidFill>
                  <a:srgbClr val="D9D9D9"/>
                </a:solidFill>
                <a:latin typeface="Cambria" pitchFamily="34" charset="0"/>
                <a:ea typeface="Cambria" pitchFamily="34" charset="-122"/>
                <a:cs typeface="Cambria" pitchFamily="34" charset="-120"/>
              </a:rPr>
              <a:t>The labs, ready to launch</a:t>
            </a:r>
            <a:endParaRPr lang="en-US" sz="1400" dirty="0"/>
          </a:p>
        </p:txBody>
      </p:sp>
      <p:sp>
        <p:nvSpPr>
          <p:cNvPr id="23" name="Text 21"/>
          <p:cNvSpPr txBox="1"/>
          <p:nvPr/>
        </p:nvSpPr>
        <p:spPr>
          <a:xfrm>
            <a:off x="548640" y="4023360"/>
            <a:ext cx="7315200" cy="365760"/>
          </a:xfrm>
          <a:prstGeom prst="rect">
            <a:avLst/>
          </a:prstGeom>
          <a:noFill/>
          <a:ln/>
        </p:spPr>
        <p:txBody>
          <a:bodyPr wrap="square" lIns="0" tIns="0" rIns="0" bIns="0" rtlCol="0" anchor="ctr"/>
          <a:lstStyle/>
          <a:p>
            <a:pPr indent="0" marL="0">
              <a:buNone/>
            </a:pPr>
            <a:r>
              <a:rPr lang="en-US" sz="1700" b="1" dirty="0">
                <a:solidFill>
                  <a:srgbClr val="000000"/>
                </a:solidFill>
                <a:latin typeface="Arial" pitchFamily="34" charset="0"/>
                <a:ea typeface="Arial" pitchFamily="34" charset="-122"/>
                <a:cs typeface="Arial" pitchFamily="34" charset="-120"/>
              </a:rPr>
              <a:t>No class showing? The usual causes:</a:t>
            </a:r>
            <a:endParaRPr lang="en-US" sz="1700" dirty="0"/>
          </a:p>
        </p:txBody>
      </p:sp>
      <p:sp>
        <p:nvSpPr>
          <p:cNvPr id="24" name="Card A different email"/>
          <p:cNvSpPr/>
          <p:nvPr/>
        </p:nvSpPr>
        <p:spPr>
          <a:xfrm>
            <a:off x="548640" y="4526280"/>
            <a:ext cx="5404104" cy="1417320"/>
          </a:xfrm>
          <a:prstGeom prst="rect">
            <a:avLst/>
          </a:prstGeom>
          <a:solidFill>
            <a:srgbClr val="EFEFEF"/>
          </a:solidFill>
          <a:ln w="12700">
            <a:solidFill>
              <a:srgbClr val="EFEFEF"/>
            </a:solidFill>
            <a:prstDash val="solid"/>
          </a:ln>
        </p:spPr>
      </p:sp>
      <p:sp>
        <p:nvSpPr>
          <p:cNvPr id="25" name="Text 23"/>
          <p:cNvSpPr txBox="1"/>
          <p:nvPr/>
        </p:nvSpPr>
        <p:spPr>
          <a:xfrm>
            <a:off x="822960" y="4782312"/>
            <a:ext cx="4855464" cy="457200"/>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A different email</a:t>
            </a:r>
            <a:endParaRPr lang="en-US" sz="1600" dirty="0"/>
          </a:p>
        </p:txBody>
      </p:sp>
      <p:sp>
        <p:nvSpPr>
          <p:cNvPr id="26" name="Text 24"/>
          <p:cNvSpPr txBox="1"/>
          <p:nvPr/>
        </p:nvSpPr>
        <p:spPr>
          <a:xfrm>
            <a:off x="822960" y="5193792"/>
            <a:ext cx="4855464" cy="612648"/>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The student signed in with an email other than the one GA enrolled.</a:t>
            </a:r>
            <a:endParaRPr lang="en-US" sz="1400" dirty="0"/>
          </a:p>
        </p:txBody>
      </p:sp>
      <p:sp>
        <p:nvSpPr>
          <p:cNvPr id="27" name="Card The class hasn’t started yet"/>
          <p:cNvSpPr/>
          <p:nvPr/>
        </p:nvSpPr>
        <p:spPr>
          <a:xfrm>
            <a:off x="6236208" y="4526280"/>
            <a:ext cx="5404104" cy="1417320"/>
          </a:xfrm>
          <a:prstGeom prst="rect">
            <a:avLst/>
          </a:prstGeom>
          <a:solidFill>
            <a:srgbClr val="EFEFEF"/>
          </a:solidFill>
          <a:ln w="12700">
            <a:solidFill>
              <a:srgbClr val="EFEFEF"/>
            </a:solidFill>
            <a:prstDash val="solid"/>
          </a:ln>
        </p:spPr>
      </p:sp>
      <p:sp>
        <p:nvSpPr>
          <p:cNvPr id="28" name="Text 26"/>
          <p:cNvSpPr txBox="1"/>
          <p:nvPr/>
        </p:nvSpPr>
        <p:spPr>
          <a:xfrm>
            <a:off x="6510528" y="4782312"/>
            <a:ext cx="4855464" cy="457200"/>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The class hasn’t started yet</a:t>
            </a:r>
            <a:endParaRPr lang="en-US" sz="1600" dirty="0"/>
          </a:p>
        </p:txBody>
      </p:sp>
      <p:sp>
        <p:nvSpPr>
          <p:cNvPr id="29" name="Text 27"/>
          <p:cNvSpPr txBox="1"/>
          <p:nvPr/>
        </p:nvSpPr>
        <p:spPr>
          <a:xfrm>
            <a:off x="6510528" y="5193792"/>
            <a:ext cx="4855464" cy="612648"/>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Labs become available when the class starts.</a:t>
            </a:r>
            <a:endParaRPr lang="en-US" sz="14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SET PER PROGRAM, BEFORE LAUNCH</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What labs students can </a:t>
            </a:r>
            <a:pPr indent="0" marL="0">
              <a:buNone/>
            </a:pPr>
            <a:r>
              <a:rPr lang="en-US" sz="3400" b="1" dirty="0">
                <a:solidFill>
                  <a:srgbClr val="E41E26"/>
                </a:solidFill>
                <a:latin typeface="Arial" pitchFamily="34" charset="0"/>
                <a:ea typeface="Arial" pitchFamily="34" charset="-122"/>
                <a:cs typeface="Arial" pitchFamily="34" charset="-120"/>
              </a:rPr>
              <a:t>see</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sp>
        <p:nvSpPr>
          <p:cNvPr id="4" name="Panel"/>
          <p:cNvSpPr/>
          <p:nvPr/>
        </p:nvSpPr>
        <p:spPr>
          <a:xfrm>
            <a:off x="548640" y="1783080"/>
            <a:ext cx="3538728" cy="4160520"/>
          </a:xfrm>
          <a:prstGeom prst="rect">
            <a:avLst/>
          </a:prstGeom>
          <a:solidFill>
            <a:srgbClr val="EFEFEF"/>
          </a:solidFill>
          <a:ln w="12700">
            <a:solidFill>
              <a:srgbClr val="EFEFEF"/>
            </a:solidFill>
            <a:prstDash val="solid"/>
          </a:ln>
        </p:spPr>
      </p:sp>
      <p:sp>
        <p:nvSpPr>
          <p:cNvPr id="5" name="Text 3"/>
          <p:cNvSpPr txBox="1"/>
          <p:nvPr/>
        </p:nvSpPr>
        <p:spPr>
          <a:xfrm>
            <a:off x="822960" y="1920240"/>
            <a:ext cx="731520" cy="731520"/>
          </a:xfrm>
          <a:prstGeom prst="rect">
            <a:avLst/>
          </a:prstGeom>
          <a:noFill/>
          <a:ln/>
        </p:spPr>
        <p:txBody>
          <a:bodyPr wrap="square" lIns="0" tIns="0" rIns="0" bIns="0" rtlCol="0" anchor="ctr"/>
          <a:lstStyle/>
          <a:p>
            <a:pPr indent="0" marL="0">
              <a:buNone/>
            </a:pPr>
            <a:r>
              <a:rPr lang="en-US" sz="4400" b="1" dirty="0">
                <a:solidFill>
                  <a:srgbClr val="E41E26"/>
                </a:solidFill>
                <a:latin typeface="Arial" pitchFamily="34" charset="0"/>
                <a:ea typeface="Arial" pitchFamily="34" charset="-122"/>
                <a:cs typeface="Arial" pitchFamily="34" charset="-120"/>
              </a:rPr>
              <a:t>A</a:t>
            </a:r>
            <a:endParaRPr lang="en-US" sz="4400" dirty="0"/>
          </a:p>
        </p:txBody>
      </p:sp>
      <p:sp>
        <p:nvSpPr>
          <p:cNvPr id="6" name="Text 4"/>
          <p:cNvSpPr txBox="1"/>
          <p:nvPr/>
        </p:nvSpPr>
        <p:spPr>
          <a:xfrm>
            <a:off x="1554480" y="2057400"/>
            <a:ext cx="2350008" cy="502920"/>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One lab at a time</a:t>
            </a:r>
            <a:endParaRPr lang="en-US" sz="1800" dirty="0"/>
          </a:p>
        </p:txBody>
      </p:sp>
      <p:sp>
        <p:nvSpPr>
          <p:cNvPr id="7" name="Text 5"/>
          <p:cNvSpPr txBox="1"/>
          <p:nvPr/>
        </p:nvSpPr>
        <p:spPr>
          <a:xfrm>
            <a:off x="822960" y="2743200"/>
            <a:ext cx="2990088" cy="457200"/>
          </a:xfrm>
          <a:prstGeom prst="rect">
            <a:avLst/>
          </a:prstGeom>
          <a:noFill/>
          <a:ln/>
        </p:spPr>
        <p:txBody>
          <a:bodyPr wrap="square" lIns="0" tIns="0" rIns="0" bIns="0" rtlCol="0" anchor="t"/>
          <a:lstStyle/>
          <a:p>
            <a:pPr indent="0" marL="0">
              <a:spcAft>
                <a:spcPts val="400"/>
              </a:spcAft>
              <a:buNone/>
            </a:pPr>
            <a:r>
              <a:rPr lang="en-US" sz="1400" i="1" dirty="0">
                <a:solidFill>
                  <a:srgbClr val="595959"/>
                </a:solidFill>
                <a:latin typeface="Cambria" pitchFamily="34" charset="0"/>
                <a:ea typeface="Cambria" pitchFamily="34" charset="-122"/>
                <a:cs typeface="Cambria" pitchFamily="34" charset="-120"/>
              </a:rPr>
              <a:t>Only the current session’s lab</a:t>
            </a:r>
            <a:endParaRPr lang="en-US" sz="1400" dirty="0"/>
          </a:p>
        </p:txBody>
      </p:sp>
      <p:sp>
        <p:nvSpPr>
          <p:cNvPr id="8" name="Text 6"/>
          <p:cNvSpPr txBox="1"/>
          <p:nvPr/>
        </p:nvSpPr>
        <p:spPr>
          <a:xfrm>
            <a:off x="822960" y="3291840"/>
            <a:ext cx="2990088" cy="2468880"/>
          </a:xfrm>
          <a:prstGeom prst="rect">
            <a:avLst/>
          </a:prstGeom>
          <a:noFill/>
          <a:ln/>
        </p:spPr>
        <p:txBody>
          <a:bodyPr wrap="square" lIns="0" tIns="0" rIns="0" bIns="0" rtlCol="0" anchor="t"/>
          <a:lstStyle/>
          <a:p>
            <a:pPr indent="0" marL="0">
              <a:spcAft>
                <a:spcPts val="600"/>
              </a:spcAft>
              <a:buNone/>
            </a:pPr>
            <a:r>
              <a:rPr lang="en-US" sz="1400" dirty="0">
                <a:solidFill>
                  <a:srgbClr val="000000"/>
                </a:solidFill>
                <a:latin typeface="Cambria" pitchFamily="34" charset="0"/>
                <a:ea typeface="Cambria" pitchFamily="34" charset="-122"/>
                <a:cs typeface="Cambria" pitchFamily="34" charset="-120"/>
              </a:rPr>
              <a:t>+  Simple</a:t>
            </a:r>
            <a:endParaRPr lang="en-US" sz="1400" dirty="0"/>
          </a:p>
          <a:p>
            <a:pPr indent="0" marL="0">
              <a:spcAft>
                <a:spcPts val="600"/>
              </a:spcAft>
              <a:buNone/>
            </a:pPr>
            <a:r>
              <a:rPr lang="en-US" sz="1400" dirty="0">
                <a:solidFill>
                  <a:srgbClr val="000000"/>
                </a:solidFill>
                <a:latin typeface="Cambria" pitchFamily="34" charset="0"/>
                <a:ea typeface="Cambria" pitchFamily="34" charset="-122"/>
                <a:cs typeface="Cambria" pitchFamily="34" charset="-120"/>
              </a:rPr>
              <a:t>+  No wrong-lab launches</a:t>
            </a:r>
            <a:endParaRPr lang="en-US" sz="1400" dirty="0"/>
          </a:p>
          <a:p>
            <a:pPr indent="0" marL="0">
              <a:spcAft>
                <a:spcPts val="600"/>
              </a:spcAft>
              <a:buNone/>
            </a:pPr>
            <a:r>
              <a:rPr lang="en-US" sz="1400" dirty="0">
                <a:solidFill>
                  <a:srgbClr val="000000"/>
                </a:solidFill>
                <a:latin typeface="Cambria" pitchFamily="34" charset="0"/>
                <a:ea typeface="Cambria" pitchFamily="34" charset="-122"/>
                <a:cs typeface="Cambria" pitchFamily="34" charset="-120"/>
              </a:rPr>
              <a:t>+  Protects future content</a:t>
            </a:r>
            <a:endParaRPr lang="en-US" sz="1400" dirty="0"/>
          </a:p>
          <a:p>
            <a:pPr indent="0" marL="0">
              <a:spcAft>
                <a:spcPts val="600"/>
              </a:spcAft>
              <a:buNone/>
            </a:pPr>
            <a:r>
              <a:rPr lang="en-US" sz="1400" dirty="0">
                <a:solidFill>
                  <a:srgbClr val="E41E26"/>
                </a:solidFill>
                <a:latin typeface="Cambria" pitchFamily="34" charset="0"/>
                <a:ea typeface="Cambria" pitchFamily="34" charset="-122"/>
                <a:cs typeface="Cambria" pitchFamily="34" charset="-120"/>
              </a:rPr>
              <a:t>–  Ops must release each lab on schedule</a:t>
            </a:r>
            <a:endParaRPr lang="en-US" sz="1400" dirty="0"/>
          </a:p>
        </p:txBody>
      </p:sp>
      <p:sp>
        <p:nvSpPr>
          <p:cNvPr id="9" name="Panel"/>
          <p:cNvSpPr/>
          <p:nvPr/>
        </p:nvSpPr>
        <p:spPr>
          <a:xfrm>
            <a:off x="4279392" y="1783080"/>
            <a:ext cx="3538728" cy="4160520"/>
          </a:xfrm>
          <a:prstGeom prst="rect">
            <a:avLst/>
          </a:prstGeom>
          <a:solidFill>
            <a:srgbClr val="EFEFEF"/>
          </a:solidFill>
          <a:ln w="12700">
            <a:solidFill>
              <a:srgbClr val="EFEFEF"/>
            </a:solidFill>
            <a:prstDash val="solid"/>
          </a:ln>
        </p:spPr>
      </p:sp>
      <p:sp>
        <p:nvSpPr>
          <p:cNvPr id="10" name="Text 8"/>
          <p:cNvSpPr txBox="1"/>
          <p:nvPr/>
        </p:nvSpPr>
        <p:spPr>
          <a:xfrm>
            <a:off x="4553712" y="1920240"/>
            <a:ext cx="731520" cy="731520"/>
          </a:xfrm>
          <a:prstGeom prst="rect">
            <a:avLst/>
          </a:prstGeom>
          <a:noFill/>
          <a:ln/>
        </p:spPr>
        <p:txBody>
          <a:bodyPr wrap="square" lIns="0" tIns="0" rIns="0" bIns="0" rtlCol="0" anchor="ctr"/>
          <a:lstStyle/>
          <a:p>
            <a:pPr indent="0" marL="0">
              <a:buNone/>
            </a:pPr>
            <a:r>
              <a:rPr lang="en-US" sz="4400" b="1" dirty="0">
                <a:solidFill>
                  <a:srgbClr val="E41E26"/>
                </a:solidFill>
                <a:latin typeface="Arial" pitchFamily="34" charset="0"/>
                <a:ea typeface="Arial" pitchFamily="34" charset="-122"/>
                <a:cs typeface="Arial" pitchFamily="34" charset="-120"/>
              </a:rPr>
              <a:t>B</a:t>
            </a:r>
            <a:endParaRPr lang="en-US" sz="4400" dirty="0"/>
          </a:p>
        </p:txBody>
      </p:sp>
      <p:sp>
        <p:nvSpPr>
          <p:cNvPr id="11" name="Text 9"/>
          <p:cNvSpPr txBox="1"/>
          <p:nvPr/>
        </p:nvSpPr>
        <p:spPr>
          <a:xfrm>
            <a:off x="5285232" y="2057400"/>
            <a:ext cx="2350008" cy="502920"/>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All labs visible</a:t>
            </a:r>
            <a:endParaRPr lang="en-US" sz="1800" dirty="0"/>
          </a:p>
        </p:txBody>
      </p:sp>
      <p:sp>
        <p:nvSpPr>
          <p:cNvPr id="12" name="Text 10"/>
          <p:cNvSpPr txBox="1"/>
          <p:nvPr/>
        </p:nvSpPr>
        <p:spPr>
          <a:xfrm>
            <a:off x="4553712" y="2743200"/>
            <a:ext cx="2990088" cy="457200"/>
          </a:xfrm>
          <a:prstGeom prst="rect">
            <a:avLst/>
          </a:prstGeom>
          <a:noFill/>
          <a:ln/>
        </p:spPr>
        <p:txBody>
          <a:bodyPr wrap="square" lIns="0" tIns="0" rIns="0" bIns="0" rtlCol="0" anchor="t"/>
          <a:lstStyle/>
          <a:p>
            <a:pPr indent="0" marL="0">
              <a:spcAft>
                <a:spcPts val="400"/>
              </a:spcAft>
              <a:buNone/>
            </a:pPr>
            <a:r>
              <a:rPr lang="en-US" sz="1400" i="1" dirty="0">
                <a:solidFill>
                  <a:srgbClr val="595959"/>
                </a:solidFill>
                <a:latin typeface="Cambria" pitchFamily="34" charset="0"/>
                <a:ea typeface="Cambria" pitchFamily="34" charset="-122"/>
                <a:cs typeface="Cambria" pitchFamily="34" charset="-120"/>
              </a:rPr>
              <a:t>The full list for the course</a:t>
            </a:r>
            <a:endParaRPr lang="en-US" sz="1400" dirty="0"/>
          </a:p>
        </p:txBody>
      </p:sp>
      <p:sp>
        <p:nvSpPr>
          <p:cNvPr id="13" name="Text 11"/>
          <p:cNvSpPr txBox="1"/>
          <p:nvPr/>
        </p:nvSpPr>
        <p:spPr>
          <a:xfrm>
            <a:off x="4553712" y="3291840"/>
            <a:ext cx="2990088" cy="2468880"/>
          </a:xfrm>
          <a:prstGeom prst="rect">
            <a:avLst/>
          </a:prstGeom>
          <a:noFill/>
          <a:ln/>
        </p:spPr>
        <p:txBody>
          <a:bodyPr wrap="square" lIns="0" tIns="0" rIns="0" bIns="0" rtlCol="0" anchor="t"/>
          <a:lstStyle/>
          <a:p>
            <a:pPr indent="0" marL="0">
              <a:spcAft>
                <a:spcPts val="600"/>
              </a:spcAft>
              <a:buNone/>
            </a:pPr>
            <a:r>
              <a:rPr lang="en-US" sz="1400" dirty="0">
                <a:solidFill>
                  <a:srgbClr val="000000"/>
                </a:solidFill>
                <a:latin typeface="Cambria" pitchFamily="34" charset="0"/>
                <a:ea typeface="Cambria" pitchFamily="34" charset="-122"/>
                <a:cs typeface="Cambria" pitchFamily="34" charset="-120"/>
              </a:rPr>
              <a:t>+  Students can preview and orient</a:t>
            </a:r>
            <a:endParaRPr lang="en-US" sz="1400" dirty="0"/>
          </a:p>
          <a:p>
            <a:pPr indent="0" marL="0">
              <a:spcAft>
                <a:spcPts val="600"/>
              </a:spcAft>
              <a:buNone/>
            </a:pPr>
            <a:r>
              <a:rPr lang="en-US" sz="1400" dirty="0">
                <a:solidFill>
                  <a:srgbClr val="E41E26"/>
                </a:solidFill>
                <a:latin typeface="Cambria" pitchFamily="34" charset="0"/>
                <a:ea typeface="Cambria" pitchFamily="34" charset="-122"/>
                <a:cs typeface="Cambria" pitchFamily="34" charset="-120"/>
              </a:rPr>
              <a:t>–  Risk of launching the wrong lab and using lab hours</a:t>
            </a:r>
            <a:endParaRPr lang="en-US" sz="1400" dirty="0"/>
          </a:p>
        </p:txBody>
      </p:sp>
      <p:sp>
        <p:nvSpPr>
          <p:cNvPr id="14" name="Panel"/>
          <p:cNvSpPr/>
          <p:nvPr/>
        </p:nvSpPr>
        <p:spPr>
          <a:xfrm>
            <a:off x="8010144" y="1783080"/>
            <a:ext cx="3538728" cy="4160520"/>
          </a:xfrm>
          <a:prstGeom prst="rect">
            <a:avLst/>
          </a:prstGeom>
          <a:solidFill>
            <a:srgbClr val="EFEFEF"/>
          </a:solidFill>
          <a:ln w="12700">
            <a:solidFill>
              <a:srgbClr val="EFEFEF"/>
            </a:solidFill>
            <a:prstDash val="solid"/>
          </a:ln>
        </p:spPr>
      </p:sp>
      <p:sp>
        <p:nvSpPr>
          <p:cNvPr id="15" name="Text 13"/>
          <p:cNvSpPr txBox="1"/>
          <p:nvPr/>
        </p:nvSpPr>
        <p:spPr>
          <a:xfrm>
            <a:off x="8284464" y="1920240"/>
            <a:ext cx="731520" cy="731520"/>
          </a:xfrm>
          <a:prstGeom prst="rect">
            <a:avLst/>
          </a:prstGeom>
          <a:noFill/>
          <a:ln/>
        </p:spPr>
        <p:txBody>
          <a:bodyPr wrap="square" lIns="0" tIns="0" rIns="0" bIns="0" rtlCol="0" anchor="ctr"/>
          <a:lstStyle/>
          <a:p>
            <a:pPr indent="0" marL="0">
              <a:buNone/>
            </a:pPr>
            <a:r>
              <a:rPr lang="en-US" sz="4400" b="1" dirty="0">
                <a:solidFill>
                  <a:srgbClr val="E41E26"/>
                </a:solidFill>
                <a:latin typeface="Arial" pitchFamily="34" charset="0"/>
                <a:ea typeface="Arial" pitchFamily="34" charset="-122"/>
                <a:cs typeface="Arial" pitchFamily="34" charset="-120"/>
              </a:rPr>
              <a:t>C</a:t>
            </a:r>
            <a:endParaRPr lang="en-US" sz="4400" dirty="0"/>
          </a:p>
        </p:txBody>
      </p:sp>
      <p:sp>
        <p:nvSpPr>
          <p:cNvPr id="16" name="Text 14"/>
          <p:cNvSpPr txBox="1"/>
          <p:nvPr/>
        </p:nvSpPr>
        <p:spPr>
          <a:xfrm>
            <a:off x="9015984" y="2057400"/>
            <a:ext cx="2350008" cy="502920"/>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Hybrid</a:t>
            </a:r>
            <a:endParaRPr lang="en-US" sz="1800" dirty="0"/>
          </a:p>
        </p:txBody>
      </p:sp>
      <p:sp>
        <p:nvSpPr>
          <p:cNvPr id="17" name="Text 15"/>
          <p:cNvSpPr txBox="1"/>
          <p:nvPr/>
        </p:nvSpPr>
        <p:spPr>
          <a:xfrm>
            <a:off x="8284464" y="2743200"/>
            <a:ext cx="2990088" cy="457200"/>
          </a:xfrm>
          <a:prstGeom prst="rect">
            <a:avLst/>
          </a:prstGeom>
          <a:noFill/>
          <a:ln/>
        </p:spPr>
        <p:txBody>
          <a:bodyPr wrap="square" lIns="0" tIns="0" rIns="0" bIns="0" rtlCol="0" anchor="t"/>
          <a:lstStyle/>
          <a:p>
            <a:pPr indent="0" marL="0">
              <a:spcAft>
                <a:spcPts val="400"/>
              </a:spcAft>
              <a:buNone/>
            </a:pPr>
            <a:r>
              <a:rPr lang="en-US" sz="1400" i="1" dirty="0">
                <a:solidFill>
                  <a:srgbClr val="595959"/>
                </a:solidFill>
                <a:latin typeface="Cambria" pitchFamily="34" charset="0"/>
                <a:ea typeface="Cambria" pitchFamily="34" charset="-122"/>
                <a:cs typeface="Cambria" pitchFamily="34" charset="-120"/>
              </a:rPr>
              <a:t>Current lab plus past labs</a:t>
            </a:r>
            <a:endParaRPr lang="en-US" sz="1400" dirty="0"/>
          </a:p>
        </p:txBody>
      </p:sp>
      <p:sp>
        <p:nvSpPr>
          <p:cNvPr id="18" name="Text 16"/>
          <p:cNvSpPr txBox="1"/>
          <p:nvPr/>
        </p:nvSpPr>
        <p:spPr>
          <a:xfrm>
            <a:off x="8284464" y="3291840"/>
            <a:ext cx="2990088" cy="2468880"/>
          </a:xfrm>
          <a:prstGeom prst="rect">
            <a:avLst/>
          </a:prstGeom>
          <a:noFill/>
          <a:ln/>
        </p:spPr>
        <p:txBody>
          <a:bodyPr wrap="square" lIns="0" tIns="0" rIns="0" bIns="0" rtlCol="0" anchor="t"/>
          <a:lstStyle/>
          <a:p>
            <a:pPr indent="0" marL="0">
              <a:spcAft>
                <a:spcPts val="600"/>
              </a:spcAft>
              <a:buNone/>
            </a:pPr>
            <a:r>
              <a:rPr lang="en-US" sz="1400" dirty="0">
                <a:solidFill>
                  <a:srgbClr val="000000"/>
                </a:solidFill>
                <a:latin typeface="Cambria" pitchFamily="34" charset="0"/>
                <a:ea typeface="Cambria" pitchFamily="34" charset="-122"/>
                <a:cs typeface="Cambria" pitchFamily="34" charset="-120"/>
              </a:rPr>
              <a:t>+  Easy review</a:t>
            </a:r>
            <a:endParaRPr lang="en-US" sz="1400" dirty="0"/>
          </a:p>
          <a:p>
            <a:pPr indent="0" marL="0">
              <a:spcAft>
                <a:spcPts val="600"/>
              </a:spcAft>
              <a:buNone/>
            </a:pPr>
            <a:r>
              <a:rPr lang="en-US" sz="1400" dirty="0">
                <a:solidFill>
                  <a:srgbClr val="000000"/>
                </a:solidFill>
                <a:latin typeface="Cambria" pitchFamily="34" charset="0"/>
                <a:ea typeface="Cambria" pitchFamily="34" charset="-122"/>
                <a:cs typeface="Cambria" pitchFamily="34" charset="-120"/>
              </a:rPr>
              <a:t>+  Protects future content</a:t>
            </a:r>
            <a:endParaRPr lang="en-US" sz="1400" dirty="0"/>
          </a:p>
          <a:p>
            <a:pPr indent="0" marL="0">
              <a:spcAft>
                <a:spcPts val="600"/>
              </a:spcAft>
              <a:buNone/>
            </a:pPr>
            <a:r>
              <a:rPr lang="en-US" sz="1400" dirty="0">
                <a:solidFill>
                  <a:srgbClr val="E41E26"/>
                </a:solidFill>
                <a:latin typeface="Cambria" pitchFamily="34" charset="0"/>
                <a:ea typeface="Cambria" pitchFamily="34" charset="-122"/>
                <a:cs typeface="Cambria" pitchFamily="34" charset="-120"/>
              </a:rPr>
              <a:t>–  Same release overhead as A</a:t>
            </a:r>
            <a:endParaRPr lang="en-US" sz="14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WHAT STUDENTS SEE</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Launching a </a:t>
            </a:r>
            <a:pPr indent="0" marL="0">
              <a:buNone/>
            </a:pPr>
            <a:r>
              <a:rPr lang="en-US" sz="3400" b="1" dirty="0">
                <a:solidFill>
                  <a:srgbClr val="E41E26"/>
                </a:solidFill>
                <a:latin typeface="Arial" pitchFamily="34" charset="0"/>
                <a:ea typeface="Arial" pitchFamily="34" charset="-122"/>
                <a:cs typeface="Arial" pitchFamily="34" charset="-120"/>
              </a:rPr>
              <a:t>lab</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sp>
        <p:nvSpPr>
          <p:cNvPr id="4" name="Card Select Launch"/>
          <p:cNvSpPr/>
          <p:nvPr/>
        </p:nvSpPr>
        <p:spPr>
          <a:xfrm>
            <a:off x="548640" y="1783080"/>
            <a:ext cx="2606040" cy="2971800"/>
          </a:xfrm>
          <a:prstGeom prst="rect">
            <a:avLst/>
          </a:prstGeom>
          <a:solidFill>
            <a:srgbClr val="EFEFEF"/>
          </a:solidFill>
          <a:ln w="12700">
            <a:solidFill>
              <a:srgbClr val="EFEFEF"/>
            </a:solidFill>
            <a:prstDash val="solid"/>
          </a:ln>
        </p:spPr>
      </p:sp>
      <p:pic>
        <p:nvPicPr>
          <p:cNvPr id="5" name="Icon LuMousePointerClick" descr="/home/claude/deck/img/LuMousePointerClick-k.png">    </p:cNvPr>
          <p:cNvPicPr>
            <a:picLocks noChangeAspect="1"/>
          </p:cNvPicPr>
          <p:nvPr/>
        </p:nvPicPr>
        <p:blipFill>
          <a:blip r:embed="rId1"/>
          <a:stretch>
            <a:fillRect/>
          </a:stretch>
        </p:blipFill>
        <p:spPr>
          <a:xfrm>
            <a:off x="822960" y="2057400"/>
            <a:ext cx="777240" cy="777240"/>
          </a:xfrm>
          <a:prstGeom prst="rect">
            <a:avLst/>
          </a:prstGeom>
        </p:spPr>
      </p:pic>
      <p:sp>
        <p:nvSpPr>
          <p:cNvPr id="6" name="Text 3"/>
          <p:cNvSpPr txBox="1"/>
          <p:nvPr/>
        </p:nvSpPr>
        <p:spPr>
          <a:xfrm>
            <a:off x="822960" y="3017520"/>
            <a:ext cx="2057400" cy="457200"/>
          </a:xfrm>
          <a:prstGeom prst="rect">
            <a:avLst/>
          </a:prstGeom>
          <a:noFill/>
          <a:ln/>
        </p:spPr>
        <p:txBody>
          <a:bodyPr wrap="square" lIns="0" tIns="0" rIns="0" bIns="0" rtlCol="0" anchor="t"/>
          <a:lstStyle/>
          <a:p>
            <a:pPr indent="0" marL="0">
              <a:buNone/>
            </a:pPr>
            <a:r>
              <a:rPr lang="en-US" sz="1800" b="1" dirty="0">
                <a:solidFill>
                  <a:srgbClr val="000000"/>
                </a:solidFill>
                <a:latin typeface="Arial" pitchFamily="34" charset="0"/>
                <a:ea typeface="Arial" pitchFamily="34" charset="-122"/>
                <a:cs typeface="Arial" pitchFamily="34" charset="-120"/>
              </a:rPr>
              <a:t>Select Launch</a:t>
            </a:r>
            <a:endParaRPr lang="en-US" sz="1800" dirty="0"/>
          </a:p>
        </p:txBody>
      </p:sp>
      <p:sp>
        <p:nvSpPr>
          <p:cNvPr id="7" name="Text 4"/>
          <p:cNvSpPr txBox="1"/>
          <p:nvPr/>
        </p:nvSpPr>
        <p:spPr>
          <a:xfrm>
            <a:off x="822960" y="3520440"/>
            <a:ext cx="2057400" cy="118872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Next to the lab the instructor names.</a:t>
            </a:r>
            <a:endParaRPr lang="en-US" sz="1400" dirty="0"/>
          </a:p>
        </p:txBody>
      </p:sp>
      <p:sp>
        <p:nvSpPr>
          <p:cNvPr id="8" name="Card New window"/>
          <p:cNvSpPr/>
          <p:nvPr/>
        </p:nvSpPr>
        <p:spPr>
          <a:xfrm>
            <a:off x="3346704" y="1783080"/>
            <a:ext cx="2606040" cy="2971800"/>
          </a:xfrm>
          <a:prstGeom prst="rect">
            <a:avLst/>
          </a:prstGeom>
          <a:solidFill>
            <a:srgbClr val="EFEFEF"/>
          </a:solidFill>
          <a:ln w="12700">
            <a:solidFill>
              <a:srgbClr val="EFEFEF"/>
            </a:solidFill>
            <a:prstDash val="solid"/>
          </a:ln>
        </p:spPr>
      </p:sp>
      <p:pic>
        <p:nvPicPr>
          <p:cNvPr id="9" name="Icon LuAppWindow" descr="/home/claude/deck/img/LuAppWindow-k.png">    </p:cNvPr>
          <p:cNvPicPr>
            <a:picLocks noChangeAspect="1"/>
          </p:cNvPicPr>
          <p:nvPr/>
        </p:nvPicPr>
        <p:blipFill>
          <a:blip r:embed="rId2"/>
          <a:stretch>
            <a:fillRect/>
          </a:stretch>
        </p:blipFill>
        <p:spPr>
          <a:xfrm>
            <a:off x="3621024" y="2057400"/>
            <a:ext cx="777240" cy="777240"/>
          </a:xfrm>
          <a:prstGeom prst="rect">
            <a:avLst/>
          </a:prstGeom>
        </p:spPr>
      </p:pic>
      <p:sp>
        <p:nvSpPr>
          <p:cNvPr id="10" name="Text 6"/>
          <p:cNvSpPr txBox="1"/>
          <p:nvPr/>
        </p:nvSpPr>
        <p:spPr>
          <a:xfrm>
            <a:off x="3621024" y="3017520"/>
            <a:ext cx="2057400" cy="457200"/>
          </a:xfrm>
          <a:prstGeom prst="rect">
            <a:avLst/>
          </a:prstGeom>
          <a:noFill/>
          <a:ln/>
        </p:spPr>
        <p:txBody>
          <a:bodyPr wrap="square" lIns="0" tIns="0" rIns="0" bIns="0" rtlCol="0" anchor="t"/>
          <a:lstStyle/>
          <a:p>
            <a:pPr indent="0" marL="0">
              <a:buNone/>
            </a:pPr>
            <a:r>
              <a:rPr lang="en-US" sz="1800" b="1" dirty="0">
                <a:solidFill>
                  <a:srgbClr val="000000"/>
                </a:solidFill>
                <a:latin typeface="Arial" pitchFamily="34" charset="0"/>
                <a:ea typeface="Arial" pitchFamily="34" charset="-122"/>
                <a:cs typeface="Arial" pitchFamily="34" charset="-120"/>
              </a:rPr>
              <a:t>New window</a:t>
            </a:r>
            <a:endParaRPr lang="en-US" sz="1800" dirty="0"/>
          </a:p>
        </p:txBody>
      </p:sp>
      <p:sp>
        <p:nvSpPr>
          <p:cNvPr id="11" name="Text 7"/>
          <p:cNvSpPr txBox="1"/>
          <p:nvPr/>
        </p:nvSpPr>
        <p:spPr>
          <a:xfrm>
            <a:off x="3621024" y="3520440"/>
            <a:ext cx="2057400" cy="118872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The lab opens in its own browser window.</a:t>
            </a:r>
            <a:endParaRPr lang="en-US" sz="1400" dirty="0"/>
          </a:p>
        </p:txBody>
      </p:sp>
      <p:sp>
        <p:nvSpPr>
          <p:cNvPr id="12" name="Card Quick start-up"/>
          <p:cNvSpPr/>
          <p:nvPr/>
        </p:nvSpPr>
        <p:spPr>
          <a:xfrm>
            <a:off x="6144768" y="1783080"/>
            <a:ext cx="2606040" cy="2971800"/>
          </a:xfrm>
          <a:prstGeom prst="rect">
            <a:avLst/>
          </a:prstGeom>
          <a:solidFill>
            <a:srgbClr val="EFEFEF"/>
          </a:solidFill>
          <a:ln w="12700">
            <a:solidFill>
              <a:srgbClr val="EFEFEF"/>
            </a:solidFill>
            <a:prstDash val="solid"/>
          </a:ln>
        </p:spPr>
      </p:sp>
      <p:pic>
        <p:nvPicPr>
          <p:cNvPr id="13" name="Icon LuTimer" descr="/home/claude/deck/img/LuTimer-k.png">    </p:cNvPr>
          <p:cNvPicPr>
            <a:picLocks noChangeAspect="1"/>
          </p:cNvPicPr>
          <p:nvPr/>
        </p:nvPicPr>
        <p:blipFill>
          <a:blip r:embed="rId3"/>
          <a:stretch>
            <a:fillRect/>
          </a:stretch>
        </p:blipFill>
        <p:spPr>
          <a:xfrm>
            <a:off x="6419088" y="2057400"/>
            <a:ext cx="777240" cy="777240"/>
          </a:xfrm>
          <a:prstGeom prst="rect">
            <a:avLst/>
          </a:prstGeom>
        </p:spPr>
      </p:pic>
      <p:sp>
        <p:nvSpPr>
          <p:cNvPr id="14" name="Text 9"/>
          <p:cNvSpPr txBox="1"/>
          <p:nvPr/>
        </p:nvSpPr>
        <p:spPr>
          <a:xfrm>
            <a:off x="6419088" y="3017520"/>
            <a:ext cx="2057400" cy="457200"/>
          </a:xfrm>
          <a:prstGeom prst="rect">
            <a:avLst/>
          </a:prstGeom>
          <a:noFill/>
          <a:ln/>
        </p:spPr>
        <p:txBody>
          <a:bodyPr wrap="square" lIns="0" tIns="0" rIns="0" bIns="0" rtlCol="0" anchor="t"/>
          <a:lstStyle/>
          <a:p>
            <a:pPr indent="0" marL="0">
              <a:buNone/>
            </a:pPr>
            <a:r>
              <a:rPr lang="en-US" sz="1800" b="1" dirty="0">
                <a:solidFill>
                  <a:srgbClr val="000000"/>
                </a:solidFill>
                <a:latin typeface="Arial" pitchFamily="34" charset="0"/>
                <a:ea typeface="Arial" pitchFamily="34" charset="-122"/>
                <a:cs typeface="Arial" pitchFamily="34" charset="-120"/>
              </a:rPr>
              <a:t>Quick start-up</a:t>
            </a:r>
            <a:endParaRPr lang="en-US" sz="1800" dirty="0"/>
          </a:p>
        </p:txBody>
      </p:sp>
      <p:sp>
        <p:nvSpPr>
          <p:cNvPr id="15" name="Text 10"/>
          <p:cNvSpPr txBox="1"/>
          <p:nvPr/>
        </p:nvSpPr>
        <p:spPr>
          <a:xfrm>
            <a:off x="6419088" y="3520440"/>
            <a:ext cx="2057400" cy="118872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The machine takes a minute or two to start.</a:t>
            </a:r>
            <a:endParaRPr lang="en-US" sz="1400" dirty="0"/>
          </a:p>
        </p:txBody>
      </p:sp>
      <p:sp>
        <p:nvSpPr>
          <p:cNvPr id="16" name="Card Timer runs"/>
          <p:cNvSpPr/>
          <p:nvPr/>
        </p:nvSpPr>
        <p:spPr>
          <a:xfrm>
            <a:off x="8942832" y="1783080"/>
            <a:ext cx="2606040" cy="2971800"/>
          </a:xfrm>
          <a:prstGeom prst="rect">
            <a:avLst/>
          </a:prstGeom>
          <a:solidFill>
            <a:srgbClr val="EFEFEF"/>
          </a:solidFill>
          <a:ln w="12700">
            <a:solidFill>
              <a:srgbClr val="EFEFEF"/>
            </a:solidFill>
            <a:prstDash val="solid"/>
          </a:ln>
        </p:spPr>
      </p:sp>
      <p:pic>
        <p:nvPicPr>
          <p:cNvPr id="17" name="Icon LuClock" descr="/home/claude/deck/img/LuClock-k.png">    </p:cNvPr>
          <p:cNvPicPr>
            <a:picLocks noChangeAspect="1"/>
          </p:cNvPicPr>
          <p:nvPr/>
        </p:nvPicPr>
        <p:blipFill>
          <a:blip r:embed="rId4"/>
          <a:stretch>
            <a:fillRect/>
          </a:stretch>
        </p:blipFill>
        <p:spPr>
          <a:xfrm>
            <a:off x="9217152" y="2057400"/>
            <a:ext cx="777240" cy="777240"/>
          </a:xfrm>
          <a:prstGeom prst="rect">
            <a:avLst/>
          </a:prstGeom>
        </p:spPr>
      </p:pic>
      <p:sp>
        <p:nvSpPr>
          <p:cNvPr id="18" name="Text 12"/>
          <p:cNvSpPr txBox="1"/>
          <p:nvPr/>
        </p:nvSpPr>
        <p:spPr>
          <a:xfrm>
            <a:off x="9217152" y="3017520"/>
            <a:ext cx="2057400" cy="457200"/>
          </a:xfrm>
          <a:prstGeom prst="rect">
            <a:avLst/>
          </a:prstGeom>
          <a:noFill/>
          <a:ln/>
        </p:spPr>
        <p:txBody>
          <a:bodyPr wrap="square" lIns="0" tIns="0" rIns="0" bIns="0" rtlCol="0" anchor="t"/>
          <a:lstStyle/>
          <a:p>
            <a:pPr indent="0" marL="0">
              <a:buNone/>
            </a:pPr>
            <a:r>
              <a:rPr lang="en-US" sz="1800" b="1" dirty="0">
                <a:solidFill>
                  <a:srgbClr val="000000"/>
                </a:solidFill>
                <a:latin typeface="Arial" pitchFamily="34" charset="0"/>
                <a:ea typeface="Arial" pitchFamily="34" charset="-122"/>
                <a:cs typeface="Arial" pitchFamily="34" charset="-120"/>
              </a:rPr>
              <a:t>Timer runs</a:t>
            </a:r>
            <a:endParaRPr lang="en-US" sz="1800" dirty="0"/>
          </a:p>
        </p:txBody>
      </p:sp>
      <p:sp>
        <p:nvSpPr>
          <p:cNvPr id="19" name="Text 13"/>
          <p:cNvSpPr txBox="1"/>
          <p:nvPr/>
        </p:nvSpPr>
        <p:spPr>
          <a:xfrm>
            <a:off x="9217152" y="3520440"/>
            <a:ext cx="2057400" cy="118872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Shows how long the lab has left.</a:t>
            </a:r>
            <a:endParaRPr lang="en-US" sz="1400" dirty="0"/>
          </a:p>
        </p:txBody>
      </p:sp>
      <p:sp>
        <p:nvSpPr>
          <p:cNvPr id="20" name="Panel"/>
          <p:cNvSpPr/>
          <p:nvPr/>
        </p:nvSpPr>
        <p:spPr>
          <a:xfrm>
            <a:off x="548640" y="5029200"/>
            <a:ext cx="11094415" cy="914400"/>
          </a:xfrm>
          <a:prstGeom prst="rect">
            <a:avLst/>
          </a:prstGeom>
          <a:solidFill>
            <a:srgbClr val="000000"/>
          </a:solidFill>
          <a:ln w="12700">
            <a:solidFill>
              <a:srgbClr val="000000"/>
            </a:solidFill>
            <a:prstDash val="solid"/>
          </a:ln>
        </p:spPr>
      </p:sp>
      <p:pic>
        <p:nvPicPr>
          <p:cNvPr id="21" name="Icon LuLightbulb" descr="/home/claude/deck/img/LuLightbulb-w.png">    </p:cNvPr>
          <p:cNvPicPr>
            <a:picLocks noChangeAspect="1"/>
          </p:cNvPicPr>
          <p:nvPr/>
        </p:nvPicPr>
        <p:blipFill>
          <a:blip r:embed="rId5"/>
          <a:stretch>
            <a:fillRect/>
          </a:stretch>
        </p:blipFill>
        <p:spPr>
          <a:xfrm>
            <a:off x="822960" y="5193792"/>
            <a:ext cx="585216" cy="585216"/>
          </a:xfrm>
          <a:prstGeom prst="rect">
            <a:avLst/>
          </a:prstGeom>
        </p:spPr>
      </p:pic>
      <p:sp>
        <p:nvSpPr>
          <p:cNvPr id="22" name="Text 15"/>
          <p:cNvSpPr txBox="1"/>
          <p:nvPr/>
        </p:nvSpPr>
        <p:spPr>
          <a:xfrm>
            <a:off x="1600200" y="5029200"/>
            <a:ext cx="9601200" cy="914400"/>
          </a:xfrm>
          <a:prstGeom prst="rect">
            <a:avLst/>
          </a:prstGeom>
          <a:noFill/>
          <a:ln/>
        </p:spPr>
        <p:txBody>
          <a:bodyPr wrap="square" lIns="0" tIns="0" rIns="0" bIns="0" rtlCol="0" anchor="ctr"/>
          <a:lstStyle/>
          <a:p>
            <a:pPr indent="0" marL="0">
              <a:spcAft>
                <a:spcPts val="400"/>
              </a:spcAft>
              <a:buNone/>
            </a:pPr>
            <a:r>
              <a:rPr lang="en-US" sz="1700" b="1" dirty="0">
                <a:solidFill>
                  <a:srgbClr val="E41E26"/>
                </a:solidFill>
                <a:latin typeface="Cambria" pitchFamily="34" charset="0"/>
                <a:ea typeface="Cambria" pitchFamily="34" charset="-122"/>
                <a:cs typeface="Cambria" pitchFamily="34" charset="-120"/>
              </a:rPr>
              <a:t>Tip: </a:t>
            </a:r>
            <a:pPr indent="0" marL="0">
              <a:spcAft>
                <a:spcPts val="400"/>
              </a:spcAft>
              <a:buNone/>
            </a:pPr>
            <a:r>
              <a:rPr lang="en-US" sz="1700" dirty="0">
                <a:solidFill>
                  <a:srgbClr val="FFFFFF"/>
                </a:solidFill>
                <a:latin typeface="Cambria" pitchFamily="34" charset="0"/>
                <a:ea typeface="Cambria" pitchFamily="34" charset="-122"/>
                <a:cs typeface="Cambria" pitchFamily="34" charset="-120"/>
              </a:rPr>
              <a:t>encourage students to launch a few minutes before the session starts.</a:t>
            </a:r>
            <a:endParaRPr lang="en-US" sz="17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TWO HALVES</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Inside the lab </a:t>
            </a:r>
            <a:pPr indent="0" marL="0">
              <a:buNone/>
            </a:pPr>
            <a:r>
              <a:rPr lang="en-US" sz="3400" b="1" dirty="0">
                <a:solidFill>
                  <a:srgbClr val="E41E26"/>
                </a:solidFill>
                <a:latin typeface="Arial" pitchFamily="34" charset="0"/>
                <a:ea typeface="Arial" pitchFamily="34" charset="-122"/>
                <a:cs typeface="Arial" pitchFamily="34" charset="-120"/>
              </a:rPr>
              <a:t>window</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sp>
        <p:nvSpPr>
          <p:cNvPr id="4" name="Lab window mockup"/>
          <p:cNvSpPr/>
          <p:nvPr/>
        </p:nvSpPr>
        <p:spPr>
          <a:xfrm>
            <a:off x="548640" y="1783080"/>
            <a:ext cx="6309360" cy="4160520"/>
          </a:xfrm>
          <a:prstGeom prst="rect">
            <a:avLst/>
          </a:prstGeom>
          <a:solidFill>
            <a:srgbClr val="262626"/>
          </a:solidFill>
          <a:ln w="12700">
            <a:solidFill>
              <a:srgbClr val="262626"/>
            </a:solidFill>
            <a:prstDash val="solid"/>
          </a:ln>
        </p:spPr>
      </p:sp>
      <p:sp>
        <p:nvSpPr>
          <p:cNvPr id="5" name="Window bar"/>
          <p:cNvSpPr/>
          <p:nvPr/>
        </p:nvSpPr>
        <p:spPr>
          <a:xfrm>
            <a:off x="548640" y="1783080"/>
            <a:ext cx="6309360" cy="292608"/>
          </a:xfrm>
          <a:prstGeom prst="rect">
            <a:avLst/>
          </a:prstGeom>
          <a:solidFill>
            <a:srgbClr val="000000"/>
          </a:solidFill>
          <a:ln w="12700">
            <a:solidFill>
              <a:srgbClr val="000000"/>
            </a:solidFill>
            <a:prstDash val="solid"/>
          </a:ln>
        </p:spPr>
      </p:sp>
      <p:sp>
        <p:nvSpPr>
          <p:cNvPr id="6" name="Text 4"/>
          <p:cNvSpPr txBox="1"/>
          <p:nvPr/>
        </p:nvSpPr>
        <p:spPr>
          <a:xfrm>
            <a:off x="6035040" y="1783080"/>
            <a:ext cx="731520" cy="29260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Exit ▾</a:t>
            </a:r>
            <a:endParaRPr lang="en-US" sz="1000" dirty="0"/>
          </a:p>
        </p:txBody>
      </p:sp>
      <p:sp>
        <p:nvSpPr>
          <p:cNvPr id="7" name="Instructions pane"/>
          <p:cNvSpPr/>
          <p:nvPr/>
        </p:nvSpPr>
        <p:spPr>
          <a:xfrm>
            <a:off x="640080" y="2167128"/>
            <a:ext cx="2331720" cy="3685032"/>
          </a:xfrm>
          <a:prstGeom prst="rect">
            <a:avLst/>
          </a:prstGeom>
          <a:solidFill>
            <a:srgbClr val="FFFFFF"/>
          </a:solidFill>
          <a:ln w="12700">
            <a:solidFill>
              <a:srgbClr val="FFFFFF"/>
            </a:solidFill>
            <a:prstDash val="solid"/>
          </a:ln>
        </p:spPr>
      </p:sp>
      <p:sp>
        <p:nvSpPr>
          <p:cNvPr id="8" name="Text 6"/>
          <p:cNvSpPr txBox="1"/>
          <p:nvPr/>
        </p:nvSpPr>
        <p:spPr>
          <a:xfrm>
            <a:off x="777240" y="2286000"/>
            <a:ext cx="2011680" cy="228600"/>
          </a:xfrm>
          <a:prstGeom prst="rect">
            <a:avLst/>
          </a:prstGeom>
          <a:noFill/>
          <a:ln/>
        </p:spPr>
        <p:txBody>
          <a:bodyPr wrap="square" lIns="0" tIns="0" rIns="0" bIns="0" rtlCol="0" anchor="ctr"/>
          <a:lstStyle/>
          <a:p>
            <a:pPr indent="0" marL="0">
              <a:buNone/>
            </a:pPr>
            <a:r>
              <a:rPr lang="en-US" sz="900" b="1" spc="200" kern="0" dirty="0">
                <a:solidFill>
                  <a:srgbClr val="E41E26"/>
                </a:solidFill>
                <a:latin typeface="Arial" pitchFamily="34" charset="0"/>
                <a:ea typeface="Arial" pitchFamily="34" charset="-122"/>
                <a:cs typeface="Arial" pitchFamily="34" charset="-120"/>
              </a:rPr>
              <a:t>INSTRUCTIONS</a:t>
            </a:r>
            <a:endParaRPr lang="en-US" sz="900" dirty="0"/>
          </a:p>
        </p:txBody>
      </p:sp>
      <p:sp>
        <p:nvSpPr>
          <p:cNvPr id="9" name="Text line"/>
          <p:cNvSpPr/>
          <p:nvPr/>
        </p:nvSpPr>
        <p:spPr>
          <a:xfrm>
            <a:off x="777240" y="2606040"/>
            <a:ext cx="1965960" cy="73152"/>
          </a:xfrm>
          <a:prstGeom prst="rect">
            <a:avLst/>
          </a:prstGeom>
          <a:solidFill>
            <a:srgbClr val="D9D9D9"/>
          </a:solidFill>
          <a:ln w="12700">
            <a:solidFill>
              <a:srgbClr val="D9D9D9"/>
            </a:solidFill>
            <a:prstDash val="solid"/>
          </a:ln>
        </p:spPr>
      </p:sp>
      <p:sp>
        <p:nvSpPr>
          <p:cNvPr id="10" name="Text line"/>
          <p:cNvSpPr/>
          <p:nvPr/>
        </p:nvSpPr>
        <p:spPr>
          <a:xfrm>
            <a:off x="777240" y="2788920"/>
            <a:ext cx="1965960" cy="73152"/>
          </a:xfrm>
          <a:prstGeom prst="rect">
            <a:avLst/>
          </a:prstGeom>
          <a:solidFill>
            <a:srgbClr val="D9D9D9"/>
          </a:solidFill>
          <a:ln w="12700">
            <a:solidFill>
              <a:srgbClr val="D9D9D9"/>
            </a:solidFill>
            <a:prstDash val="solid"/>
          </a:ln>
        </p:spPr>
      </p:sp>
      <p:sp>
        <p:nvSpPr>
          <p:cNvPr id="11" name="Text line"/>
          <p:cNvSpPr/>
          <p:nvPr/>
        </p:nvSpPr>
        <p:spPr>
          <a:xfrm>
            <a:off x="777240" y="2971800"/>
            <a:ext cx="1965960" cy="73152"/>
          </a:xfrm>
          <a:prstGeom prst="rect">
            <a:avLst/>
          </a:prstGeom>
          <a:solidFill>
            <a:srgbClr val="D9D9D9"/>
          </a:solidFill>
          <a:ln w="12700">
            <a:solidFill>
              <a:srgbClr val="D9D9D9"/>
            </a:solidFill>
            <a:prstDash val="solid"/>
          </a:ln>
        </p:spPr>
      </p:sp>
      <p:sp>
        <p:nvSpPr>
          <p:cNvPr id="12" name="Text 10"/>
          <p:cNvSpPr txBox="1"/>
          <p:nvPr/>
        </p:nvSpPr>
        <p:spPr>
          <a:xfrm>
            <a:off x="777240" y="3200400"/>
            <a:ext cx="1463040" cy="274320"/>
          </a:xfrm>
          <a:prstGeom prst="rect">
            <a:avLst/>
          </a:prstGeom>
          <a:solidFill>
            <a:srgbClr val="FFE3E0"/>
          </a:solidFill>
          <a:ln/>
        </p:spPr>
        <p:txBody>
          <a:bodyPr wrap="square" lIns="0" tIns="0" rIns="0" bIns="0" rtlCol="0" anchor="ctr"/>
          <a:lstStyle/>
          <a:p>
            <a:pPr algn="ctr" indent="0" marL="0">
              <a:buNone/>
            </a:pPr>
            <a:r>
              <a:rPr lang="en-US" sz="1000" dirty="0">
                <a:solidFill>
                  <a:srgbClr val="000000"/>
                </a:solidFill>
                <a:latin typeface="Courier New" pitchFamily="34" charset="0"/>
                <a:ea typeface="Courier New" pitchFamily="34" charset="-122"/>
                <a:cs typeface="Courier New" pitchFamily="34" charset="-120"/>
              </a:rPr>
              <a:t>git clone …</a:t>
            </a:r>
            <a:endParaRPr lang="en-US" sz="1000" dirty="0"/>
          </a:p>
        </p:txBody>
      </p:sp>
      <p:sp>
        <p:nvSpPr>
          <p:cNvPr id="13" name="Shape 11"/>
          <p:cNvSpPr/>
          <p:nvPr/>
        </p:nvSpPr>
        <p:spPr>
          <a:xfrm>
            <a:off x="777240" y="3657600"/>
            <a:ext cx="146304" cy="146304"/>
          </a:xfrm>
          <a:prstGeom prst="rect">
            <a:avLst/>
          </a:prstGeom>
          <a:solidFill>
            <a:srgbClr val="FFFFFF"/>
          </a:solidFill>
          <a:ln w="12700">
            <a:solidFill>
              <a:srgbClr val="000000"/>
            </a:solidFill>
            <a:prstDash val="solid"/>
          </a:ln>
        </p:spPr>
      </p:sp>
      <p:sp>
        <p:nvSpPr>
          <p:cNvPr id="14" name="Task line"/>
          <p:cNvSpPr/>
          <p:nvPr/>
        </p:nvSpPr>
        <p:spPr>
          <a:xfrm>
            <a:off x="1051560" y="3694176"/>
            <a:ext cx="1463040" cy="73152"/>
          </a:xfrm>
          <a:prstGeom prst="rect">
            <a:avLst/>
          </a:prstGeom>
          <a:solidFill>
            <a:srgbClr val="D9D9D9"/>
          </a:solidFill>
          <a:ln w="12700">
            <a:solidFill>
              <a:srgbClr val="D9D9D9"/>
            </a:solidFill>
            <a:prstDash val="solid"/>
          </a:ln>
        </p:spPr>
      </p:sp>
      <p:sp>
        <p:nvSpPr>
          <p:cNvPr id="15" name="Shape 13"/>
          <p:cNvSpPr/>
          <p:nvPr/>
        </p:nvSpPr>
        <p:spPr>
          <a:xfrm>
            <a:off x="777240" y="3931920"/>
            <a:ext cx="146304" cy="146304"/>
          </a:xfrm>
          <a:prstGeom prst="rect">
            <a:avLst/>
          </a:prstGeom>
          <a:solidFill>
            <a:srgbClr val="FFFFFF"/>
          </a:solidFill>
          <a:ln w="12700">
            <a:solidFill>
              <a:srgbClr val="000000"/>
            </a:solidFill>
            <a:prstDash val="solid"/>
          </a:ln>
        </p:spPr>
      </p:sp>
      <p:sp>
        <p:nvSpPr>
          <p:cNvPr id="16" name="Task line"/>
          <p:cNvSpPr/>
          <p:nvPr/>
        </p:nvSpPr>
        <p:spPr>
          <a:xfrm>
            <a:off x="1051560" y="3968496"/>
            <a:ext cx="1463040" cy="73152"/>
          </a:xfrm>
          <a:prstGeom prst="rect">
            <a:avLst/>
          </a:prstGeom>
          <a:solidFill>
            <a:srgbClr val="D9D9D9"/>
          </a:solidFill>
          <a:ln w="12700">
            <a:solidFill>
              <a:srgbClr val="D9D9D9"/>
            </a:solidFill>
            <a:prstDash val="solid"/>
          </a:ln>
        </p:spPr>
      </p:sp>
      <p:sp>
        <p:nvSpPr>
          <p:cNvPr id="17" name="Text 15"/>
          <p:cNvSpPr txBox="1"/>
          <p:nvPr/>
        </p:nvSpPr>
        <p:spPr>
          <a:xfrm>
            <a:off x="777240" y="4343400"/>
            <a:ext cx="777240" cy="256032"/>
          </a:xfrm>
          <a:prstGeom prst="rect">
            <a:avLst/>
          </a:prstGeom>
          <a:solidFill>
            <a:srgbClr val="000000"/>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Check</a:t>
            </a:r>
            <a:endParaRPr lang="en-US" sz="1000" dirty="0"/>
          </a:p>
        </p:txBody>
      </p:sp>
      <p:sp>
        <p:nvSpPr>
          <p:cNvPr id="18" name="Text 16"/>
          <p:cNvSpPr txBox="1"/>
          <p:nvPr/>
        </p:nvSpPr>
        <p:spPr>
          <a:xfrm>
            <a:off x="2148840" y="5440680"/>
            <a:ext cx="685800" cy="256032"/>
          </a:xfrm>
          <a:prstGeom prst="rect">
            <a:avLst/>
          </a:prstGeom>
          <a:solidFill>
            <a:srgbClr val="E41E26"/>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Next ›</a:t>
            </a:r>
            <a:endParaRPr lang="en-US" sz="1000" dirty="0"/>
          </a:p>
        </p:txBody>
      </p:sp>
      <p:sp>
        <p:nvSpPr>
          <p:cNvPr id="19" name="Machine pane"/>
          <p:cNvSpPr/>
          <p:nvPr/>
        </p:nvSpPr>
        <p:spPr>
          <a:xfrm>
            <a:off x="3063240" y="2167128"/>
            <a:ext cx="3703320" cy="3685032"/>
          </a:xfrm>
          <a:prstGeom prst="rect">
            <a:avLst/>
          </a:prstGeom>
          <a:solidFill>
            <a:srgbClr val="0D1B2A"/>
          </a:solidFill>
          <a:ln w="12700">
            <a:solidFill>
              <a:srgbClr val="0D1B2A"/>
            </a:solidFill>
            <a:prstDash val="solid"/>
          </a:ln>
        </p:spPr>
      </p:sp>
      <p:sp>
        <p:nvSpPr>
          <p:cNvPr id="20" name="Terminal"/>
          <p:cNvSpPr/>
          <p:nvPr/>
        </p:nvSpPr>
        <p:spPr>
          <a:xfrm>
            <a:off x="3383280" y="2560320"/>
            <a:ext cx="3063240" cy="1920240"/>
          </a:xfrm>
          <a:prstGeom prst="rect">
            <a:avLst/>
          </a:prstGeom>
          <a:solidFill>
            <a:srgbClr val="000000"/>
          </a:solidFill>
          <a:ln w="12700">
            <a:solidFill>
              <a:srgbClr val="000000"/>
            </a:solidFill>
            <a:prstDash val="solid"/>
          </a:ln>
        </p:spPr>
      </p:sp>
      <p:sp>
        <p:nvSpPr>
          <p:cNvPr id="21" name="Text 19"/>
          <p:cNvSpPr txBox="1"/>
          <p:nvPr/>
        </p:nvSpPr>
        <p:spPr>
          <a:xfrm>
            <a:off x="3520440" y="2697480"/>
            <a:ext cx="2834640" cy="640080"/>
          </a:xfrm>
          <a:prstGeom prst="rect">
            <a:avLst/>
          </a:prstGeom>
          <a:noFill/>
          <a:ln/>
        </p:spPr>
        <p:txBody>
          <a:bodyPr wrap="square" lIns="0" tIns="0" rIns="0" bIns="0" rtlCol="0" anchor="ctr"/>
          <a:lstStyle/>
          <a:p>
            <a:pPr indent="0" marL="0">
              <a:buNone/>
            </a:pPr>
            <a:r>
              <a:rPr lang="en-US" sz="1100" dirty="0">
                <a:solidFill>
                  <a:srgbClr val="E41E26"/>
                </a:solidFill>
                <a:latin typeface="Courier New" pitchFamily="34" charset="0"/>
                <a:ea typeface="Courier New" pitchFamily="34" charset="-122"/>
                <a:cs typeface="Courier New" pitchFamily="34" charset="-120"/>
              </a:rPr>
              <a:t>PS&gt; </a:t>
            </a:r>
            <a:pPr indent="0" marL="0">
              <a:buNone/>
            </a:pPr>
            <a:r>
              <a:rPr lang="en-US" sz="1100" dirty="0">
                <a:solidFill>
                  <a:srgbClr val="FFFFFF"/>
                </a:solidFill>
                <a:latin typeface="Courier New" pitchFamily="34" charset="0"/>
                <a:ea typeface="Courier New" pitchFamily="34" charset="-122"/>
                <a:cs typeface="Courier New" pitchFamily="34" charset="-120"/>
              </a:rPr>
              <a:t>claude</a:t>
            </a:r>
            <a:endParaRPr lang="en-US" sz="1100" dirty="0"/>
          </a:p>
          <a:p>
            <a:pPr indent="0" marL="0">
              <a:buNone/>
            </a:pPr>
            <a:r>
              <a:rPr lang="en-US" sz="1100" dirty="0">
                <a:solidFill>
                  <a:srgbClr val="E41E26"/>
                </a:solidFill>
                <a:latin typeface="Courier New" pitchFamily="34" charset="0"/>
                <a:ea typeface="Courier New" pitchFamily="34" charset="-122"/>
                <a:cs typeface="Courier New" pitchFamily="34" charset="-120"/>
              </a:rPr>
              <a:t>PS&gt; </a:t>
            </a:r>
            <a:pPr indent="0" marL="0">
              <a:buNone/>
            </a:pPr>
            <a:r>
              <a:rPr lang="en-US" sz="1100" dirty="0">
                <a:solidFill>
                  <a:srgbClr val="FFFFFF"/>
                </a:solidFill>
                <a:latin typeface="Courier New" pitchFamily="34" charset="0"/>
                <a:ea typeface="Courier New" pitchFamily="34" charset="-122"/>
                <a:cs typeface="Courier New" pitchFamily="34" charset="-120"/>
              </a:rPr>
              <a:t>git push</a:t>
            </a:r>
            <a:endParaRPr lang="en-US" sz="1100" dirty="0"/>
          </a:p>
        </p:txBody>
      </p:sp>
      <p:sp>
        <p:nvSpPr>
          <p:cNvPr id="22" name="Text 20"/>
          <p:cNvSpPr txBox="1"/>
          <p:nvPr/>
        </p:nvSpPr>
        <p:spPr>
          <a:xfrm>
            <a:off x="3200400" y="5532120"/>
            <a:ext cx="1828800" cy="228600"/>
          </a:xfrm>
          <a:prstGeom prst="rect">
            <a:avLst/>
          </a:prstGeom>
          <a:noFill/>
          <a:ln/>
        </p:spPr>
        <p:txBody>
          <a:bodyPr wrap="square" lIns="0" tIns="0" rIns="0" bIns="0" rtlCol="0" anchor="ctr"/>
          <a:lstStyle/>
          <a:p>
            <a:pPr indent="0" marL="0">
              <a:buNone/>
            </a:pPr>
            <a:r>
              <a:rPr lang="en-US" sz="900" b="1" spc="200" kern="0" dirty="0">
                <a:solidFill>
                  <a:srgbClr val="BFBFBF"/>
                </a:solidFill>
                <a:latin typeface="Arial" pitchFamily="34" charset="0"/>
                <a:ea typeface="Arial" pitchFamily="34" charset="-122"/>
                <a:cs typeface="Arial" pitchFamily="34" charset="-120"/>
              </a:rPr>
              <a:t>MACHINE</a:t>
            </a:r>
            <a:endParaRPr lang="en-US" sz="900" dirty="0"/>
          </a:p>
        </p:txBody>
      </p:sp>
      <p:pic>
        <p:nvPicPr>
          <p:cNvPr id="23" name="Icon LuMousePointerClick" descr="/home/claude/deck/img/LuMousePointerClick-k.png">    </p:cNvPr>
          <p:cNvPicPr>
            <a:picLocks noChangeAspect="1"/>
          </p:cNvPicPr>
          <p:nvPr/>
        </p:nvPicPr>
        <p:blipFill>
          <a:blip r:embed="rId1"/>
          <a:stretch>
            <a:fillRect/>
          </a:stretch>
        </p:blipFill>
        <p:spPr>
          <a:xfrm>
            <a:off x="7223760" y="1783080"/>
            <a:ext cx="548640" cy="548640"/>
          </a:xfrm>
          <a:prstGeom prst="rect">
            <a:avLst/>
          </a:prstGeom>
        </p:spPr>
      </p:pic>
      <p:sp>
        <p:nvSpPr>
          <p:cNvPr id="24" name="Text 21"/>
          <p:cNvSpPr txBox="1"/>
          <p:nvPr/>
        </p:nvSpPr>
        <p:spPr>
          <a:xfrm>
            <a:off x="7909560" y="1746504"/>
            <a:ext cx="3749040" cy="68580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Click-to-type text</a:t>
            </a:r>
            <a:endParaRPr lang="en-US" sz="1500" dirty="0"/>
          </a:p>
          <a:p>
            <a:pPr indent="0" marL="0">
              <a:buNone/>
            </a:pPr>
            <a:r>
              <a:rPr lang="en-US" sz="1300" dirty="0">
                <a:solidFill>
                  <a:srgbClr val="262626"/>
                </a:solidFill>
                <a:latin typeface="Cambria" pitchFamily="34" charset="0"/>
                <a:ea typeface="Cambria" pitchFamily="34" charset="-122"/>
                <a:cs typeface="Cambria" pitchFamily="34" charset="-120"/>
              </a:rPr>
              <a:t>sends a command straight into the VM</a:t>
            </a:r>
            <a:endParaRPr lang="en-US" sz="1500" dirty="0"/>
          </a:p>
        </p:txBody>
      </p:sp>
      <p:pic>
        <p:nvPicPr>
          <p:cNvPr id="25" name="Icon LuCopy" descr="/home/claude/deck/img/LuCopy-k.png">    </p:cNvPr>
          <p:cNvPicPr>
            <a:picLocks noChangeAspect="1"/>
          </p:cNvPicPr>
          <p:nvPr/>
        </p:nvPicPr>
        <p:blipFill>
          <a:blip r:embed="rId2"/>
          <a:stretch>
            <a:fillRect/>
          </a:stretch>
        </p:blipFill>
        <p:spPr>
          <a:xfrm>
            <a:off x="7223760" y="2624328"/>
            <a:ext cx="548640" cy="548640"/>
          </a:xfrm>
          <a:prstGeom prst="rect">
            <a:avLst/>
          </a:prstGeom>
        </p:spPr>
      </p:pic>
      <p:sp>
        <p:nvSpPr>
          <p:cNvPr id="26" name="Text 22"/>
          <p:cNvSpPr txBox="1"/>
          <p:nvPr/>
        </p:nvSpPr>
        <p:spPr>
          <a:xfrm>
            <a:off x="7909560" y="2587752"/>
            <a:ext cx="3749040" cy="68580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Click-to-copy text</a:t>
            </a:r>
            <a:endParaRPr lang="en-US" sz="1500" dirty="0"/>
          </a:p>
          <a:p>
            <a:pPr indent="0" marL="0">
              <a:buNone/>
            </a:pPr>
            <a:r>
              <a:rPr lang="en-US" sz="1300" dirty="0">
                <a:solidFill>
                  <a:srgbClr val="262626"/>
                </a:solidFill>
                <a:latin typeface="Cambria" pitchFamily="34" charset="0"/>
                <a:ea typeface="Cambria" pitchFamily="34" charset="-122"/>
                <a:cs typeface="Cambria" pitchFamily="34" charset="-120"/>
              </a:rPr>
              <a:t>copies to the clipboard</a:t>
            </a:r>
            <a:endParaRPr lang="en-US" sz="1500" dirty="0"/>
          </a:p>
        </p:txBody>
      </p:sp>
      <p:pic>
        <p:nvPicPr>
          <p:cNvPr id="27" name="Icon LuSquareCheck" descr="/home/claude/deck/img/LuSquareCheck-k.png">    </p:cNvPr>
          <p:cNvPicPr>
            <a:picLocks noChangeAspect="1"/>
          </p:cNvPicPr>
          <p:nvPr/>
        </p:nvPicPr>
        <p:blipFill>
          <a:blip r:embed="rId3"/>
          <a:stretch>
            <a:fillRect/>
          </a:stretch>
        </p:blipFill>
        <p:spPr>
          <a:xfrm>
            <a:off x="7223760" y="3465576"/>
            <a:ext cx="548640" cy="548640"/>
          </a:xfrm>
          <a:prstGeom prst="rect">
            <a:avLst/>
          </a:prstGeom>
        </p:spPr>
      </p:pic>
      <p:sp>
        <p:nvSpPr>
          <p:cNvPr id="28" name="Text 23"/>
          <p:cNvSpPr txBox="1"/>
          <p:nvPr/>
        </p:nvSpPr>
        <p:spPr>
          <a:xfrm>
            <a:off x="7909560" y="3429000"/>
            <a:ext cx="3749040" cy="68580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Task check boxes</a:t>
            </a:r>
            <a:endParaRPr lang="en-US" sz="1500" dirty="0"/>
          </a:p>
          <a:p>
            <a:pPr indent="0" marL="0">
              <a:buNone/>
            </a:pPr>
            <a:r>
              <a:rPr lang="en-US" sz="1300" dirty="0">
                <a:solidFill>
                  <a:srgbClr val="262626"/>
                </a:solidFill>
                <a:latin typeface="Cambria" pitchFamily="34" charset="0"/>
                <a:ea typeface="Cambria" pitchFamily="34" charset="-122"/>
                <a:cs typeface="Cambria" pitchFamily="34" charset="-120"/>
              </a:rPr>
              <a:t>track progress</a:t>
            </a:r>
            <a:endParaRPr lang="en-US" sz="1500" dirty="0"/>
          </a:p>
        </p:txBody>
      </p:sp>
      <p:pic>
        <p:nvPicPr>
          <p:cNvPr id="29" name="Icon LuCircleCheck" descr="/home/claude/deck/img/LuCircleCheck-k.png">    </p:cNvPr>
          <p:cNvPicPr>
            <a:picLocks noChangeAspect="1"/>
          </p:cNvPicPr>
          <p:nvPr/>
        </p:nvPicPr>
        <p:blipFill>
          <a:blip r:embed="rId4"/>
          <a:stretch>
            <a:fillRect/>
          </a:stretch>
        </p:blipFill>
        <p:spPr>
          <a:xfrm>
            <a:off x="7223760" y="4306824"/>
            <a:ext cx="548640" cy="548640"/>
          </a:xfrm>
          <a:prstGeom prst="rect">
            <a:avLst/>
          </a:prstGeom>
        </p:spPr>
      </p:pic>
      <p:sp>
        <p:nvSpPr>
          <p:cNvPr id="30" name="Text 24"/>
          <p:cNvSpPr txBox="1"/>
          <p:nvPr/>
        </p:nvSpPr>
        <p:spPr>
          <a:xfrm>
            <a:off x="7909560" y="4270248"/>
            <a:ext cx="3749040" cy="68580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Check / Evaluate</a:t>
            </a:r>
            <a:endParaRPr lang="en-US" sz="1500" dirty="0"/>
          </a:p>
          <a:p>
            <a:pPr indent="0" marL="0">
              <a:buNone/>
            </a:pPr>
            <a:r>
              <a:rPr lang="en-US" sz="1300" dirty="0">
                <a:solidFill>
                  <a:srgbClr val="262626"/>
                </a:solidFill>
                <a:latin typeface="Cambria" pitchFamily="34" charset="0"/>
                <a:ea typeface="Cambria" pitchFamily="34" charset="-122"/>
                <a:cs typeface="Cambria" pitchFamily="34" charset="-120"/>
              </a:rPr>
              <a:t>tests whether a step was done correctly</a:t>
            </a:r>
            <a:endParaRPr lang="en-US" sz="1500" dirty="0"/>
          </a:p>
        </p:txBody>
      </p:sp>
      <p:pic>
        <p:nvPicPr>
          <p:cNvPr id="31" name="Icon LuBookOpen" descr="/home/claude/deck/img/LuBookOpen-k.png">    </p:cNvPr>
          <p:cNvPicPr>
            <a:picLocks noChangeAspect="1"/>
          </p:cNvPicPr>
          <p:nvPr/>
        </p:nvPicPr>
        <p:blipFill>
          <a:blip r:embed="rId5"/>
          <a:stretch>
            <a:fillRect/>
          </a:stretch>
        </p:blipFill>
        <p:spPr>
          <a:xfrm>
            <a:off x="7223760" y="5148072"/>
            <a:ext cx="548640" cy="548640"/>
          </a:xfrm>
          <a:prstGeom prst="rect">
            <a:avLst/>
          </a:prstGeom>
        </p:spPr>
      </p:pic>
      <p:sp>
        <p:nvSpPr>
          <p:cNvPr id="32" name="Text 25"/>
          <p:cNvSpPr txBox="1"/>
          <p:nvPr/>
        </p:nvSpPr>
        <p:spPr>
          <a:xfrm>
            <a:off x="7909560" y="5111496"/>
            <a:ext cx="3749040" cy="68580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Next / Previous</a:t>
            </a:r>
            <a:endParaRPr lang="en-US" sz="1500" dirty="0"/>
          </a:p>
          <a:p>
            <a:pPr indent="0" marL="0">
              <a:buNone/>
            </a:pPr>
            <a:r>
              <a:rPr lang="en-US" sz="1300" dirty="0">
                <a:solidFill>
                  <a:srgbClr val="262626"/>
                </a:solidFill>
                <a:latin typeface="Cambria" pitchFamily="34" charset="0"/>
                <a:ea typeface="Cambria" pitchFamily="34" charset="-122"/>
                <a:cs typeface="Cambria" pitchFamily="34" charset="-120"/>
              </a:rPr>
              <a:t>moves between instruction pages</a:t>
            </a:r>
            <a:endParaRPr lang="en-US" sz="15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THREE OPTIONS</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Leaving a lab: the </a:t>
            </a:r>
            <a:pPr indent="0" marL="0">
              <a:buNone/>
            </a:pPr>
            <a:r>
              <a:rPr lang="en-US" sz="3400" b="1" dirty="0">
                <a:solidFill>
                  <a:srgbClr val="E41E26"/>
                </a:solidFill>
                <a:latin typeface="Arial" pitchFamily="34" charset="0"/>
                <a:ea typeface="Arial" pitchFamily="34" charset="-122"/>
                <a:cs typeface="Arial" pitchFamily="34" charset="-120"/>
              </a:rPr>
              <a:t>Exit</a:t>
            </a:r>
            <a:pPr indent="0" marL="0">
              <a:buNone/>
            </a:pPr>
            <a:r>
              <a:rPr lang="en-US" sz="3400" b="1" dirty="0">
                <a:solidFill>
                  <a:srgbClr val="000000"/>
                </a:solidFill>
                <a:latin typeface="Arial" pitchFamily="34" charset="0"/>
                <a:ea typeface="Arial" pitchFamily="34" charset="-122"/>
                <a:cs typeface="Arial" pitchFamily="34" charset="-120"/>
              </a:rPr>
              <a:t> menu</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sp>
        <p:nvSpPr>
          <p:cNvPr id="4" name="Panel"/>
          <p:cNvSpPr/>
          <p:nvPr/>
        </p:nvSpPr>
        <p:spPr>
          <a:xfrm>
            <a:off x="548640" y="1783080"/>
            <a:ext cx="3538728" cy="914400"/>
          </a:xfrm>
          <a:prstGeom prst="rect">
            <a:avLst/>
          </a:prstGeom>
          <a:solidFill>
            <a:srgbClr val="000000"/>
          </a:solidFill>
          <a:ln w="12700">
            <a:solidFill>
              <a:srgbClr val="000000"/>
            </a:solidFill>
            <a:prstDash val="solid"/>
          </a:ln>
        </p:spPr>
      </p:sp>
      <p:pic>
        <p:nvPicPr>
          <p:cNvPr id="5" name="Icon LuSave" descr="/home/claude/deck/img/LuSave-w.png">    </p:cNvPr>
          <p:cNvPicPr>
            <a:picLocks noChangeAspect="1"/>
          </p:cNvPicPr>
          <p:nvPr/>
        </p:nvPicPr>
        <p:blipFill>
          <a:blip r:embed="rId1"/>
          <a:stretch>
            <a:fillRect/>
          </a:stretch>
        </p:blipFill>
        <p:spPr>
          <a:xfrm>
            <a:off x="777240" y="1938528"/>
            <a:ext cx="603504" cy="603504"/>
          </a:xfrm>
          <a:prstGeom prst="rect">
            <a:avLst/>
          </a:prstGeom>
        </p:spPr>
      </p:pic>
      <p:sp>
        <p:nvSpPr>
          <p:cNvPr id="6" name="Text 3"/>
          <p:cNvSpPr txBox="1"/>
          <p:nvPr/>
        </p:nvSpPr>
        <p:spPr>
          <a:xfrm>
            <a:off x="1508760" y="1783080"/>
            <a:ext cx="2441448" cy="91440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Save and Close</a:t>
            </a:r>
            <a:endParaRPr lang="en-US" sz="1900" dirty="0"/>
          </a:p>
        </p:txBody>
      </p:sp>
      <p:sp>
        <p:nvSpPr>
          <p:cNvPr id="7" name="Panel"/>
          <p:cNvSpPr/>
          <p:nvPr/>
        </p:nvSpPr>
        <p:spPr>
          <a:xfrm>
            <a:off x="548640" y="2697480"/>
            <a:ext cx="3538728" cy="2103120"/>
          </a:xfrm>
          <a:prstGeom prst="rect">
            <a:avLst/>
          </a:prstGeom>
          <a:solidFill>
            <a:srgbClr val="EFEFEF"/>
          </a:solidFill>
          <a:ln w="12700">
            <a:solidFill>
              <a:srgbClr val="EFEFEF"/>
            </a:solidFill>
            <a:prstDash val="solid"/>
          </a:ln>
        </p:spPr>
      </p:sp>
      <p:sp>
        <p:nvSpPr>
          <p:cNvPr id="8" name="Text 5"/>
          <p:cNvSpPr txBox="1"/>
          <p:nvPr/>
        </p:nvSpPr>
        <p:spPr>
          <a:xfrm>
            <a:off x="822960" y="2880360"/>
            <a:ext cx="2743200" cy="228600"/>
          </a:xfrm>
          <a:prstGeom prst="rect">
            <a:avLst/>
          </a:prstGeom>
          <a:noFill/>
          <a:ln/>
        </p:spPr>
        <p:txBody>
          <a:bodyPr wrap="square" lIns="0" tIns="0" rIns="0" bIns="0" rtlCol="0" anchor="ctr"/>
          <a:lstStyle/>
          <a:p>
            <a:pPr indent="0" marL="0">
              <a:buNone/>
            </a:pPr>
            <a:r>
              <a:rPr lang="en-US" sz="1000" b="1" spc="200" kern="0" dirty="0">
                <a:solidFill>
                  <a:srgbClr val="E41E26"/>
                </a:solidFill>
                <a:latin typeface="Arial" pitchFamily="34" charset="0"/>
                <a:ea typeface="Arial" pitchFamily="34" charset="-122"/>
                <a:cs typeface="Arial" pitchFamily="34" charset="-120"/>
              </a:rPr>
              <a:t>WHAT HAPPENS</a:t>
            </a:r>
            <a:endParaRPr lang="en-US" sz="1000" dirty="0"/>
          </a:p>
        </p:txBody>
      </p:sp>
      <p:sp>
        <p:nvSpPr>
          <p:cNvPr id="9" name="Text 6"/>
          <p:cNvSpPr txBox="1"/>
          <p:nvPr/>
        </p:nvSpPr>
        <p:spPr>
          <a:xfrm>
            <a:off x="822960" y="3154680"/>
            <a:ext cx="2990088" cy="777240"/>
          </a:xfrm>
          <a:prstGeom prst="rect">
            <a:avLst/>
          </a:prstGeom>
          <a:noFill/>
          <a:ln/>
        </p:spPr>
        <p:txBody>
          <a:bodyPr wrap="square" lIns="0" tIns="0" rIns="0" bIns="0" rtlCol="0" anchor="t"/>
          <a:lstStyle/>
          <a:p>
            <a:pPr indent="0" marL="0">
              <a:spcAft>
                <a:spcPts val="400"/>
              </a:spcAft>
              <a:buNone/>
            </a:pPr>
            <a:r>
              <a:rPr lang="en-US" sz="1400" dirty="0">
                <a:solidFill>
                  <a:srgbClr val="000000"/>
                </a:solidFill>
                <a:latin typeface="Cambria" pitchFamily="34" charset="0"/>
                <a:ea typeface="Cambria" pitchFamily="34" charset="-122"/>
                <a:cs typeface="Cambria" pitchFamily="34" charset="-120"/>
              </a:rPr>
              <a:t>The lab is kept; the student resumes later from where they left off.</a:t>
            </a:r>
            <a:endParaRPr lang="en-US" sz="1400" dirty="0"/>
          </a:p>
        </p:txBody>
      </p:sp>
      <p:sp>
        <p:nvSpPr>
          <p:cNvPr id="10" name="Text 7"/>
          <p:cNvSpPr txBox="1"/>
          <p:nvPr/>
        </p:nvSpPr>
        <p:spPr>
          <a:xfrm>
            <a:off x="822960" y="3977640"/>
            <a:ext cx="2743200" cy="228600"/>
          </a:xfrm>
          <a:prstGeom prst="rect">
            <a:avLst/>
          </a:prstGeom>
          <a:noFill/>
          <a:ln/>
        </p:spPr>
        <p:txBody>
          <a:bodyPr wrap="square" lIns="0" tIns="0" rIns="0" bIns="0" rtlCol="0" anchor="ctr"/>
          <a:lstStyle/>
          <a:p>
            <a:pPr indent="0" marL="0">
              <a:buNone/>
            </a:pPr>
            <a:r>
              <a:rPr lang="en-US" sz="1000" b="1" spc="200" kern="0" dirty="0">
                <a:solidFill>
                  <a:srgbClr val="E41E26"/>
                </a:solidFill>
                <a:latin typeface="Arial" pitchFamily="34" charset="0"/>
                <a:ea typeface="Arial" pitchFamily="34" charset="-122"/>
                <a:cs typeface="Arial" pitchFamily="34" charset="-120"/>
              </a:rPr>
              <a:t>WHEN TO USE IT</a:t>
            </a:r>
            <a:endParaRPr lang="en-US" sz="1000" dirty="0"/>
          </a:p>
        </p:txBody>
      </p:sp>
      <p:sp>
        <p:nvSpPr>
          <p:cNvPr id="11" name="Text 8"/>
          <p:cNvSpPr txBox="1"/>
          <p:nvPr/>
        </p:nvSpPr>
        <p:spPr>
          <a:xfrm>
            <a:off x="822960" y="4251960"/>
            <a:ext cx="2990088" cy="502920"/>
          </a:xfrm>
          <a:prstGeom prst="rect">
            <a:avLst/>
          </a:prstGeom>
          <a:noFill/>
          <a:ln/>
        </p:spPr>
        <p:txBody>
          <a:bodyPr wrap="square" lIns="0" tIns="0" rIns="0" bIns="0" rtlCol="0" anchor="t"/>
          <a:lstStyle/>
          <a:p>
            <a:pPr indent="0" marL="0">
              <a:spcAft>
                <a:spcPts val="400"/>
              </a:spcAft>
              <a:buNone/>
            </a:pPr>
            <a:r>
              <a:rPr lang="en-US" sz="1400" b="1" dirty="0">
                <a:solidFill>
                  <a:srgbClr val="000000"/>
                </a:solidFill>
                <a:latin typeface="Cambria" pitchFamily="34" charset="0"/>
                <a:ea typeface="Cambria" pitchFamily="34" charset="-122"/>
                <a:cs typeface="Cambria" pitchFamily="34" charset="-120"/>
              </a:rPr>
              <a:t>Only on labs where saving is turned on</a:t>
            </a:r>
            <a:endParaRPr lang="en-US" sz="1400" dirty="0"/>
          </a:p>
        </p:txBody>
      </p:sp>
      <p:sp>
        <p:nvSpPr>
          <p:cNvPr id="12" name="Panel"/>
          <p:cNvSpPr/>
          <p:nvPr/>
        </p:nvSpPr>
        <p:spPr>
          <a:xfrm>
            <a:off x="4279392" y="1783080"/>
            <a:ext cx="3538728" cy="914400"/>
          </a:xfrm>
          <a:prstGeom prst="rect">
            <a:avLst/>
          </a:prstGeom>
          <a:solidFill>
            <a:srgbClr val="404040"/>
          </a:solidFill>
          <a:ln w="12700">
            <a:solidFill>
              <a:srgbClr val="404040"/>
            </a:solidFill>
            <a:prstDash val="solid"/>
          </a:ln>
        </p:spPr>
      </p:sp>
      <p:pic>
        <p:nvPicPr>
          <p:cNvPr id="13" name="Icon LuCircleCheck" descr="/home/claude/deck/img/LuCircleCheck-w.png">    </p:cNvPr>
          <p:cNvPicPr>
            <a:picLocks noChangeAspect="1"/>
          </p:cNvPicPr>
          <p:nvPr/>
        </p:nvPicPr>
        <p:blipFill>
          <a:blip r:embed="rId2"/>
          <a:stretch>
            <a:fillRect/>
          </a:stretch>
        </p:blipFill>
        <p:spPr>
          <a:xfrm>
            <a:off x="4507992" y="1938528"/>
            <a:ext cx="603504" cy="603504"/>
          </a:xfrm>
          <a:prstGeom prst="rect">
            <a:avLst/>
          </a:prstGeom>
        </p:spPr>
      </p:pic>
      <p:sp>
        <p:nvSpPr>
          <p:cNvPr id="14" name="Text 10"/>
          <p:cNvSpPr txBox="1"/>
          <p:nvPr/>
        </p:nvSpPr>
        <p:spPr>
          <a:xfrm>
            <a:off x="5239512" y="1783080"/>
            <a:ext cx="2441448" cy="91440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End: mark complete</a:t>
            </a:r>
            <a:endParaRPr lang="en-US" sz="1900" dirty="0"/>
          </a:p>
        </p:txBody>
      </p:sp>
      <p:sp>
        <p:nvSpPr>
          <p:cNvPr id="15" name="Panel"/>
          <p:cNvSpPr/>
          <p:nvPr/>
        </p:nvSpPr>
        <p:spPr>
          <a:xfrm>
            <a:off x="4279392" y="2697480"/>
            <a:ext cx="3538728" cy="2103120"/>
          </a:xfrm>
          <a:prstGeom prst="rect">
            <a:avLst/>
          </a:prstGeom>
          <a:solidFill>
            <a:srgbClr val="EFEFEF"/>
          </a:solidFill>
          <a:ln w="12700">
            <a:solidFill>
              <a:srgbClr val="EFEFEF"/>
            </a:solidFill>
            <a:prstDash val="solid"/>
          </a:ln>
        </p:spPr>
      </p:sp>
      <p:sp>
        <p:nvSpPr>
          <p:cNvPr id="16" name="Text 12"/>
          <p:cNvSpPr txBox="1"/>
          <p:nvPr/>
        </p:nvSpPr>
        <p:spPr>
          <a:xfrm>
            <a:off x="4553712" y="2880360"/>
            <a:ext cx="2743200" cy="228600"/>
          </a:xfrm>
          <a:prstGeom prst="rect">
            <a:avLst/>
          </a:prstGeom>
          <a:noFill/>
          <a:ln/>
        </p:spPr>
        <p:txBody>
          <a:bodyPr wrap="square" lIns="0" tIns="0" rIns="0" bIns="0" rtlCol="0" anchor="ctr"/>
          <a:lstStyle/>
          <a:p>
            <a:pPr indent="0" marL="0">
              <a:buNone/>
            </a:pPr>
            <a:r>
              <a:rPr lang="en-US" sz="1000" b="1" spc="200" kern="0" dirty="0">
                <a:solidFill>
                  <a:srgbClr val="E41E26"/>
                </a:solidFill>
                <a:latin typeface="Arial" pitchFamily="34" charset="0"/>
                <a:ea typeface="Arial" pitchFamily="34" charset="-122"/>
                <a:cs typeface="Arial" pitchFamily="34" charset="-120"/>
              </a:rPr>
              <a:t>WHAT HAPPENS</a:t>
            </a:r>
            <a:endParaRPr lang="en-US" sz="1000" dirty="0"/>
          </a:p>
        </p:txBody>
      </p:sp>
      <p:sp>
        <p:nvSpPr>
          <p:cNvPr id="17" name="Text 13"/>
          <p:cNvSpPr txBox="1"/>
          <p:nvPr/>
        </p:nvSpPr>
        <p:spPr>
          <a:xfrm>
            <a:off x="4553712" y="3154680"/>
            <a:ext cx="2990088" cy="777240"/>
          </a:xfrm>
          <a:prstGeom prst="rect">
            <a:avLst/>
          </a:prstGeom>
          <a:noFill/>
          <a:ln/>
        </p:spPr>
        <p:txBody>
          <a:bodyPr wrap="square" lIns="0" tIns="0" rIns="0" bIns="0" rtlCol="0" anchor="t"/>
          <a:lstStyle/>
          <a:p>
            <a:pPr indent="0" marL="0">
              <a:spcAft>
                <a:spcPts val="400"/>
              </a:spcAft>
              <a:buNone/>
            </a:pPr>
            <a:r>
              <a:rPr lang="en-US" sz="1400" dirty="0">
                <a:solidFill>
                  <a:srgbClr val="000000"/>
                </a:solidFill>
                <a:latin typeface="Cambria" pitchFamily="34" charset="0"/>
                <a:ea typeface="Cambria" pitchFamily="34" charset="-122"/>
                <a:cs typeface="Cambria" pitchFamily="34" charset="-120"/>
              </a:rPr>
              <a:t>The lab is finished and the machine is deleted.</a:t>
            </a:r>
            <a:endParaRPr lang="en-US" sz="1400" dirty="0"/>
          </a:p>
        </p:txBody>
      </p:sp>
      <p:sp>
        <p:nvSpPr>
          <p:cNvPr id="18" name="Text 14"/>
          <p:cNvSpPr txBox="1"/>
          <p:nvPr/>
        </p:nvSpPr>
        <p:spPr>
          <a:xfrm>
            <a:off x="4553712" y="3977640"/>
            <a:ext cx="2743200" cy="228600"/>
          </a:xfrm>
          <a:prstGeom prst="rect">
            <a:avLst/>
          </a:prstGeom>
          <a:noFill/>
          <a:ln/>
        </p:spPr>
        <p:txBody>
          <a:bodyPr wrap="square" lIns="0" tIns="0" rIns="0" bIns="0" rtlCol="0" anchor="ctr"/>
          <a:lstStyle/>
          <a:p>
            <a:pPr indent="0" marL="0">
              <a:buNone/>
            </a:pPr>
            <a:r>
              <a:rPr lang="en-US" sz="1000" b="1" spc="200" kern="0" dirty="0">
                <a:solidFill>
                  <a:srgbClr val="E41E26"/>
                </a:solidFill>
                <a:latin typeface="Arial" pitchFamily="34" charset="0"/>
                <a:ea typeface="Arial" pitchFamily="34" charset="-122"/>
                <a:cs typeface="Arial" pitchFamily="34" charset="-120"/>
              </a:rPr>
              <a:t>WHEN TO USE IT</a:t>
            </a:r>
            <a:endParaRPr lang="en-US" sz="1000" dirty="0"/>
          </a:p>
        </p:txBody>
      </p:sp>
      <p:sp>
        <p:nvSpPr>
          <p:cNvPr id="19" name="Text 15"/>
          <p:cNvSpPr txBox="1"/>
          <p:nvPr/>
        </p:nvSpPr>
        <p:spPr>
          <a:xfrm>
            <a:off x="4553712" y="4251960"/>
            <a:ext cx="2990088" cy="502920"/>
          </a:xfrm>
          <a:prstGeom prst="rect">
            <a:avLst/>
          </a:prstGeom>
          <a:noFill/>
          <a:ln/>
        </p:spPr>
        <p:txBody>
          <a:bodyPr wrap="square" lIns="0" tIns="0" rIns="0" bIns="0" rtlCol="0" anchor="t"/>
          <a:lstStyle/>
          <a:p>
            <a:pPr indent="0" marL="0">
              <a:spcAft>
                <a:spcPts val="400"/>
              </a:spcAft>
              <a:buNone/>
            </a:pPr>
            <a:r>
              <a:rPr lang="en-US" sz="1400" b="1" dirty="0">
                <a:solidFill>
                  <a:srgbClr val="000000"/>
                </a:solidFill>
                <a:latin typeface="Cambria" pitchFamily="34" charset="0"/>
                <a:ea typeface="Cambria" pitchFamily="34" charset="-122"/>
                <a:cs typeface="Cambria" pitchFamily="34" charset="-120"/>
              </a:rPr>
              <a:t>Done with the lab</a:t>
            </a:r>
            <a:endParaRPr lang="en-US" sz="1400" dirty="0"/>
          </a:p>
        </p:txBody>
      </p:sp>
      <p:sp>
        <p:nvSpPr>
          <p:cNvPr id="20" name="Panel"/>
          <p:cNvSpPr/>
          <p:nvPr/>
        </p:nvSpPr>
        <p:spPr>
          <a:xfrm>
            <a:off x="8010144" y="1783080"/>
            <a:ext cx="3538728" cy="914400"/>
          </a:xfrm>
          <a:prstGeom prst="rect">
            <a:avLst/>
          </a:prstGeom>
          <a:solidFill>
            <a:srgbClr val="E41E26"/>
          </a:solidFill>
          <a:ln w="12700">
            <a:solidFill>
              <a:srgbClr val="E41E26"/>
            </a:solidFill>
            <a:prstDash val="solid"/>
          </a:ln>
        </p:spPr>
      </p:sp>
      <p:pic>
        <p:nvPicPr>
          <p:cNvPr id="21" name="Icon LuTrash2" descr="/home/claude/deck/img/LuTrash2-wk.png">    </p:cNvPr>
          <p:cNvPicPr>
            <a:picLocks noChangeAspect="1"/>
          </p:cNvPicPr>
          <p:nvPr/>
        </p:nvPicPr>
        <p:blipFill>
          <a:blip r:embed="rId3"/>
          <a:stretch>
            <a:fillRect/>
          </a:stretch>
        </p:blipFill>
        <p:spPr>
          <a:xfrm>
            <a:off x="8238744" y="1938528"/>
            <a:ext cx="603504" cy="603504"/>
          </a:xfrm>
          <a:prstGeom prst="rect">
            <a:avLst/>
          </a:prstGeom>
        </p:spPr>
      </p:pic>
      <p:sp>
        <p:nvSpPr>
          <p:cNvPr id="22" name="Text 17"/>
          <p:cNvSpPr txBox="1"/>
          <p:nvPr/>
        </p:nvSpPr>
        <p:spPr>
          <a:xfrm>
            <a:off x="8970264" y="1783080"/>
            <a:ext cx="2441448" cy="91440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Cancel</a:t>
            </a:r>
            <a:endParaRPr lang="en-US" sz="1900" dirty="0"/>
          </a:p>
        </p:txBody>
      </p:sp>
      <p:sp>
        <p:nvSpPr>
          <p:cNvPr id="23" name="Panel"/>
          <p:cNvSpPr/>
          <p:nvPr/>
        </p:nvSpPr>
        <p:spPr>
          <a:xfrm>
            <a:off x="8010144" y="2697480"/>
            <a:ext cx="3538728" cy="2103120"/>
          </a:xfrm>
          <a:prstGeom prst="rect">
            <a:avLst/>
          </a:prstGeom>
          <a:solidFill>
            <a:srgbClr val="EFEFEF"/>
          </a:solidFill>
          <a:ln w="12700">
            <a:solidFill>
              <a:srgbClr val="EFEFEF"/>
            </a:solidFill>
            <a:prstDash val="solid"/>
          </a:ln>
        </p:spPr>
      </p:sp>
      <p:sp>
        <p:nvSpPr>
          <p:cNvPr id="24" name="Text 19"/>
          <p:cNvSpPr txBox="1"/>
          <p:nvPr/>
        </p:nvSpPr>
        <p:spPr>
          <a:xfrm>
            <a:off x="8284464" y="2880360"/>
            <a:ext cx="2743200" cy="228600"/>
          </a:xfrm>
          <a:prstGeom prst="rect">
            <a:avLst/>
          </a:prstGeom>
          <a:noFill/>
          <a:ln/>
        </p:spPr>
        <p:txBody>
          <a:bodyPr wrap="square" lIns="0" tIns="0" rIns="0" bIns="0" rtlCol="0" anchor="ctr"/>
          <a:lstStyle/>
          <a:p>
            <a:pPr indent="0" marL="0">
              <a:buNone/>
            </a:pPr>
            <a:r>
              <a:rPr lang="en-US" sz="1000" b="1" spc="200" kern="0" dirty="0">
                <a:solidFill>
                  <a:srgbClr val="E41E26"/>
                </a:solidFill>
                <a:latin typeface="Arial" pitchFamily="34" charset="0"/>
                <a:ea typeface="Arial" pitchFamily="34" charset="-122"/>
                <a:cs typeface="Arial" pitchFamily="34" charset="-120"/>
              </a:rPr>
              <a:t>WHAT HAPPENS</a:t>
            </a:r>
            <a:endParaRPr lang="en-US" sz="1000" dirty="0"/>
          </a:p>
        </p:txBody>
      </p:sp>
      <p:sp>
        <p:nvSpPr>
          <p:cNvPr id="25" name="Text 20"/>
          <p:cNvSpPr txBox="1"/>
          <p:nvPr/>
        </p:nvSpPr>
        <p:spPr>
          <a:xfrm>
            <a:off x="8284464" y="3154680"/>
            <a:ext cx="2990088" cy="777240"/>
          </a:xfrm>
          <a:prstGeom prst="rect">
            <a:avLst/>
          </a:prstGeom>
          <a:noFill/>
          <a:ln/>
        </p:spPr>
        <p:txBody>
          <a:bodyPr wrap="square" lIns="0" tIns="0" rIns="0" bIns="0" rtlCol="0" anchor="t"/>
          <a:lstStyle/>
          <a:p>
            <a:pPr indent="0" marL="0">
              <a:spcAft>
                <a:spcPts val="400"/>
              </a:spcAft>
              <a:buNone/>
            </a:pPr>
            <a:r>
              <a:rPr lang="en-US" sz="1400" dirty="0">
                <a:solidFill>
                  <a:srgbClr val="000000"/>
                </a:solidFill>
                <a:latin typeface="Cambria" pitchFamily="34" charset="0"/>
                <a:ea typeface="Cambria" pitchFamily="34" charset="-122"/>
                <a:cs typeface="Cambria" pitchFamily="34" charset="-120"/>
              </a:rPr>
              <a:t>Work is discarded; the next launch starts fresh.</a:t>
            </a:r>
            <a:endParaRPr lang="en-US" sz="1400" dirty="0"/>
          </a:p>
        </p:txBody>
      </p:sp>
      <p:sp>
        <p:nvSpPr>
          <p:cNvPr id="26" name="Text 21"/>
          <p:cNvSpPr txBox="1"/>
          <p:nvPr/>
        </p:nvSpPr>
        <p:spPr>
          <a:xfrm>
            <a:off x="8284464" y="3977640"/>
            <a:ext cx="2743200" cy="228600"/>
          </a:xfrm>
          <a:prstGeom prst="rect">
            <a:avLst/>
          </a:prstGeom>
          <a:noFill/>
          <a:ln/>
        </p:spPr>
        <p:txBody>
          <a:bodyPr wrap="square" lIns="0" tIns="0" rIns="0" bIns="0" rtlCol="0" anchor="ctr"/>
          <a:lstStyle/>
          <a:p>
            <a:pPr indent="0" marL="0">
              <a:buNone/>
            </a:pPr>
            <a:r>
              <a:rPr lang="en-US" sz="1000" b="1" spc="200" kern="0" dirty="0">
                <a:solidFill>
                  <a:srgbClr val="E41E26"/>
                </a:solidFill>
                <a:latin typeface="Arial" pitchFamily="34" charset="0"/>
                <a:ea typeface="Arial" pitchFamily="34" charset="-122"/>
                <a:cs typeface="Arial" pitchFamily="34" charset="-120"/>
              </a:rPr>
              <a:t>WHEN TO USE IT</a:t>
            </a:r>
            <a:endParaRPr lang="en-US" sz="1000" dirty="0"/>
          </a:p>
        </p:txBody>
      </p:sp>
      <p:sp>
        <p:nvSpPr>
          <p:cNvPr id="27" name="Text 22"/>
          <p:cNvSpPr txBox="1"/>
          <p:nvPr/>
        </p:nvSpPr>
        <p:spPr>
          <a:xfrm>
            <a:off x="8284464" y="4251960"/>
            <a:ext cx="2990088" cy="502920"/>
          </a:xfrm>
          <a:prstGeom prst="rect">
            <a:avLst/>
          </a:prstGeom>
          <a:noFill/>
          <a:ln/>
        </p:spPr>
        <p:txBody>
          <a:bodyPr wrap="square" lIns="0" tIns="0" rIns="0" bIns="0" rtlCol="0" anchor="t"/>
          <a:lstStyle/>
          <a:p>
            <a:pPr indent="0" marL="0">
              <a:spcAft>
                <a:spcPts val="400"/>
              </a:spcAft>
              <a:buNone/>
            </a:pPr>
            <a:r>
              <a:rPr lang="en-US" sz="1400" b="1" dirty="0">
                <a:solidFill>
                  <a:srgbClr val="000000"/>
                </a:solidFill>
                <a:latin typeface="Cambria" pitchFamily="34" charset="0"/>
                <a:ea typeface="Cambria" pitchFamily="34" charset="-122"/>
                <a:cs typeface="Cambria" pitchFamily="34" charset="-120"/>
              </a:rPr>
              <a:t>Want to start over</a:t>
            </a:r>
            <a:endParaRPr lang="en-US" sz="1400" dirty="0"/>
          </a:p>
        </p:txBody>
      </p:sp>
      <p:sp>
        <p:nvSpPr>
          <p:cNvPr id="28" name="Panel"/>
          <p:cNvSpPr/>
          <p:nvPr/>
        </p:nvSpPr>
        <p:spPr>
          <a:xfrm>
            <a:off x="548640" y="5074920"/>
            <a:ext cx="11094415" cy="868680"/>
          </a:xfrm>
          <a:prstGeom prst="rect">
            <a:avLst/>
          </a:prstGeom>
          <a:solidFill>
            <a:srgbClr val="E41E26"/>
          </a:solidFill>
          <a:ln w="12700">
            <a:solidFill>
              <a:srgbClr val="E41E26"/>
            </a:solidFill>
            <a:prstDash val="solid"/>
          </a:ln>
        </p:spPr>
      </p:sp>
      <p:pic>
        <p:nvPicPr>
          <p:cNvPr id="29" name="Icon LuGithub" descr="/home/claude/deck/img/LuGithub-wk.png">    </p:cNvPr>
          <p:cNvPicPr>
            <a:picLocks noChangeAspect="1"/>
          </p:cNvPicPr>
          <p:nvPr/>
        </p:nvPicPr>
        <p:blipFill>
          <a:blip r:embed="rId4"/>
          <a:stretch>
            <a:fillRect/>
          </a:stretch>
        </p:blipFill>
        <p:spPr>
          <a:xfrm>
            <a:off x="822960" y="5212080"/>
            <a:ext cx="594360" cy="594360"/>
          </a:xfrm>
          <a:prstGeom prst="rect">
            <a:avLst/>
          </a:prstGeom>
        </p:spPr>
      </p:pic>
      <p:sp>
        <p:nvSpPr>
          <p:cNvPr id="30" name="Text 24"/>
          <p:cNvSpPr txBox="1"/>
          <p:nvPr/>
        </p:nvSpPr>
        <p:spPr>
          <a:xfrm>
            <a:off x="1600200" y="5074920"/>
            <a:ext cx="9601200" cy="868680"/>
          </a:xfrm>
          <a:prstGeom prst="rect">
            <a:avLst/>
          </a:prstGeom>
          <a:noFill/>
          <a:ln/>
        </p:spPr>
        <p:txBody>
          <a:bodyPr wrap="square" lIns="0" tIns="0" rIns="0" bIns="0" rtlCol="0" anchor="ctr"/>
          <a:lstStyle/>
          <a:p>
            <a:pPr indent="0" marL="0">
              <a:spcAft>
                <a:spcPts val="400"/>
              </a:spcAft>
              <a:buNone/>
            </a:pPr>
            <a:r>
              <a:rPr lang="en-US" sz="1900" b="1" dirty="0">
                <a:solidFill>
                  <a:srgbClr val="FFFFFF"/>
                </a:solidFill>
                <a:latin typeface="Arial" pitchFamily="34" charset="0"/>
                <a:ea typeface="Arial" pitchFamily="34" charset="-122"/>
                <a:cs typeface="Arial" pitchFamily="34" charset="-120"/>
              </a:rPr>
              <a:t>Golden rule: </a:t>
            </a:r>
            <a:pPr indent="0" marL="0">
              <a:spcAft>
                <a:spcPts val="400"/>
              </a:spcAft>
              <a:buNone/>
            </a:pPr>
            <a:r>
              <a:rPr lang="en-US" sz="1900" dirty="0">
                <a:solidFill>
                  <a:srgbClr val="FFFFFF"/>
                </a:solidFill>
                <a:latin typeface="Arial" pitchFamily="34" charset="0"/>
                <a:ea typeface="Arial" pitchFamily="34" charset="-122"/>
                <a:cs typeface="Arial" pitchFamily="34" charset="-120"/>
              </a:rPr>
              <a:t>before leaving any lab, commit and push code to GitHub.</a:t>
            </a:r>
            <a:endParaRPr lang="en-US" sz="19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TIMEOUTS AND INTERRUPTIONS</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What happens </a:t>
            </a:r>
            <a:pPr indent="0" marL="0">
              <a:buNone/>
            </a:pPr>
            <a:r>
              <a:rPr lang="en-US" sz="3400" b="1" dirty="0">
                <a:solidFill>
                  <a:srgbClr val="E41E26"/>
                </a:solidFill>
                <a:latin typeface="Arial" pitchFamily="34" charset="0"/>
                <a:ea typeface="Arial" pitchFamily="34" charset="-122"/>
                <a:cs typeface="Arial" pitchFamily="34" charset="-120"/>
              </a:rPr>
              <a:t>if…</a:t>
            </a:r>
            <a:endParaRPr lang="en-US" sz="3400" dirty="0"/>
          </a:p>
        </p:txBody>
      </p:sp>
      <p:pic>
        <p:nvPicPr>
          <p:cNvPr id="4" name="Icon LuAppWindow" descr="/home/claude/deck/img/LuAppWindow-k.png">    </p:cNvPr>
          <p:cNvPicPr>
            <a:picLocks noChangeAspect="1"/>
          </p:cNvPicPr>
          <p:nvPr/>
        </p:nvPicPr>
        <p:blipFill>
          <a:blip r:embed="rId1"/>
          <a:stretch>
            <a:fillRect/>
          </a:stretch>
        </p:blipFill>
        <p:spPr>
          <a:xfrm>
            <a:off x="548640" y="1828800"/>
            <a:ext cx="640080" cy="640080"/>
          </a:xfrm>
          <a:prstGeom prst="rect">
            <a:avLst/>
          </a:prstGeom>
        </p:spPr>
      </p:pic>
      <p:sp>
        <p:nvSpPr>
          <p:cNvPr id="5" name="Text 2"/>
          <p:cNvSpPr txBox="1"/>
          <p:nvPr/>
        </p:nvSpPr>
        <p:spPr>
          <a:xfrm>
            <a:off x="1417320" y="1783080"/>
            <a:ext cx="6309360" cy="365760"/>
          </a:xfrm>
          <a:prstGeom prst="rect">
            <a:avLst/>
          </a:prstGeom>
          <a:noFill/>
          <a:ln/>
        </p:spPr>
        <p:txBody>
          <a:bodyPr wrap="square" lIns="0" tIns="0" rIns="0" bIns="0" rtlCol="0" anchor="ctr"/>
          <a:lstStyle/>
          <a:p>
            <a:pPr indent="0" marL="0">
              <a:buNone/>
            </a:pPr>
            <a:r>
              <a:rPr lang="en-US" sz="1700" b="1" dirty="0">
                <a:solidFill>
                  <a:srgbClr val="000000"/>
                </a:solidFill>
                <a:latin typeface="Arial" pitchFamily="34" charset="0"/>
                <a:ea typeface="Arial" pitchFamily="34" charset="-122"/>
                <a:cs typeface="Arial" pitchFamily="34" charset="-120"/>
              </a:rPr>
              <a:t>Student closes the browser tab</a:t>
            </a:r>
            <a:endParaRPr lang="en-US" sz="1700" dirty="0"/>
          </a:p>
        </p:txBody>
      </p:sp>
      <p:sp>
        <p:nvSpPr>
          <p:cNvPr id="6" name="Text 3"/>
          <p:cNvSpPr txBox="1"/>
          <p:nvPr/>
        </p:nvSpPr>
        <p:spPr>
          <a:xfrm>
            <a:off x="1417320" y="2167128"/>
            <a:ext cx="6309360" cy="54864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The lab keeps running (60 minutes by default). They can relaunch from TMS.</a:t>
            </a:r>
            <a:endParaRPr lang="en-US" sz="1400" dirty="0"/>
          </a:p>
        </p:txBody>
      </p:sp>
      <p:pic>
        <p:nvPicPr>
          <p:cNvPr id="7" name="Icon LuDoorOpen" descr="/home/claude/deck/img/LuDoorOpen-k.png">    </p:cNvPr>
          <p:cNvPicPr>
            <a:picLocks noChangeAspect="1"/>
          </p:cNvPicPr>
          <p:nvPr/>
        </p:nvPicPr>
        <p:blipFill>
          <a:blip r:embed="rId2"/>
          <a:stretch>
            <a:fillRect/>
          </a:stretch>
        </p:blipFill>
        <p:spPr>
          <a:xfrm>
            <a:off x="548640" y="2880360"/>
            <a:ext cx="640080" cy="640080"/>
          </a:xfrm>
          <a:prstGeom prst="rect">
            <a:avLst/>
          </a:prstGeom>
        </p:spPr>
      </p:pic>
      <p:sp>
        <p:nvSpPr>
          <p:cNvPr id="8" name="Text 4"/>
          <p:cNvSpPr txBox="1"/>
          <p:nvPr/>
        </p:nvSpPr>
        <p:spPr>
          <a:xfrm>
            <a:off x="1417320" y="2834640"/>
            <a:ext cx="6309360" cy="365760"/>
          </a:xfrm>
          <a:prstGeom prst="rect">
            <a:avLst/>
          </a:prstGeom>
          <a:noFill/>
          <a:ln/>
        </p:spPr>
        <p:txBody>
          <a:bodyPr wrap="square" lIns="0" tIns="0" rIns="0" bIns="0" rtlCol="0" anchor="ctr"/>
          <a:lstStyle/>
          <a:p>
            <a:pPr indent="0" marL="0">
              <a:buNone/>
            </a:pPr>
            <a:r>
              <a:rPr lang="en-US" sz="1700" b="1" dirty="0">
                <a:solidFill>
                  <a:srgbClr val="000000"/>
                </a:solidFill>
                <a:latin typeface="Arial" pitchFamily="34" charset="0"/>
                <a:ea typeface="Arial" pitchFamily="34" charset="-122"/>
                <a:cs typeface="Arial" pitchFamily="34" charset="-120"/>
              </a:rPr>
              <a:t>Student walks away</a:t>
            </a:r>
            <a:endParaRPr lang="en-US" sz="1700" dirty="0"/>
          </a:p>
        </p:txBody>
      </p:sp>
      <p:sp>
        <p:nvSpPr>
          <p:cNvPr id="9" name="Text 5"/>
          <p:cNvSpPr txBox="1"/>
          <p:nvPr/>
        </p:nvSpPr>
        <p:spPr>
          <a:xfrm>
            <a:off x="1417320" y="3218688"/>
            <a:ext cx="6309360" cy="54864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After 15 minutes idle (by default), the lab warns and then shuts down.</a:t>
            </a:r>
            <a:endParaRPr lang="en-US" sz="1400" dirty="0"/>
          </a:p>
        </p:txBody>
      </p:sp>
      <p:pic>
        <p:nvPicPr>
          <p:cNvPr id="10" name="Icon LuWifi" descr="/home/claude/deck/img/LuWifi-k.png">    </p:cNvPr>
          <p:cNvPicPr>
            <a:picLocks noChangeAspect="1"/>
          </p:cNvPicPr>
          <p:nvPr/>
        </p:nvPicPr>
        <p:blipFill>
          <a:blip r:embed="rId3"/>
          <a:stretch>
            <a:fillRect/>
          </a:stretch>
        </p:blipFill>
        <p:spPr>
          <a:xfrm>
            <a:off x="548640" y="3931920"/>
            <a:ext cx="640080" cy="640080"/>
          </a:xfrm>
          <a:prstGeom prst="rect">
            <a:avLst/>
          </a:prstGeom>
        </p:spPr>
      </p:pic>
      <p:sp>
        <p:nvSpPr>
          <p:cNvPr id="11" name="Text 6"/>
          <p:cNvSpPr txBox="1"/>
          <p:nvPr/>
        </p:nvSpPr>
        <p:spPr>
          <a:xfrm>
            <a:off x="1417320" y="3886200"/>
            <a:ext cx="6309360" cy="365760"/>
          </a:xfrm>
          <a:prstGeom prst="rect">
            <a:avLst/>
          </a:prstGeom>
          <a:noFill/>
          <a:ln/>
        </p:spPr>
        <p:txBody>
          <a:bodyPr wrap="square" lIns="0" tIns="0" rIns="0" bIns="0" rtlCol="0" anchor="ctr"/>
          <a:lstStyle/>
          <a:p>
            <a:pPr indent="0" marL="0">
              <a:buNone/>
            </a:pPr>
            <a:r>
              <a:rPr lang="en-US" sz="1700" b="1" dirty="0">
                <a:solidFill>
                  <a:srgbClr val="000000"/>
                </a:solidFill>
                <a:latin typeface="Arial" pitchFamily="34" charset="0"/>
                <a:ea typeface="Arial" pitchFamily="34" charset="-122"/>
                <a:cs typeface="Arial" pitchFamily="34" charset="-120"/>
              </a:rPr>
              <a:t>Laptop loses power or Wi-Fi drops</a:t>
            </a:r>
            <a:endParaRPr lang="en-US" sz="1700" dirty="0"/>
          </a:p>
        </p:txBody>
      </p:sp>
      <p:sp>
        <p:nvSpPr>
          <p:cNvPr id="12" name="Text 7"/>
          <p:cNvSpPr txBox="1"/>
          <p:nvPr/>
        </p:nvSpPr>
        <p:spPr>
          <a:xfrm>
            <a:off x="1417320" y="4270248"/>
            <a:ext cx="6309360" cy="54864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Same as walking away. Reconnect promptly.</a:t>
            </a:r>
            <a:endParaRPr lang="en-US" sz="1400" dirty="0"/>
          </a:p>
        </p:txBody>
      </p:sp>
      <p:pic>
        <p:nvPicPr>
          <p:cNvPr id="13" name="Icon LuTimer" descr="/home/claude/deck/img/LuTimer-k.png">    </p:cNvPr>
          <p:cNvPicPr>
            <a:picLocks noChangeAspect="1"/>
          </p:cNvPicPr>
          <p:nvPr/>
        </p:nvPicPr>
        <p:blipFill>
          <a:blip r:embed="rId4"/>
          <a:stretch>
            <a:fillRect/>
          </a:stretch>
        </p:blipFill>
        <p:spPr>
          <a:xfrm>
            <a:off x="548640" y="4983480"/>
            <a:ext cx="640080" cy="640080"/>
          </a:xfrm>
          <a:prstGeom prst="rect">
            <a:avLst/>
          </a:prstGeom>
        </p:spPr>
      </p:pic>
      <p:sp>
        <p:nvSpPr>
          <p:cNvPr id="14" name="Text 8"/>
          <p:cNvSpPr txBox="1"/>
          <p:nvPr/>
        </p:nvSpPr>
        <p:spPr>
          <a:xfrm>
            <a:off x="1417320" y="4937760"/>
            <a:ext cx="6309360" cy="365760"/>
          </a:xfrm>
          <a:prstGeom prst="rect">
            <a:avLst/>
          </a:prstGeom>
          <a:noFill/>
          <a:ln/>
        </p:spPr>
        <p:txBody>
          <a:bodyPr wrap="square" lIns="0" tIns="0" rIns="0" bIns="0" rtlCol="0" anchor="ctr"/>
          <a:lstStyle/>
          <a:p>
            <a:pPr indent="0" marL="0">
              <a:buNone/>
            </a:pPr>
            <a:r>
              <a:rPr lang="en-US" sz="1700" b="1" dirty="0">
                <a:solidFill>
                  <a:srgbClr val="000000"/>
                </a:solidFill>
                <a:latin typeface="Arial" pitchFamily="34" charset="0"/>
                <a:ea typeface="Arial" pitchFamily="34" charset="-122"/>
                <a:cs typeface="Arial" pitchFamily="34" charset="-120"/>
              </a:rPr>
              <a:t>Lab timer runs out</a:t>
            </a:r>
            <a:endParaRPr lang="en-US" sz="1700" dirty="0"/>
          </a:p>
        </p:txBody>
      </p:sp>
      <p:sp>
        <p:nvSpPr>
          <p:cNvPr id="15" name="Text 9"/>
          <p:cNvSpPr txBox="1"/>
          <p:nvPr/>
        </p:nvSpPr>
        <p:spPr>
          <a:xfrm>
            <a:off x="1417320" y="5321808"/>
            <a:ext cx="6309360" cy="54864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The lab ends. Unsaved work on the machine is lost.</a:t>
            </a:r>
            <a:endParaRPr lang="en-US" sz="1400" dirty="0"/>
          </a:p>
        </p:txBody>
      </p:sp>
      <p:sp>
        <p:nvSpPr>
          <p:cNvPr id="16" name="Panel"/>
          <p:cNvSpPr/>
          <p:nvPr/>
        </p:nvSpPr>
        <p:spPr>
          <a:xfrm>
            <a:off x="8183880" y="1783080"/>
            <a:ext cx="3456432" cy="4160520"/>
          </a:xfrm>
          <a:prstGeom prst="rect">
            <a:avLst/>
          </a:prstGeom>
          <a:solidFill>
            <a:srgbClr val="000000"/>
          </a:solidFill>
          <a:ln w="12700">
            <a:solidFill>
              <a:srgbClr val="000000"/>
            </a:solidFill>
            <a:prstDash val="solid"/>
          </a:ln>
        </p:spPr>
      </p:sp>
      <p:pic>
        <p:nvPicPr>
          <p:cNvPr id="17" name="Image 4" descr="/home/claude/deck/img/fp-loop-white.png">    </p:cNvPr>
          <p:cNvPicPr>
            <a:picLocks noChangeAspect="1"/>
          </p:cNvPicPr>
          <p:nvPr/>
        </p:nvPicPr>
        <p:blipFill>
          <a:blip r:embed="rId5"/>
          <a:stretch>
            <a:fillRect/>
          </a:stretch>
        </p:blipFill>
        <p:spPr>
          <a:xfrm>
            <a:off x="9829800" y="3108960"/>
            <a:ext cx="1737360" cy="2743200"/>
          </a:xfrm>
          <a:prstGeom prst="rect">
            <a:avLst/>
          </a:prstGeom>
        </p:spPr>
      </p:pic>
      <p:pic>
        <p:nvPicPr>
          <p:cNvPr id="18" name="Icon LuGithub" descr="/home/claude/deck/img/LuGithub-w.png">    </p:cNvPr>
          <p:cNvPicPr>
            <a:picLocks noChangeAspect="1"/>
          </p:cNvPicPr>
          <p:nvPr/>
        </p:nvPicPr>
        <p:blipFill>
          <a:blip r:embed="rId6"/>
          <a:stretch>
            <a:fillRect/>
          </a:stretch>
        </p:blipFill>
        <p:spPr>
          <a:xfrm>
            <a:off x="8503920" y="2103120"/>
            <a:ext cx="731520" cy="731520"/>
          </a:xfrm>
          <a:prstGeom prst="rect">
            <a:avLst/>
          </a:prstGeom>
        </p:spPr>
      </p:pic>
      <p:sp>
        <p:nvSpPr>
          <p:cNvPr id="19" name="Text 11"/>
          <p:cNvSpPr txBox="1"/>
          <p:nvPr/>
        </p:nvSpPr>
        <p:spPr>
          <a:xfrm>
            <a:off x="8503920" y="3063240"/>
            <a:ext cx="2926080" cy="50292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The safe </a:t>
            </a:r>
            <a:pPr indent="0" marL="0">
              <a:buNone/>
            </a:pPr>
            <a:r>
              <a:rPr lang="en-US" sz="2400" b="1" dirty="0">
                <a:solidFill>
                  <a:srgbClr val="E41E26"/>
                </a:solidFill>
                <a:latin typeface="Arial" pitchFamily="34" charset="0"/>
                <a:ea typeface="Arial" pitchFamily="34" charset="-122"/>
                <a:cs typeface="Arial" pitchFamily="34" charset="-120"/>
              </a:rPr>
              <a:t>habit</a:t>
            </a:r>
            <a:pPr indent="0" marL="0">
              <a:buNone/>
            </a:pPr>
            <a:r>
              <a:rPr lang="en-US" sz="2400" b="1" dirty="0">
                <a:solidFill>
                  <a:srgbClr val="E41E26"/>
                </a:solidFill>
                <a:latin typeface="Arial" pitchFamily="34" charset="0"/>
                <a:ea typeface="Arial" pitchFamily="34" charset="-122"/>
                <a:cs typeface="Arial" pitchFamily="34" charset="-120"/>
              </a:rPr>
              <a:t>.</a:t>
            </a:r>
            <a:endParaRPr lang="en-US" sz="2400" dirty="0"/>
          </a:p>
        </p:txBody>
      </p:sp>
      <p:sp>
        <p:nvSpPr>
          <p:cNvPr id="20" name="Text 12"/>
          <p:cNvSpPr txBox="1"/>
          <p:nvPr/>
        </p:nvSpPr>
        <p:spPr>
          <a:xfrm>
            <a:off x="8503920" y="3703320"/>
            <a:ext cx="2834640" cy="1463040"/>
          </a:xfrm>
          <a:prstGeom prst="rect">
            <a:avLst/>
          </a:prstGeom>
          <a:noFill/>
          <a:ln/>
        </p:spPr>
        <p:txBody>
          <a:bodyPr wrap="square" lIns="0" tIns="0" rIns="0" bIns="0" rtlCol="0" anchor="t"/>
          <a:lstStyle/>
          <a:p>
            <a:pPr indent="0" marL="0">
              <a:spcAft>
                <a:spcPts val="400"/>
              </a:spcAft>
              <a:buNone/>
            </a:pPr>
            <a:r>
              <a:rPr lang="en-US" sz="1600" dirty="0">
                <a:solidFill>
                  <a:srgbClr val="FFFFFF"/>
                </a:solidFill>
                <a:latin typeface="Cambria" pitchFamily="34" charset="0"/>
                <a:ea typeface="Cambria" pitchFamily="34" charset="-122"/>
                <a:cs typeface="Cambria" pitchFamily="34" charset="-120"/>
              </a:rPr>
              <a:t>Push to GitHub at every natural break, not just at the end of the day.</a:t>
            </a:r>
            <a:endParaRPr lang="en-US" sz="16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WHERE STUDENTS GO</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Getting </a:t>
            </a:r>
            <a:pPr indent="0" marL="0">
              <a:buNone/>
            </a:pPr>
            <a:r>
              <a:rPr lang="en-US" sz="3400" b="1" dirty="0">
                <a:solidFill>
                  <a:srgbClr val="E41E26"/>
                </a:solidFill>
                <a:latin typeface="Arial" pitchFamily="34" charset="0"/>
                <a:ea typeface="Arial" pitchFamily="34" charset="-122"/>
                <a:cs typeface="Arial" pitchFamily="34" charset="-120"/>
              </a:rPr>
              <a:t>help</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sp>
        <p:nvSpPr>
          <p:cNvPr id="4" name="Card In session"/>
          <p:cNvSpPr/>
          <p:nvPr/>
        </p:nvSpPr>
        <p:spPr>
          <a:xfrm>
            <a:off x="548640" y="1783080"/>
            <a:ext cx="3538728" cy="2926080"/>
          </a:xfrm>
          <a:prstGeom prst="rect">
            <a:avLst/>
          </a:prstGeom>
          <a:solidFill>
            <a:srgbClr val="EFEFEF"/>
          </a:solidFill>
          <a:ln w="12700">
            <a:solidFill>
              <a:srgbClr val="EFEFEF"/>
            </a:solidFill>
            <a:prstDash val="solid"/>
          </a:ln>
        </p:spPr>
      </p:sp>
      <p:pic>
        <p:nvPicPr>
          <p:cNvPr id="5" name="Icon LuHandHelping" descr="/home/claude/deck/img/LuHandHelping-k.png">    </p:cNvPr>
          <p:cNvPicPr>
            <a:picLocks noChangeAspect="1"/>
          </p:cNvPicPr>
          <p:nvPr/>
        </p:nvPicPr>
        <p:blipFill>
          <a:blip r:embed="rId1"/>
          <a:stretch>
            <a:fillRect/>
          </a:stretch>
        </p:blipFill>
        <p:spPr>
          <a:xfrm>
            <a:off x="822960" y="2057400"/>
            <a:ext cx="777240" cy="777240"/>
          </a:xfrm>
          <a:prstGeom prst="rect">
            <a:avLst/>
          </a:prstGeom>
        </p:spPr>
      </p:pic>
      <p:sp>
        <p:nvSpPr>
          <p:cNvPr id="6" name="Text 3"/>
          <p:cNvSpPr txBox="1"/>
          <p:nvPr/>
        </p:nvSpPr>
        <p:spPr>
          <a:xfrm>
            <a:off x="822960" y="3017520"/>
            <a:ext cx="2990088" cy="457200"/>
          </a:xfrm>
          <a:prstGeom prst="rect">
            <a:avLst/>
          </a:prstGeom>
          <a:noFill/>
          <a:ln/>
        </p:spPr>
        <p:txBody>
          <a:bodyPr wrap="square" lIns="0" tIns="0" rIns="0" bIns="0" rtlCol="0" anchor="t"/>
          <a:lstStyle/>
          <a:p>
            <a:pPr indent="0" marL="0">
              <a:buNone/>
            </a:pPr>
            <a:r>
              <a:rPr lang="en-US" sz="2000" b="1" dirty="0">
                <a:solidFill>
                  <a:srgbClr val="000000"/>
                </a:solidFill>
                <a:latin typeface="Arial" pitchFamily="34" charset="0"/>
                <a:ea typeface="Arial" pitchFamily="34" charset="-122"/>
                <a:cs typeface="Arial" pitchFamily="34" charset="-120"/>
              </a:rPr>
              <a:t>In session</a:t>
            </a:r>
            <a:endParaRPr lang="en-US" sz="2000" dirty="0"/>
          </a:p>
        </p:txBody>
      </p:sp>
      <p:sp>
        <p:nvSpPr>
          <p:cNvPr id="7" name="Text 4"/>
          <p:cNvSpPr txBox="1"/>
          <p:nvPr/>
        </p:nvSpPr>
        <p:spPr>
          <a:xfrm>
            <a:off x="822960" y="3520440"/>
            <a:ext cx="2990088" cy="1143000"/>
          </a:xfrm>
          <a:prstGeom prst="rect">
            <a:avLst/>
          </a:prstGeom>
          <a:noFill/>
          <a:ln/>
        </p:spPr>
        <p:txBody>
          <a:bodyPr wrap="square" lIns="0" tIns="0" rIns="0" bIns="0" rtlCol="0" anchor="t"/>
          <a:lstStyle/>
          <a:p>
            <a:pPr indent="0" marL="0">
              <a:spcAft>
                <a:spcPts val="400"/>
              </a:spcAft>
              <a:buNone/>
            </a:pPr>
            <a:r>
              <a:rPr lang="en-US" sz="1500" dirty="0">
                <a:solidFill>
                  <a:srgbClr val="262626"/>
                </a:solidFill>
                <a:latin typeface="Cambria" pitchFamily="34" charset="0"/>
                <a:ea typeface="Cambria" pitchFamily="34" charset="-122"/>
                <a:cs typeface="Cambria" pitchFamily="34" charset="-120"/>
              </a:rPr>
              <a:t>Ask the instructor. They can see the lab and take control of it to help.</a:t>
            </a:r>
            <a:endParaRPr lang="en-US" sz="1500" dirty="0"/>
          </a:p>
        </p:txBody>
      </p:sp>
      <p:sp>
        <p:nvSpPr>
          <p:cNvPr id="8" name="Card Out of session"/>
          <p:cNvSpPr/>
          <p:nvPr/>
        </p:nvSpPr>
        <p:spPr>
          <a:xfrm>
            <a:off x="4279392" y="1783080"/>
            <a:ext cx="3538728" cy="2926080"/>
          </a:xfrm>
          <a:prstGeom prst="rect">
            <a:avLst/>
          </a:prstGeom>
          <a:solidFill>
            <a:srgbClr val="EFEFEF"/>
          </a:solidFill>
          <a:ln w="12700">
            <a:solidFill>
              <a:srgbClr val="EFEFEF"/>
            </a:solidFill>
            <a:prstDash val="solid"/>
          </a:ln>
        </p:spPr>
      </p:sp>
      <p:pic>
        <p:nvPicPr>
          <p:cNvPr id="9" name="Icon LuMessagesSquare" descr="/home/claude/deck/img/LuMessagesSquare-k.png">    </p:cNvPr>
          <p:cNvPicPr>
            <a:picLocks noChangeAspect="1"/>
          </p:cNvPicPr>
          <p:nvPr/>
        </p:nvPicPr>
        <p:blipFill>
          <a:blip r:embed="rId2"/>
          <a:stretch>
            <a:fillRect/>
          </a:stretch>
        </p:blipFill>
        <p:spPr>
          <a:xfrm>
            <a:off x="4553712" y="2057400"/>
            <a:ext cx="777240" cy="777240"/>
          </a:xfrm>
          <a:prstGeom prst="rect">
            <a:avLst/>
          </a:prstGeom>
        </p:spPr>
      </p:pic>
      <p:sp>
        <p:nvSpPr>
          <p:cNvPr id="10" name="Text 6"/>
          <p:cNvSpPr txBox="1"/>
          <p:nvPr/>
        </p:nvSpPr>
        <p:spPr>
          <a:xfrm>
            <a:off x="4553712" y="3017520"/>
            <a:ext cx="2990088" cy="457200"/>
          </a:xfrm>
          <a:prstGeom prst="rect">
            <a:avLst/>
          </a:prstGeom>
          <a:noFill/>
          <a:ln/>
        </p:spPr>
        <p:txBody>
          <a:bodyPr wrap="square" lIns="0" tIns="0" rIns="0" bIns="0" rtlCol="0" anchor="t"/>
          <a:lstStyle/>
          <a:p>
            <a:pPr indent="0" marL="0">
              <a:buNone/>
            </a:pPr>
            <a:r>
              <a:rPr lang="en-US" sz="2000" b="1" dirty="0">
                <a:solidFill>
                  <a:srgbClr val="000000"/>
                </a:solidFill>
                <a:latin typeface="Arial" pitchFamily="34" charset="0"/>
                <a:ea typeface="Arial" pitchFamily="34" charset="-122"/>
                <a:cs typeface="Arial" pitchFamily="34" charset="-120"/>
              </a:rPr>
              <a:t>Out of session</a:t>
            </a:r>
            <a:endParaRPr lang="en-US" sz="2000" dirty="0"/>
          </a:p>
        </p:txBody>
      </p:sp>
      <p:sp>
        <p:nvSpPr>
          <p:cNvPr id="11" name="Text 7"/>
          <p:cNvSpPr txBox="1"/>
          <p:nvPr/>
        </p:nvSpPr>
        <p:spPr>
          <a:xfrm>
            <a:off x="4553712" y="3520440"/>
            <a:ext cx="2990088" cy="1143000"/>
          </a:xfrm>
          <a:prstGeom prst="rect">
            <a:avLst/>
          </a:prstGeom>
          <a:noFill/>
          <a:ln/>
        </p:spPr>
        <p:txBody>
          <a:bodyPr wrap="square" lIns="0" tIns="0" rIns="0" bIns="0" rtlCol="0" anchor="t"/>
          <a:lstStyle/>
          <a:p>
            <a:pPr indent="0" marL="0">
              <a:spcAft>
                <a:spcPts val="400"/>
              </a:spcAft>
              <a:buNone/>
            </a:pPr>
            <a:r>
              <a:rPr lang="en-US" sz="1500" dirty="0">
                <a:solidFill>
                  <a:srgbClr val="262626"/>
                </a:solidFill>
                <a:latin typeface="Cambria" pitchFamily="34" charset="0"/>
                <a:ea typeface="Cambria" pitchFamily="34" charset="-122"/>
                <a:cs typeface="Cambria" pitchFamily="34" charset="-120"/>
              </a:rPr>
              <a:t>Contact the program’s client success manager (CSM).</a:t>
            </a:r>
            <a:endParaRPr lang="en-US" sz="1500" dirty="0"/>
          </a:p>
        </p:txBody>
      </p:sp>
      <p:sp>
        <p:nvSpPr>
          <p:cNvPr id="12" name="Card Lab won’t load at all"/>
          <p:cNvSpPr/>
          <p:nvPr/>
        </p:nvSpPr>
        <p:spPr>
          <a:xfrm>
            <a:off x="8010144" y="1783080"/>
            <a:ext cx="3538728" cy="2926080"/>
          </a:xfrm>
          <a:prstGeom prst="rect">
            <a:avLst/>
          </a:prstGeom>
          <a:solidFill>
            <a:srgbClr val="EFEFEF"/>
          </a:solidFill>
          <a:ln w="12700">
            <a:solidFill>
              <a:srgbClr val="EFEFEF"/>
            </a:solidFill>
            <a:prstDash val="solid"/>
          </a:ln>
        </p:spPr>
      </p:sp>
      <p:pic>
        <p:nvPicPr>
          <p:cNvPr id="13" name="Icon LuLifeBuoy" descr="/home/claude/deck/img/LuLifeBuoy-k.png">    </p:cNvPr>
          <p:cNvPicPr>
            <a:picLocks noChangeAspect="1"/>
          </p:cNvPicPr>
          <p:nvPr/>
        </p:nvPicPr>
        <p:blipFill>
          <a:blip r:embed="rId3"/>
          <a:stretch>
            <a:fillRect/>
          </a:stretch>
        </p:blipFill>
        <p:spPr>
          <a:xfrm>
            <a:off x="8284464" y="2057400"/>
            <a:ext cx="777240" cy="777240"/>
          </a:xfrm>
          <a:prstGeom prst="rect">
            <a:avLst/>
          </a:prstGeom>
        </p:spPr>
      </p:pic>
      <p:sp>
        <p:nvSpPr>
          <p:cNvPr id="14" name="Text 9"/>
          <p:cNvSpPr txBox="1"/>
          <p:nvPr/>
        </p:nvSpPr>
        <p:spPr>
          <a:xfrm>
            <a:off x="8284464" y="3017520"/>
            <a:ext cx="2990088" cy="457200"/>
          </a:xfrm>
          <a:prstGeom prst="rect">
            <a:avLst/>
          </a:prstGeom>
          <a:noFill/>
          <a:ln/>
        </p:spPr>
        <p:txBody>
          <a:bodyPr wrap="square" lIns="0" tIns="0" rIns="0" bIns="0" rtlCol="0" anchor="t"/>
          <a:lstStyle/>
          <a:p>
            <a:pPr indent="0" marL="0">
              <a:buNone/>
            </a:pPr>
            <a:r>
              <a:rPr lang="en-US" sz="2000" b="1" dirty="0">
                <a:solidFill>
                  <a:srgbClr val="000000"/>
                </a:solidFill>
                <a:latin typeface="Arial" pitchFamily="34" charset="0"/>
                <a:ea typeface="Arial" pitchFamily="34" charset="-122"/>
                <a:cs typeface="Arial" pitchFamily="34" charset="-120"/>
              </a:rPr>
              <a:t>Lab won’t load at all</a:t>
            </a:r>
            <a:endParaRPr lang="en-US" sz="2000" dirty="0"/>
          </a:p>
        </p:txBody>
      </p:sp>
      <p:sp>
        <p:nvSpPr>
          <p:cNvPr id="15" name="Text 10"/>
          <p:cNvSpPr txBox="1"/>
          <p:nvPr/>
        </p:nvSpPr>
        <p:spPr>
          <a:xfrm>
            <a:off x="8284464" y="3520440"/>
            <a:ext cx="2990088" cy="1143000"/>
          </a:xfrm>
          <a:prstGeom prst="rect">
            <a:avLst/>
          </a:prstGeom>
          <a:noFill/>
          <a:ln/>
        </p:spPr>
        <p:txBody>
          <a:bodyPr wrap="square" lIns="0" tIns="0" rIns="0" bIns="0" rtlCol="0" anchor="t"/>
          <a:lstStyle/>
          <a:p>
            <a:pPr indent="0" marL="0">
              <a:spcAft>
                <a:spcPts val="400"/>
              </a:spcAft>
              <a:buNone/>
            </a:pPr>
            <a:r>
              <a:rPr lang="en-US" sz="1500" dirty="0">
                <a:solidFill>
                  <a:srgbClr val="262626"/>
                </a:solidFill>
                <a:latin typeface="Cambria" pitchFamily="34" charset="0"/>
                <a:ea typeface="Cambria" pitchFamily="34" charset="-122"/>
                <a:cs typeface="Cambria" pitchFamily="34" charset="-120"/>
              </a:rPr>
              <a:t>Check status.skillable.com, then contact the program’s CSM.</a:t>
            </a:r>
            <a:endParaRPr lang="en-US" sz="1500" dirty="0"/>
          </a:p>
        </p:txBody>
      </p:sp>
      <p:sp>
        <p:nvSpPr>
          <p:cNvPr id="16" name="Panel"/>
          <p:cNvSpPr/>
          <p:nvPr/>
        </p:nvSpPr>
        <p:spPr>
          <a:xfrm>
            <a:off x="548640" y="4983480"/>
            <a:ext cx="11094415" cy="960120"/>
          </a:xfrm>
          <a:prstGeom prst="rect">
            <a:avLst/>
          </a:prstGeom>
          <a:solidFill>
            <a:srgbClr val="000000"/>
          </a:solidFill>
          <a:ln w="12700">
            <a:solidFill>
              <a:srgbClr val="000000"/>
            </a:solidFill>
            <a:prstDash val="solid"/>
          </a:ln>
        </p:spPr>
      </p:sp>
      <p:sp>
        <p:nvSpPr>
          <p:cNvPr id="17" name="Text 12"/>
          <p:cNvSpPr txBox="1"/>
          <p:nvPr/>
        </p:nvSpPr>
        <p:spPr>
          <a:xfrm>
            <a:off x="868680" y="4983480"/>
            <a:ext cx="10515600" cy="960120"/>
          </a:xfrm>
          <a:prstGeom prst="rect">
            <a:avLst/>
          </a:prstGeom>
          <a:noFill/>
          <a:ln/>
        </p:spPr>
        <p:txBody>
          <a:bodyPr wrap="square" lIns="0" tIns="0" rIns="0" bIns="0" rtlCol="0" anchor="ctr"/>
          <a:lstStyle/>
          <a:p>
            <a:pPr indent="0" marL="0">
              <a:spcAft>
                <a:spcPts val="400"/>
              </a:spcAft>
              <a:buNone/>
            </a:pPr>
            <a:r>
              <a:rPr lang="en-US" sz="1700" b="1" dirty="0">
                <a:solidFill>
                  <a:srgbClr val="E41E26"/>
                </a:solidFill>
                <a:latin typeface="Arial" pitchFamily="34" charset="0"/>
                <a:ea typeface="Arial" pitchFamily="34" charset="-122"/>
                <a:cs typeface="Arial" pitchFamily="34" charset="-120"/>
              </a:rPr>
              <a:t>Students come to GA first, not Skillable. </a:t>
            </a:r>
            <a:pPr indent="0" marL="0">
              <a:spcAft>
                <a:spcPts val="400"/>
              </a:spcAft>
              <a:buNone/>
            </a:pPr>
            <a:r>
              <a:rPr lang="en-US" sz="1700" dirty="0">
                <a:solidFill>
                  <a:srgbClr val="FFFFFF"/>
                </a:solidFill>
                <a:latin typeface="Arial" pitchFamily="34" charset="0"/>
                <a:ea typeface="Arial" pitchFamily="34" charset="-122"/>
                <a:cs typeface="Arial" pitchFamily="34" charset="-120"/>
              </a:rPr>
              <a:t>We own the class, the accounts and the lab configuration.</a:t>
            </a:r>
            <a:endParaRPr lang="en-US" sz="17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GAry" descr="/home/claude/assets/gary-red.png">    </p:cNvPr>
          <p:cNvPicPr>
            <a:picLocks noChangeAspect="1"/>
          </p:cNvPicPr>
          <p:nvPr/>
        </p:nvPicPr>
        <p:blipFill>
          <a:blip r:embed="rId1"/>
          <a:stretch>
            <a:fillRect/>
          </a:stretch>
        </p:blipFill>
        <p:spPr>
          <a:xfrm>
            <a:off x="0" y="0"/>
            <a:ext cx="7854696" cy="6858000"/>
          </a:xfrm>
          <a:prstGeom prst="rect">
            <a:avLst/>
          </a:prstGeom>
        </p:spPr>
      </p:pic>
      <p:pic>
        <p:nvPicPr>
          <p:cNvPr id="3" name="Image 1" descr="/home/claude/assets/logo-red.png">    </p:cNvPr>
          <p:cNvPicPr>
            <a:picLocks noChangeAspect="1"/>
          </p:cNvPicPr>
          <p:nvPr/>
        </p:nvPicPr>
        <p:blipFill>
          <a:blip r:embed="rId2"/>
          <a:stretch>
            <a:fillRect/>
          </a:stretch>
        </p:blipFill>
        <p:spPr>
          <a:xfrm>
            <a:off x="9235440" y="548640"/>
            <a:ext cx="2404872" cy="300838"/>
          </a:xfrm>
          <a:prstGeom prst="rect">
            <a:avLst/>
          </a:prstGeom>
        </p:spPr>
      </p:pic>
      <p:sp>
        <p:nvSpPr>
          <p:cNvPr id="4" name="Text 0"/>
          <p:cNvSpPr txBox="1"/>
          <p:nvPr/>
        </p:nvSpPr>
        <p:spPr>
          <a:xfrm>
            <a:off x="7589520" y="2103120"/>
            <a:ext cx="4050792" cy="1097280"/>
          </a:xfrm>
          <a:prstGeom prst="rect">
            <a:avLst/>
          </a:prstGeom>
          <a:noFill/>
          <a:ln/>
        </p:spPr>
        <p:txBody>
          <a:bodyPr wrap="square" lIns="0" tIns="0" rIns="0" bIns="0" rtlCol="0" anchor="ctr"/>
          <a:lstStyle/>
          <a:p>
            <a:pPr algn="r" indent="0" marL="0">
              <a:buNone/>
            </a:pPr>
            <a:r>
              <a:rPr lang="en-US" sz="6000" b="1" dirty="0">
                <a:solidFill>
                  <a:srgbClr val="FFFFFF"/>
                </a:solidFill>
                <a:latin typeface="Arial" pitchFamily="34" charset="0"/>
                <a:ea typeface="Arial" pitchFamily="34" charset="-122"/>
                <a:cs typeface="Arial" pitchFamily="34" charset="-120"/>
              </a:rPr>
              <a:t>Questions</a:t>
            </a:r>
            <a:pPr algn="r" indent="0" marL="0">
              <a:buNone/>
            </a:pPr>
            <a:r>
              <a:rPr lang="en-US" sz="6000" b="1" dirty="0">
                <a:solidFill>
                  <a:srgbClr val="000000"/>
                </a:solidFill>
                <a:latin typeface="Arial" pitchFamily="34" charset="0"/>
                <a:ea typeface="Arial" pitchFamily="34" charset="-122"/>
                <a:cs typeface="Arial" pitchFamily="34" charset="-120"/>
              </a:rPr>
              <a:t>.</a:t>
            </a:r>
            <a:endParaRPr lang="en-US" sz="6000" dirty="0"/>
          </a:p>
        </p:txBody>
      </p:sp>
      <p:sp>
        <p:nvSpPr>
          <p:cNvPr id="5" name="Text 1"/>
          <p:cNvSpPr txBox="1"/>
          <p:nvPr/>
        </p:nvSpPr>
        <p:spPr>
          <a:xfrm>
            <a:off x="7589520" y="3429000"/>
            <a:ext cx="4050792" cy="1097280"/>
          </a:xfrm>
          <a:prstGeom prst="rect">
            <a:avLst/>
          </a:prstGeom>
          <a:noFill/>
          <a:ln/>
        </p:spPr>
        <p:txBody>
          <a:bodyPr wrap="square" lIns="0" tIns="0" rIns="0" bIns="0" rtlCol="0" anchor="ctr"/>
          <a:lstStyle/>
          <a:p>
            <a:pPr algn="r" indent="0" marL="0">
              <a:buNone/>
            </a:pPr>
            <a:r>
              <a:rPr lang="en-US" sz="1800" b="1" dirty="0">
                <a:solidFill>
                  <a:srgbClr val="FFFFFF"/>
                </a:solidFill>
                <a:latin typeface="Arial" pitchFamily="34" charset="0"/>
                <a:ea typeface="Arial" pitchFamily="34" charset="-122"/>
                <a:cs typeface="Arial" pitchFamily="34" charset="-120"/>
              </a:rPr>
              <a:t>Lauren Perez</a:t>
            </a:r>
            <a:endParaRPr lang="en-US" sz="1400" dirty="0"/>
          </a:p>
          <a:p>
            <a:pPr algn="r" indent="0" marL="0">
              <a:buNone/>
            </a:pPr>
            <a:r>
              <a:rPr lang="en-US" sz="1400" dirty="0">
                <a:solidFill>
                  <a:srgbClr val="FFFFFF"/>
                </a:solidFill>
                <a:latin typeface="Arial" pitchFamily="34" charset="0"/>
                <a:ea typeface="Arial" pitchFamily="34" charset="-122"/>
                <a:cs typeface="Arial" pitchFamily="34" charset="-120"/>
              </a:rPr>
              <a:t>Lab Platform Admin</a:t>
            </a:r>
            <a:endParaRPr lang="en-US" sz="1400" dirty="0"/>
          </a:p>
          <a:p>
            <a:pPr algn="r" indent="0" marL="0">
              <a:buNone/>
            </a:pPr>
            <a:r>
              <a:rPr lang="en-US" sz="1400" dirty="0">
                <a:solidFill>
                  <a:srgbClr val="FFFFFF"/>
                </a:solidFill>
                <a:latin typeface="Arial" pitchFamily="34" charset="0"/>
                <a:ea typeface="Arial" pitchFamily="34" charset="-122"/>
                <a:cs typeface="Arial" pitchFamily="34" charset="-120"/>
              </a:rPr>
              <a:t>lauren.perez@generalassemb.ly</a:t>
            </a:r>
            <a:endParaRPr lang="en-US" sz="1400" dirty="0"/>
          </a:p>
        </p:txBody>
      </p:sp>
      <p:sp>
        <p:nvSpPr>
          <p:cNvPr id="6" name="Text 2"/>
          <p:cNvSpPr txBox="1"/>
          <p:nvPr/>
        </p:nvSpPr>
        <p:spPr>
          <a:xfrm>
            <a:off x="7315200" y="5989320"/>
            <a:ext cx="4325112" cy="457200"/>
          </a:xfrm>
          <a:prstGeom prst="rect">
            <a:avLst/>
          </a:prstGeom>
          <a:noFill/>
          <a:ln/>
        </p:spPr>
        <p:txBody>
          <a:bodyPr wrap="square" lIns="0" tIns="0" rIns="0" bIns="0" rtlCol="0" anchor="ctr"/>
          <a:lstStyle/>
          <a:p>
            <a:pPr algn="r" indent="0" marL="0">
              <a:buNone/>
            </a:pPr>
            <a:r>
              <a:rPr lang="en-US" sz="1100" dirty="0">
                <a:solidFill>
                  <a:srgbClr val="FFFFFF"/>
                </a:solidFill>
                <a:latin typeface="Arial" pitchFamily="34" charset="0"/>
                <a:ea typeface="Arial" pitchFamily="34" charset="-122"/>
                <a:cs typeface="Arial" pitchFamily="34" charset="-120"/>
              </a:rPr>
              <a:t>Next reads: 04 Instructor onboarding  ·  02 How labs work  ·  09 Learner quick-start</a:t>
            </a:r>
            <a:endParaRPr lang="en-US" sz="1100" dirty="0"/>
          </a:p>
        </p:txBody>
      </p:sp>
    </p:spTree>
  </p:cSld>
  <p:clrMapOvr>
    <a:masterClrMapping/>
  </p:clrMapOvr>
</p:sld>
</file>

<file path=ppt/theme/theme1.xml><?xml version="1.0" encoding="utf-8"?>
<a:theme xmlns:a="http://schemas.openxmlformats.org/drawingml/2006/main" name="GA Brand">
  <a:themeElements>
    <a:clrScheme name="GA Brand">
      <a:dk1>
        <a:srgbClr val="000000"/>
      </a:dk1>
      <a:lt1>
        <a:srgbClr val="FFFFFF"/>
      </a:lt1>
      <a:dk2>
        <a:srgbClr val="262626"/>
      </a:dk2>
      <a:lt2>
        <a:srgbClr val="EFEFEF"/>
      </a:lt2>
      <a:accent1>
        <a:srgbClr val="E41E26"/>
      </a:accent1>
      <a:accent2>
        <a:srgbClr val="000000"/>
      </a:accent2>
      <a:accent3>
        <a:srgbClr val="595959"/>
      </a:accent3>
      <a:accent4>
        <a:srgbClr val="A6A6A6"/>
      </a:accent4>
      <a:accent5>
        <a:srgbClr val="FF484F"/>
      </a:accent5>
      <a:accent6>
        <a:srgbClr val="5C0702"/>
      </a:accent6>
      <a:hlink>
        <a:srgbClr val="E41E26"/>
      </a:hlink>
      <a:folHlink>
        <a:srgbClr val="5C0702"/>
      </a:folHlink>
    </a:clrScheme>
    <a:fontScheme name="GA Bran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mb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General Assembly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Student Experience on Skillable</dc:title>
  <dc:subject>PptxGenJS Presentation</dc:subject>
  <dc:creator>Lauren Perez, Lab Platform Admin</dc:creator>
  <cp:lastModifiedBy>Lauren Perez, Lab Platform Admin</cp:lastModifiedBy>
  <cp:revision>1</cp:revision>
  <dcterms:created xsi:type="dcterms:W3CDTF">2026-10-16T01:37:16Z</dcterms:created>
  <dcterms:modified xsi:type="dcterms:W3CDTF">2026-10-16T01:37:16Z</dcterms:modified>
</cp:coreProperties>
</file>