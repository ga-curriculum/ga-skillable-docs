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bcfd4fb-f4e5-90e7-6dc5-aa5f5bd7ba71}">
          <p14:sldIdLst>
            <p14:sldId id="256"/>
          </p14:sldIdLst>
        </p14:section>
        <p14:section name="The platform" id="{84e83c2a-dd0c-fb55-ca6d-a8e6232a0311}">
          <p14:sldIdLst>
            <p14:sldId id="257"/>
            <p14:sldId id="258"/>
            <p14:sldId id="259"/>
            <p14:sldId id="260"/>
          </p14:sldIdLst>
        </p14:section>
        <p14:section name="Getting set up" id="{176794c7-8f89-557d-898f-540e31cfbc29}">
          <p14:sldIdLst>
            <p14:sldId id="261"/>
            <p14:sldId id="262"/>
            <p14:sldId id="263"/>
            <p14:sldId id="264"/>
          </p14:sldIdLst>
        </p14:section>
        <p14:section name="Teaching" id="{e4b4430e-554d-3a2e-9d46-50ee04fff301}">
          <p14:sldIdLst>
            <p14:sldId id="265"/>
            <p14:sldId id="266"/>
            <p14:sldId id="267"/>
          </p14:sldIdLst>
        </p14:section>
        <p14:section name="Support" id="{7a2bb188-b613-31b7-dda7-fdb352a96be4}">
          <p14:sldIdLst>
            <p14:sldId id="268"/>
            <p14:sldId id="269"/>
          </p14:sldIdLst>
        </p14:section>
        <p14:section name="Close" id="{8a10a2f3-3a29-7d8c-c5d2-a545cba3b25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covers what Skillable is, how it differs from Whizlabs, and the day-to-day of teaching in TMS.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need nothing installed locally beyond a modern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is the workshop where labs are built; TMS is the classroom. Instructors live in TMS.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shift: with Skillable, if something's wrong in the lab, it's usually ours to fix. That's more control and more responsibility. With Whizlabs, at most an elevated login could show whether a learner launched their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access depends on your role. If you can't see something on these slides, ask the Lab Platform Admin to check your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the temporary password signs you out straight away. That is expected; sign back in with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My Calendar, select the class name to open the Class page, or use My Classes in the top navigation. The Class page shows dates, the roster, the course and its labs, and the Monitor Labs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Instructors can hold up to five saved labs with a 7-day save for demos and prep. Remember: your test lab is a copy too. Fixing something in it doesn't fix it for learners.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 enrolls in advance, CSMs handle last-minute adds, and instructors flag anyone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by "time since last activity" to spot learners who have stepped away and may be heading for an idle timeout. The default idle timeout is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some lab types only one connection works at a time. If both screens flicker, ask the learner to close their lab window while you work. The lab keeps running and they rejoin with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end-of-session push a ritual, 15 minutes before close. Then Save and Close or End, depending on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Lab Platform Admin's working hours, route issues through GA so there's one thread and one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Afterwards, send the ticket number to the Lab Platform Admin so it can be followed up during GA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reads: 02 How Skillable Labs Work, 03 cohort guide if relevant, 07 Glossary, and 11 for troubleshooting during live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A_LIGHT">
    <p:bg>
      <p:bgPr>
        <a:solidFill>
          <a:srgbClr val="FFFFFF"/>
        </a:solidFill>
      </p:bgPr>
    </p:bg>
    <p:spTree>
      <p:nvGrpSpPr>
        <p:cNvPr id="1" name=""/>
        <p:cNvGrpSpPr/>
        <p:nvPr/>
      </p:nvGrpSpPr>
      <p:grpSpPr>
        <a:xfrm>
          <a:off x="0" y="0"/>
          <a:ext cx="0" cy="0"/>
          <a:chOff x="0" y="0"/>
          <a:chExt cx="0" cy="0"/>
        </a:xfrm>
      </p:grpSpPr>
      <p:pic>
        <p:nvPicPr>
          <p:cNvPr id="2" name="Image 0" descr="/home/claude/assets/logo-light.png">    </p:cNvPr>
          <p:cNvPicPr>
            <a:picLocks noChangeAspect="1"/>
          </p:cNvPicPr>
          <p:nvPr/>
        </p:nvPicPr>
        <p:blipFill>
          <a:blip r:embed="rId1"/>
          <a:stretch>
            <a:fillRect/>
          </a:stretch>
        </p:blipFill>
        <p:spPr>
          <a:xfrm>
            <a:off x="10314432" y="6400800"/>
            <a:ext cx="1325880" cy="165506"/>
          </a:xfrm>
          <a:prstGeom prst="rect">
            <a:avLst/>
          </a:prstGeom>
        </p:spPr>
      </p:pic>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A_DARK">
    <p:bg>
      <p:bgPr>
        <a:solidFill>
          <a:srgbClr val="000000"/>
        </a:solidFill>
      </p:bgPr>
    </p:bg>
    <p:spTree>
      <p:nvGrpSpPr>
        <p:cNvPr id="1" name=""/>
        <p:cNvGrpSpPr/>
        <p:nvPr/>
      </p:nvGrpSpPr>
      <p:grpSpPr>
        <a:xfrm>
          <a:off x="0" y="0"/>
          <a:ext cx="0" cy="0"/>
          <a:chOff x="0" y="0"/>
          <a:chExt cx="0" cy="0"/>
        </a:xfrm>
      </p:grpSpPr>
      <p:pic>
        <p:nvPicPr>
          <p:cNvPr id="2" name="Image 0" descr="/home/claude/assets/logo-dark.png">    </p:cNvPr>
          <p:cNvPicPr>
            <a:picLocks noChangeAspect="1"/>
          </p:cNvPicPr>
          <p:nvPr/>
        </p:nvPicPr>
        <p:blipFill>
          <a:blip r:embed="rId1"/>
          <a:stretch>
            <a:fillRect/>
          </a:stretch>
        </p:blipFill>
        <p:spPr>
          <a:xfrm>
            <a:off x="10314432" y="6400800"/>
            <a:ext cx="1325880" cy="144475"/>
          </a:xfrm>
          <a:prstGeom prst="rect">
            <a:avLst/>
          </a:prstGeom>
        </p:spPr>
      </p:pic>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latin typeface="Arial"/>
                <a:ea typeface="Arial"/>
                <a:cs typeface="Aria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A_RED">
    <p:bg>
      <p:bgPr>
        <a:solidFill>
          <a:srgbClr val="E41E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Ary" descr="/home/claude/assets/gary-red.png">    </p:cNvPr>
          <p:cNvPicPr>
            <a:picLocks noChangeAspect="1"/>
          </p:cNvPicPr>
          <p:nvPr/>
        </p:nvPicPr>
        <p:blipFill>
          <a:blip r:embed="rId1"/>
          <a:stretch>
            <a:fillRect/>
          </a:stretch>
        </p:blipFill>
        <p:spPr>
          <a:xfrm>
            <a:off x="0" y="0"/>
            <a:ext cx="7854696" cy="6858000"/>
          </a:xfrm>
          <a:prstGeom prst="rect">
            <a:avLst/>
          </a:prstGeom>
        </p:spPr>
      </p:pic>
      <p:pic>
        <p:nvPicPr>
          <p:cNvPr id="3" name="Image 1" descr="/home/claude/assets/logo-red.png">    </p:cNvPr>
          <p:cNvPicPr>
            <a:picLocks noChangeAspect="1"/>
          </p:cNvPicPr>
          <p:nvPr/>
        </p:nvPicPr>
        <p:blipFill>
          <a:blip r:embed="rId2"/>
          <a:stretch>
            <a:fillRect/>
          </a:stretch>
        </p:blipFill>
        <p:spPr>
          <a:xfrm>
            <a:off x="9235440" y="548640"/>
            <a:ext cx="2404872" cy="300838"/>
          </a:xfrm>
          <a:prstGeom prst="rect">
            <a:avLst/>
          </a:prstGeom>
        </p:spPr>
      </p:pic>
      <p:sp>
        <p:nvSpPr>
          <p:cNvPr id="4" name="Eyebrow"/>
          <p:cNvSpPr txBox="1"/>
          <p:nvPr/>
        </p:nvSpPr>
        <p:spPr>
          <a:xfrm>
            <a:off x="8092440" y="1828800"/>
            <a:ext cx="3547872" cy="274320"/>
          </a:xfrm>
          <a:prstGeom prst="rect">
            <a:avLst/>
          </a:prstGeom>
          <a:noFill/>
          <a:ln/>
        </p:spPr>
        <p:txBody>
          <a:bodyPr wrap="square" lIns="0" tIns="0" rIns="0" bIns="0" rtlCol="0" anchor="ctr"/>
          <a:lstStyle/>
          <a:p>
            <a:pPr indent="0" marL="0">
              <a:buNone/>
            </a:pPr>
            <a:r>
              <a:rPr lang="en-US" sz="1200" b="1" spc="300" kern="0" dirty="0">
                <a:solidFill>
                  <a:srgbClr val="000000"/>
                </a:solidFill>
                <a:latin typeface="Arial" pitchFamily="34" charset="0"/>
                <a:ea typeface="Arial" pitchFamily="34" charset="-122"/>
                <a:cs typeface="Arial" pitchFamily="34" charset="-120"/>
              </a:rPr>
              <a:t>INSTRUCTOR ONBOARDING</a:t>
            </a:r>
            <a:endParaRPr lang="en-US" sz="1200" dirty="0"/>
          </a:p>
        </p:txBody>
      </p:sp>
      <p:sp>
        <p:nvSpPr>
          <p:cNvPr id="5" name="Title"/>
          <p:cNvSpPr txBox="1"/>
          <p:nvPr/>
        </p:nvSpPr>
        <p:spPr>
          <a:xfrm>
            <a:off x="8092440" y="2148840"/>
            <a:ext cx="3547872" cy="160020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Teaching on </a:t>
            </a:r>
            <a:pPr indent="0" marL="0">
              <a:buNone/>
            </a:pPr>
            <a:r>
              <a:rPr lang="en-US" sz="4200" b="1" dirty="0">
                <a:solidFill>
                  <a:srgbClr val="000000"/>
                </a:solidFill>
                <a:latin typeface="Arial" pitchFamily="34" charset="0"/>
                <a:ea typeface="Arial" pitchFamily="34" charset="-122"/>
                <a:cs typeface="Arial" pitchFamily="34" charset="-120"/>
              </a:rPr>
              <a:t>Skillable</a:t>
            </a:r>
            <a:pPr indent="0" marL="0">
              <a:buNone/>
            </a:pPr>
            <a:r>
              <a:rPr lang="en-US" sz="4200" b="1" dirty="0">
                <a:solidFill>
                  <a:srgbClr val="000000"/>
                </a:solidFill>
                <a:latin typeface="Arial" pitchFamily="34" charset="0"/>
                <a:ea typeface="Arial" pitchFamily="34" charset="-122"/>
                <a:cs typeface="Arial" pitchFamily="34" charset="-120"/>
              </a:rPr>
              <a:t>.</a:t>
            </a:r>
            <a:endParaRPr lang="en-US" sz="4200" dirty="0"/>
          </a:p>
        </p:txBody>
      </p:sp>
      <p:sp>
        <p:nvSpPr>
          <p:cNvPr id="6" name="Text 2"/>
          <p:cNvSpPr txBox="1"/>
          <p:nvPr/>
        </p:nvSpPr>
        <p:spPr>
          <a:xfrm>
            <a:off x="8092440" y="3840480"/>
            <a:ext cx="3547872" cy="1005840"/>
          </a:xfrm>
          <a:prstGeom prst="rect">
            <a:avLst/>
          </a:prstGeom>
          <a:noFill/>
          <a:ln/>
        </p:spPr>
        <p:txBody>
          <a:bodyPr wrap="square" lIns="0" tIns="0" rIns="0" bIns="0" rtlCol="0" anchor="t"/>
          <a:lstStyle/>
          <a:p>
            <a:pPr indent="0" marL="0">
              <a:spcAft>
                <a:spcPts val="400"/>
              </a:spcAft>
              <a:buNone/>
            </a:pPr>
            <a:r>
              <a:rPr lang="en-US" sz="1600" dirty="0">
                <a:solidFill>
                  <a:srgbClr val="FFFFFF"/>
                </a:solidFill>
                <a:latin typeface="Cambria" pitchFamily="34" charset="0"/>
                <a:ea typeface="Cambria" pitchFamily="34" charset="-122"/>
                <a:cs typeface="Cambria" pitchFamily="34" charset="-120"/>
              </a:rPr>
              <a:t>Skillable and TMS: how our labs work, where you’ll click, and who to call.</a:t>
            </a:r>
            <a:endParaRPr lang="en-US" sz="1600" dirty="0"/>
          </a:p>
        </p:txBody>
      </p:sp>
      <p:sp>
        <p:nvSpPr>
          <p:cNvPr id="7" name="Text 3"/>
          <p:cNvSpPr txBox="1"/>
          <p:nvPr/>
        </p:nvSpPr>
        <p:spPr>
          <a:xfrm>
            <a:off x="8092440" y="5029200"/>
            <a:ext cx="3547872" cy="5486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Lauren Perez</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Lab Platform Admin, General Assembly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THE PLATFORM</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Who is </a:t>
            </a:r>
            <a:pPr indent="0" marL="0">
              <a:buNone/>
            </a:pPr>
            <a:r>
              <a:rPr lang="en-US" sz="3400" b="1" dirty="0">
                <a:solidFill>
                  <a:srgbClr val="E41E26"/>
                </a:solidFill>
                <a:latin typeface="Arial" pitchFamily="34" charset="0"/>
                <a:ea typeface="Arial" pitchFamily="34" charset="-122"/>
                <a:cs typeface="Arial" pitchFamily="34" charset="-120"/>
              </a:rPr>
              <a:t>Skillable</a:t>
            </a:r>
            <a:pPr indent="0" marL="0">
              <a:buNone/>
            </a:pPr>
            <a:r>
              <a:rPr lang="en-US" sz="3400" b="1" dirty="0">
                <a:solidFill>
                  <a:srgbClr val="000000"/>
                </a:solidFill>
                <a:latin typeface="Arial" pitchFamily="34" charset="0"/>
                <a:ea typeface="Arial" pitchFamily="34" charset="-122"/>
                <a:cs typeface="Arial" pitchFamily="34" charset="-120"/>
              </a:rPr>
              <a:t>?</a:t>
            </a:r>
            <a:endParaRPr lang="en-US" sz="3400" dirty="0"/>
          </a:p>
        </p:txBody>
      </p:sp>
      <p:pic>
        <p:nvPicPr>
          <p:cNvPr id="4" name="Icon LuServer" descr="/home/claude/deck/img/LuServer-k.png">    </p:cNvPr>
          <p:cNvPicPr>
            <a:picLocks noChangeAspect="1"/>
          </p:cNvPicPr>
          <p:nvPr/>
        </p:nvPicPr>
        <p:blipFill>
          <a:blip r:embed="rId1"/>
          <a:stretch>
            <a:fillRect/>
          </a:stretch>
        </p:blipFill>
        <p:spPr>
          <a:xfrm>
            <a:off x="548640" y="1783080"/>
            <a:ext cx="731520" cy="731520"/>
          </a:xfrm>
          <a:prstGeom prst="rect">
            <a:avLst/>
          </a:prstGeom>
        </p:spPr>
      </p:pic>
      <p:sp>
        <p:nvSpPr>
          <p:cNvPr id="5" name="Text 2"/>
          <p:cNvSpPr txBox="1"/>
          <p:nvPr/>
        </p:nvSpPr>
        <p:spPr>
          <a:xfrm>
            <a:off x="1508760" y="1801368"/>
            <a:ext cx="5852160" cy="36576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A hands-on lab platform</a:t>
            </a:r>
            <a:endParaRPr lang="en-US" sz="1900" dirty="0"/>
          </a:p>
        </p:txBody>
      </p:sp>
      <p:sp>
        <p:nvSpPr>
          <p:cNvPr id="6" name="Text 3"/>
          <p:cNvSpPr txBox="1"/>
          <p:nvPr/>
        </p:nvSpPr>
        <p:spPr>
          <a:xfrm>
            <a:off x="1508760" y="2212848"/>
            <a:ext cx="5852160" cy="73152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It hosts virtual machines and cloud environments that learners use from a browser.</a:t>
            </a:r>
            <a:endParaRPr lang="en-US" sz="1500" dirty="0"/>
          </a:p>
        </p:txBody>
      </p:sp>
      <p:pic>
        <p:nvPicPr>
          <p:cNvPr id="7" name="Icon LuGraduationCap" descr="/home/claude/deck/img/LuGraduationCap-k.png">    </p:cNvPr>
          <p:cNvPicPr>
            <a:picLocks noChangeAspect="1"/>
          </p:cNvPicPr>
          <p:nvPr/>
        </p:nvPicPr>
        <p:blipFill>
          <a:blip r:embed="rId2"/>
          <a:stretch>
            <a:fillRect/>
          </a:stretch>
        </p:blipFill>
        <p:spPr>
          <a:xfrm>
            <a:off x="548640" y="3154680"/>
            <a:ext cx="731520" cy="731520"/>
          </a:xfrm>
          <a:prstGeom prst="rect">
            <a:avLst/>
          </a:prstGeom>
        </p:spPr>
      </p:pic>
      <p:sp>
        <p:nvSpPr>
          <p:cNvPr id="8" name="Text 4"/>
          <p:cNvSpPr txBox="1"/>
          <p:nvPr/>
        </p:nvSpPr>
        <p:spPr>
          <a:xfrm>
            <a:off x="1508760" y="3172968"/>
            <a:ext cx="5852160" cy="36576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Built for real-environment practice</a:t>
            </a:r>
            <a:endParaRPr lang="en-US" sz="1900" dirty="0"/>
          </a:p>
        </p:txBody>
      </p:sp>
      <p:sp>
        <p:nvSpPr>
          <p:cNvPr id="9" name="Text 5"/>
          <p:cNvSpPr txBox="1"/>
          <p:nvPr/>
        </p:nvSpPr>
        <p:spPr>
          <a:xfrm>
            <a:off x="1508760" y="3584448"/>
            <a:ext cx="5852160" cy="73152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Used by software vendors and training providers to deliver hands-on learning.</a:t>
            </a:r>
            <a:endParaRPr lang="en-US" sz="1500" dirty="0"/>
          </a:p>
        </p:txBody>
      </p:sp>
      <p:pic>
        <p:nvPicPr>
          <p:cNvPr id="10" name="Icon LuHammer" descr="/home/claude/deck/img/LuHammer-k.png">    </p:cNvPr>
          <p:cNvPicPr>
            <a:picLocks noChangeAspect="1"/>
          </p:cNvPicPr>
          <p:nvPr/>
        </p:nvPicPr>
        <p:blipFill>
          <a:blip r:embed="rId3"/>
          <a:stretch>
            <a:fillRect/>
          </a:stretch>
        </p:blipFill>
        <p:spPr>
          <a:xfrm>
            <a:off x="548640" y="4526280"/>
            <a:ext cx="731520" cy="731520"/>
          </a:xfrm>
          <a:prstGeom prst="rect">
            <a:avLst/>
          </a:prstGeom>
        </p:spPr>
      </p:pic>
      <p:sp>
        <p:nvSpPr>
          <p:cNvPr id="11" name="Text 6"/>
          <p:cNvSpPr txBox="1"/>
          <p:nvPr/>
        </p:nvSpPr>
        <p:spPr>
          <a:xfrm>
            <a:off x="1508760" y="4544568"/>
            <a:ext cx="5852160" cy="36576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Labs GA designs and builds</a:t>
            </a:r>
            <a:endParaRPr lang="en-US" sz="1900" dirty="0"/>
          </a:p>
        </p:txBody>
      </p:sp>
      <p:sp>
        <p:nvSpPr>
          <p:cNvPr id="12" name="Text 7"/>
          <p:cNvSpPr txBox="1"/>
          <p:nvPr/>
        </p:nvSpPr>
        <p:spPr>
          <a:xfrm>
            <a:off x="1508760" y="4956048"/>
            <a:ext cx="5852160" cy="73152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We run custom labs we design ourselves, delivered to our client cohorts.</a:t>
            </a:r>
            <a:endParaRPr lang="en-US" sz="1500" dirty="0"/>
          </a:p>
        </p:txBody>
      </p:sp>
      <p:sp>
        <p:nvSpPr>
          <p:cNvPr id="13" name="Panel"/>
          <p:cNvSpPr/>
          <p:nvPr/>
        </p:nvSpPr>
        <p:spPr>
          <a:xfrm>
            <a:off x="7863840" y="1783080"/>
            <a:ext cx="3776472" cy="4160520"/>
          </a:xfrm>
          <a:prstGeom prst="rect">
            <a:avLst/>
          </a:prstGeom>
          <a:solidFill>
            <a:srgbClr val="000000"/>
          </a:solidFill>
          <a:ln w="12700">
            <a:solidFill>
              <a:srgbClr val="000000"/>
            </a:solidFill>
            <a:prstDash val="solid"/>
          </a:ln>
        </p:spPr>
      </p:sp>
      <p:pic>
        <p:nvPicPr>
          <p:cNvPr id="14" name="Image 3" descr="/home/claude/deck/img/fp-arch-white.png">    </p:cNvPr>
          <p:cNvPicPr>
            <a:picLocks noChangeAspect="1"/>
          </p:cNvPicPr>
          <p:nvPr/>
        </p:nvPicPr>
        <p:blipFill>
          <a:blip r:embed="rId4"/>
          <a:stretch>
            <a:fillRect/>
          </a:stretch>
        </p:blipFill>
        <p:spPr>
          <a:xfrm>
            <a:off x="9692640" y="3291840"/>
            <a:ext cx="1783080" cy="2560320"/>
          </a:xfrm>
          <a:prstGeom prst="rect">
            <a:avLst/>
          </a:prstGeom>
        </p:spPr>
      </p:pic>
      <p:sp>
        <p:nvSpPr>
          <p:cNvPr id="15" name="Text 9"/>
          <p:cNvSpPr txBox="1"/>
          <p:nvPr/>
        </p:nvSpPr>
        <p:spPr>
          <a:xfrm>
            <a:off x="8183880" y="2103120"/>
            <a:ext cx="32004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DELIVERED TO COHORTS AT</a:t>
            </a:r>
            <a:endParaRPr lang="en-US" sz="1000" dirty="0"/>
          </a:p>
        </p:txBody>
      </p:sp>
      <p:sp>
        <p:nvSpPr>
          <p:cNvPr id="16" name="Text 10"/>
          <p:cNvSpPr txBox="1"/>
          <p:nvPr/>
        </p:nvSpPr>
        <p:spPr>
          <a:xfrm>
            <a:off x="8183880" y="2514600"/>
            <a:ext cx="301752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Lloyds</a:t>
            </a:r>
            <a:endParaRPr lang="en-US" sz="2600" dirty="0"/>
          </a:p>
        </p:txBody>
      </p:sp>
      <p:sp>
        <p:nvSpPr>
          <p:cNvPr id="17" name="Text 11"/>
          <p:cNvSpPr txBox="1"/>
          <p:nvPr/>
        </p:nvSpPr>
        <p:spPr>
          <a:xfrm>
            <a:off x="8183880" y="3200400"/>
            <a:ext cx="301752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HSBC</a:t>
            </a:r>
            <a:endParaRPr lang="en-US" sz="2600" dirty="0"/>
          </a:p>
        </p:txBody>
      </p:sp>
      <p:sp>
        <p:nvSpPr>
          <p:cNvPr id="18" name="Text 12"/>
          <p:cNvSpPr txBox="1"/>
          <p:nvPr/>
        </p:nvSpPr>
        <p:spPr>
          <a:xfrm>
            <a:off x="8183880" y="3886200"/>
            <a:ext cx="301752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McKinsey MTA</a:t>
            </a:r>
            <a:endParaRPr lang="en-US" sz="2600" dirty="0"/>
          </a:p>
        </p:txBody>
      </p:sp>
      <p:sp>
        <p:nvSpPr>
          <p:cNvPr id="19" name="Text 13"/>
          <p:cNvSpPr txBox="1"/>
          <p:nvPr/>
        </p:nvSpPr>
        <p:spPr>
          <a:xfrm>
            <a:off x="8183880" y="4800600"/>
            <a:ext cx="3017520" cy="822960"/>
          </a:xfrm>
          <a:prstGeom prst="rect">
            <a:avLst/>
          </a:prstGeom>
          <a:noFill/>
          <a:ln/>
        </p:spPr>
        <p:txBody>
          <a:bodyPr wrap="square" lIns="0" tIns="0" rIns="0" bIns="0" rtlCol="0" anchor="t"/>
          <a:lstStyle/>
          <a:p>
            <a:pPr indent="0" marL="0">
              <a:spcAft>
                <a:spcPts val="400"/>
              </a:spcAft>
              <a:buNone/>
            </a:pPr>
            <a:r>
              <a:rPr lang="en-US" sz="1400" dirty="0">
                <a:solidFill>
                  <a:srgbClr val="D9D9D9"/>
                </a:solidFill>
                <a:latin typeface="Cambria" pitchFamily="34" charset="0"/>
                <a:ea typeface="Cambria" pitchFamily="34" charset="-122"/>
                <a:cs typeface="Cambria" pitchFamily="34" charset="-120"/>
              </a:rPr>
              <a:t>Learners need nothing installed beyond a modern browser.</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STUDIO AND TMS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Two products, </a:t>
            </a:r>
            <a:pPr indent="0" marL="0">
              <a:buNone/>
            </a:pPr>
            <a:r>
              <a:rPr lang="en-US" sz="3400" b="1" dirty="0">
                <a:solidFill>
                  <a:srgbClr val="E41E26"/>
                </a:solidFill>
                <a:latin typeface="Arial" pitchFamily="34" charset="0"/>
                <a:ea typeface="Arial" pitchFamily="34" charset="-122"/>
                <a:cs typeface="Arial" pitchFamily="34" charset="-120"/>
              </a:rPr>
              <a:t>two jobs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5404104" cy="3108960"/>
          </a:xfrm>
          <a:prstGeom prst="rect">
            <a:avLst/>
          </a:prstGeom>
          <a:solidFill>
            <a:srgbClr val="EFEFEF"/>
          </a:solidFill>
          <a:ln w="12700">
            <a:solidFill>
              <a:srgbClr val="EFEFEF"/>
            </a:solidFill>
            <a:prstDash val="solid"/>
          </a:ln>
        </p:spPr>
      </p:sp>
      <p:pic>
        <p:nvPicPr>
          <p:cNvPr id="5" name="Icon LuWrench" descr="/home/claude/deck/img/LuWrench-k.png">    </p:cNvPr>
          <p:cNvPicPr>
            <a:picLocks noChangeAspect="1"/>
          </p:cNvPicPr>
          <p:nvPr/>
        </p:nvPicPr>
        <p:blipFill>
          <a:blip r:embed="rId1"/>
          <a:stretch>
            <a:fillRect/>
          </a:stretch>
        </p:blipFill>
        <p:spPr>
          <a:xfrm>
            <a:off x="868680" y="2057400"/>
            <a:ext cx="731520" cy="731520"/>
          </a:xfrm>
          <a:prstGeom prst="rect">
            <a:avLst/>
          </a:prstGeom>
        </p:spPr>
      </p:pic>
      <p:sp>
        <p:nvSpPr>
          <p:cNvPr id="6" name="Text 3"/>
          <p:cNvSpPr txBox="1"/>
          <p:nvPr/>
        </p:nvSpPr>
        <p:spPr>
          <a:xfrm>
            <a:off x="1828800" y="2057400"/>
            <a:ext cx="3931920" cy="411480"/>
          </a:xfrm>
          <a:prstGeom prst="rect">
            <a:avLst/>
          </a:prstGeom>
          <a:noFill/>
          <a:ln/>
        </p:spPr>
        <p:txBody>
          <a:bodyPr wrap="square" lIns="0" tIns="0" rIns="0" bIns="0" rtlCol="0" anchor="ctr"/>
          <a:lstStyle/>
          <a:p>
            <a:pPr indent="0" marL="0">
              <a:buNone/>
            </a:pPr>
            <a:r>
              <a:rPr lang="en-US" sz="2200" b="1" dirty="0">
                <a:solidFill>
                  <a:srgbClr val="000000"/>
                </a:solidFill>
                <a:latin typeface="Arial" pitchFamily="34" charset="0"/>
                <a:ea typeface="Arial" pitchFamily="34" charset="-122"/>
                <a:cs typeface="Arial" pitchFamily="34" charset="-120"/>
              </a:rPr>
              <a:t>Skillable Studio</a:t>
            </a:r>
            <a:endParaRPr lang="en-US" sz="2200" dirty="0"/>
          </a:p>
        </p:txBody>
      </p:sp>
      <p:sp>
        <p:nvSpPr>
          <p:cNvPr id="7" name="Text 4"/>
          <p:cNvSpPr txBox="1"/>
          <p:nvPr/>
        </p:nvSpPr>
        <p:spPr>
          <a:xfrm>
            <a:off x="1828800" y="2468880"/>
            <a:ext cx="3931920" cy="365760"/>
          </a:xfrm>
          <a:prstGeom prst="rect">
            <a:avLst/>
          </a:prstGeom>
          <a:noFill/>
          <a:ln/>
        </p:spPr>
        <p:txBody>
          <a:bodyPr wrap="square" lIns="0" tIns="0" rIns="0" bIns="0" rtlCol="0" anchor="ctr"/>
          <a:lstStyle/>
          <a:p>
            <a:pPr indent="0" marL="0">
              <a:buNone/>
            </a:pPr>
            <a:r>
              <a:rPr lang="en-US" sz="1600" i="1" dirty="0">
                <a:solidFill>
                  <a:srgbClr val="E41E26"/>
                </a:solidFill>
                <a:latin typeface="Cambria" pitchFamily="34" charset="0"/>
                <a:ea typeface="Cambria" pitchFamily="34" charset="-122"/>
                <a:cs typeface="Cambria" pitchFamily="34" charset="-120"/>
              </a:rPr>
              <a:t>The workshop</a:t>
            </a:r>
            <a:endParaRPr lang="en-US" sz="1600" dirty="0"/>
          </a:p>
        </p:txBody>
      </p:sp>
      <p:sp>
        <p:nvSpPr>
          <p:cNvPr id="8" name="Text 5"/>
          <p:cNvSpPr txBox="1"/>
          <p:nvPr/>
        </p:nvSpPr>
        <p:spPr>
          <a:xfrm>
            <a:off x="868680" y="3108960"/>
            <a:ext cx="36576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WHAT HAPPENS THERE</a:t>
            </a:r>
            <a:endParaRPr lang="en-US" sz="1000" dirty="0"/>
          </a:p>
        </p:txBody>
      </p:sp>
      <p:sp>
        <p:nvSpPr>
          <p:cNvPr id="9" name="Text 6"/>
          <p:cNvSpPr txBox="1"/>
          <p:nvPr/>
        </p:nvSpPr>
        <p:spPr>
          <a:xfrm>
            <a:off x="868680" y="3364992"/>
            <a:ext cx="4754880" cy="64008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VM images, lab settings, instructions, activities and scoring are built here.</a:t>
            </a:r>
            <a:endParaRPr lang="en-US" sz="1500" dirty="0"/>
          </a:p>
        </p:txBody>
      </p:sp>
      <p:sp>
        <p:nvSpPr>
          <p:cNvPr id="10" name="Text 7"/>
          <p:cNvSpPr txBox="1"/>
          <p:nvPr/>
        </p:nvSpPr>
        <p:spPr>
          <a:xfrm>
            <a:off x="868680" y="4069080"/>
            <a:ext cx="36576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WHO USES IT AT GA</a:t>
            </a:r>
            <a:endParaRPr lang="en-US" sz="1000" dirty="0"/>
          </a:p>
        </p:txBody>
      </p:sp>
      <p:sp>
        <p:nvSpPr>
          <p:cNvPr id="11" name="Text 8"/>
          <p:cNvSpPr txBox="1"/>
          <p:nvPr/>
        </p:nvSpPr>
        <p:spPr>
          <a:xfrm>
            <a:off x="868680" y="4325112"/>
            <a:ext cx="4754880" cy="365760"/>
          </a:xfrm>
          <a:prstGeom prst="rect">
            <a:avLst/>
          </a:prstGeom>
          <a:noFill/>
          <a:ln/>
        </p:spPr>
        <p:txBody>
          <a:bodyPr wrap="square" lIns="0" tIns="0" rIns="0" bIns="0" rtlCol="0" anchor="t"/>
          <a:lstStyle/>
          <a:p>
            <a:pPr indent="0" marL="0">
              <a:spcAft>
                <a:spcPts val="400"/>
              </a:spcAft>
              <a:buNone/>
            </a:pPr>
            <a:r>
              <a:rPr lang="en-US" sz="1500" b="1" dirty="0">
                <a:solidFill>
                  <a:srgbClr val="000000"/>
                </a:solidFill>
                <a:latin typeface="Cambria" pitchFamily="34" charset="0"/>
                <a:ea typeface="Cambria" pitchFamily="34" charset="-122"/>
                <a:cs typeface="Cambria" pitchFamily="34" charset="-120"/>
              </a:rPr>
              <a:t>The Lab Platform Admin only</a:t>
            </a:r>
            <a:endParaRPr lang="en-US" sz="1500" dirty="0"/>
          </a:p>
        </p:txBody>
      </p:sp>
      <p:sp>
        <p:nvSpPr>
          <p:cNvPr id="12" name="Panel"/>
          <p:cNvSpPr/>
          <p:nvPr/>
        </p:nvSpPr>
        <p:spPr>
          <a:xfrm>
            <a:off x="6236208" y="1783080"/>
            <a:ext cx="5404104" cy="3108960"/>
          </a:xfrm>
          <a:prstGeom prst="rect">
            <a:avLst/>
          </a:prstGeom>
          <a:solidFill>
            <a:srgbClr val="000000"/>
          </a:solidFill>
          <a:ln w="12700">
            <a:solidFill>
              <a:srgbClr val="000000"/>
            </a:solidFill>
            <a:prstDash val="solid"/>
          </a:ln>
        </p:spPr>
      </p:sp>
      <p:pic>
        <p:nvPicPr>
          <p:cNvPr id="13" name="Icon LuSchool" descr="/home/claude/deck/img/LuSchool-w.png">    </p:cNvPr>
          <p:cNvPicPr>
            <a:picLocks noChangeAspect="1"/>
          </p:cNvPicPr>
          <p:nvPr/>
        </p:nvPicPr>
        <p:blipFill>
          <a:blip r:embed="rId2"/>
          <a:stretch>
            <a:fillRect/>
          </a:stretch>
        </p:blipFill>
        <p:spPr>
          <a:xfrm>
            <a:off x="6556248" y="2057400"/>
            <a:ext cx="731520" cy="731520"/>
          </a:xfrm>
          <a:prstGeom prst="rect">
            <a:avLst/>
          </a:prstGeom>
        </p:spPr>
      </p:pic>
      <p:sp>
        <p:nvSpPr>
          <p:cNvPr id="14" name="Text 10"/>
          <p:cNvSpPr txBox="1"/>
          <p:nvPr/>
        </p:nvSpPr>
        <p:spPr>
          <a:xfrm>
            <a:off x="7516368" y="2057400"/>
            <a:ext cx="393192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Skillable TMS</a:t>
            </a:r>
            <a:endParaRPr lang="en-US" sz="2200" dirty="0"/>
          </a:p>
        </p:txBody>
      </p:sp>
      <p:sp>
        <p:nvSpPr>
          <p:cNvPr id="15" name="Text 11"/>
          <p:cNvSpPr txBox="1"/>
          <p:nvPr/>
        </p:nvSpPr>
        <p:spPr>
          <a:xfrm>
            <a:off x="7516368" y="2468880"/>
            <a:ext cx="3931920" cy="365760"/>
          </a:xfrm>
          <a:prstGeom prst="rect">
            <a:avLst/>
          </a:prstGeom>
          <a:noFill/>
          <a:ln/>
        </p:spPr>
        <p:txBody>
          <a:bodyPr wrap="square" lIns="0" tIns="0" rIns="0" bIns="0" rtlCol="0" anchor="ctr"/>
          <a:lstStyle/>
          <a:p>
            <a:pPr indent="0" marL="0">
              <a:buNone/>
            </a:pPr>
            <a:r>
              <a:rPr lang="en-US" sz="1600" i="1" dirty="0">
                <a:solidFill>
                  <a:srgbClr val="E41E26"/>
                </a:solidFill>
                <a:latin typeface="Cambria" pitchFamily="34" charset="0"/>
                <a:ea typeface="Cambria" pitchFamily="34" charset="-122"/>
                <a:cs typeface="Cambria" pitchFamily="34" charset="-120"/>
              </a:rPr>
              <a:t>The classroom</a:t>
            </a:r>
            <a:endParaRPr lang="en-US" sz="1600" dirty="0"/>
          </a:p>
        </p:txBody>
      </p:sp>
      <p:sp>
        <p:nvSpPr>
          <p:cNvPr id="16" name="Text 12"/>
          <p:cNvSpPr txBox="1"/>
          <p:nvPr/>
        </p:nvSpPr>
        <p:spPr>
          <a:xfrm>
            <a:off x="6556248" y="3108960"/>
            <a:ext cx="36576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WHAT HAPPENS THERE</a:t>
            </a:r>
            <a:endParaRPr lang="en-US" sz="1000" dirty="0"/>
          </a:p>
        </p:txBody>
      </p:sp>
      <p:sp>
        <p:nvSpPr>
          <p:cNvPr id="17" name="Text 13"/>
          <p:cNvSpPr txBox="1"/>
          <p:nvPr/>
        </p:nvSpPr>
        <p:spPr>
          <a:xfrm>
            <a:off x="6556248" y="3364992"/>
            <a:ext cx="4754880" cy="64008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Cambria" pitchFamily="34" charset="0"/>
                <a:ea typeface="Cambria" pitchFamily="34" charset="-122"/>
                <a:cs typeface="Cambria" pitchFamily="34" charset="-120"/>
              </a:rPr>
              <a:t>Users, classes, enrollments, monitoring and reporting live here.</a:t>
            </a:r>
            <a:endParaRPr lang="en-US" sz="1500" dirty="0"/>
          </a:p>
        </p:txBody>
      </p:sp>
      <p:sp>
        <p:nvSpPr>
          <p:cNvPr id="18" name="Text 14"/>
          <p:cNvSpPr txBox="1"/>
          <p:nvPr/>
        </p:nvSpPr>
        <p:spPr>
          <a:xfrm>
            <a:off x="6556248" y="4069080"/>
            <a:ext cx="36576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WHO USES IT AT GA</a:t>
            </a:r>
            <a:endParaRPr lang="en-US" sz="1000" dirty="0"/>
          </a:p>
        </p:txBody>
      </p:sp>
      <p:sp>
        <p:nvSpPr>
          <p:cNvPr id="19" name="Text 15"/>
          <p:cNvSpPr txBox="1"/>
          <p:nvPr/>
        </p:nvSpPr>
        <p:spPr>
          <a:xfrm>
            <a:off x="6556248" y="4325112"/>
            <a:ext cx="4754880" cy="36576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Cambria" pitchFamily="34" charset="0"/>
                <a:ea typeface="Cambria" pitchFamily="34" charset="-122"/>
                <a:cs typeface="Cambria" pitchFamily="34" charset="-120"/>
              </a:rPr>
              <a:t>Instructors, ops, CSMs and students</a:t>
            </a:r>
            <a:endParaRPr lang="en-US" sz="1500" dirty="0"/>
          </a:p>
        </p:txBody>
      </p:sp>
      <p:sp>
        <p:nvSpPr>
          <p:cNvPr id="20" name="Panel"/>
          <p:cNvSpPr/>
          <p:nvPr/>
        </p:nvSpPr>
        <p:spPr>
          <a:xfrm>
            <a:off x="548640" y="5120640"/>
            <a:ext cx="11094415" cy="822960"/>
          </a:xfrm>
          <a:prstGeom prst="rect">
            <a:avLst/>
          </a:prstGeom>
          <a:solidFill>
            <a:srgbClr val="E41E26"/>
          </a:solidFill>
          <a:ln w="12700">
            <a:solidFill>
              <a:srgbClr val="E41E26"/>
            </a:solidFill>
            <a:prstDash val="solid"/>
          </a:ln>
        </p:spPr>
      </p:sp>
      <p:sp>
        <p:nvSpPr>
          <p:cNvPr id="21" name="Text 17"/>
          <p:cNvSpPr txBox="1"/>
          <p:nvPr/>
        </p:nvSpPr>
        <p:spPr>
          <a:xfrm>
            <a:off x="868680" y="5120640"/>
            <a:ext cx="10515600" cy="82296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Arial" pitchFamily="34" charset="0"/>
                <a:ea typeface="Arial" pitchFamily="34" charset="-122"/>
                <a:cs typeface="Arial" pitchFamily="34" charset="-120"/>
              </a:rPr>
              <a:t>Instructors live in TMS. </a:t>
            </a:r>
            <a:pPr indent="0" marL="0">
              <a:spcAft>
                <a:spcPts val="400"/>
              </a:spcAft>
              <a:buNone/>
            </a:pPr>
            <a:r>
              <a:rPr lang="en-US" sz="1700" dirty="0">
                <a:solidFill>
                  <a:srgbClr val="FFFFFF"/>
                </a:solidFill>
                <a:latin typeface="Arial" pitchFamily="34" charset="0"/>
                <a:ea typeface="Arial" pitchFamily="34" charset="-122"/>
                <a:cs typeface="Arial" pitchFamily="34" charset="-120"/>
              </a:rPr>
              <a:t>You’ll never need Studio. If something needs changing there, contact the Lab Platform Admin.</a:t>
            </a:r>
            <a:endParaRPr lang="en-US" sz="17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WHAT CHANGES FOR YOU</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How Skillable differs from </a:t>
            </a:r>
            <a:pPr indent="0" marL="0">
              <a:buNone/>
            </a:pPr>
            <a:r>
              <a:rPr lang="en-US" sz="3400" b="1" dirty="0">
                <a:solidFill>
                  <a:srgbClr val="E41E26"/>
                </a:solidFill>
                <a:latin typeface="Arial" pitchFamily="34" charset="0"/>
                <a:ea typeface="Arial" pitchFamily="34" charset="-122"/>
                <a:cs typeface="Arial" pitchFamily="34" charset="-120"/>
              </a:rPr>
              <a:t>Whizlabs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4343400"/>
                <a:gridCol w="4370832"/>
              </a:tblGrid>
              <a:tr h="548640">
                <a:tc>
                  <a:txBody>
                    <a:bodyPr/>
                    <a:lstStyle/>
                    <a:p>
                      <a:pPr indent="0" marL="0">
                        <a:buNone/>
                      </a:pPr>
                      <a:endParaRPr lang="en-US" sz="13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Whizlabs</a:t>
                      </a:r>
                      <a:endParaRPr lang="en-US" sz="13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Skillable</a:t>
                      </a:r>
                      <a:endParaRPr lang="en-US" sz="13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41E26"/>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Content</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Pre-built catalog of labs and cloud sandboxes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Labs GA designs and builds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Environment</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Vendor-defined</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GA-defined VM images and settings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Changes</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Limited to what the catalog offers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We can change tools, steps, timing, scoring</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Class management</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Learner accounts on Whizlabs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Our own TMS classes, enrollments and monitoring</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Instructor visibility</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Essentially none: screen shares and learner credentials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Live monitoring and take-control from TMS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00000"/>
                          </a:solidFill>
                          <a:latin typeface="Arial" pitchFamily="34" charset="0"/>
                          <a:ea typeface="Arial" pitchFamily="34" charset="-122"/>
                          <a:cs typeface="Arial" pitchFamily="34" charset="-120"/>
                        </a:rPr>
                        <a:t>Who fixes problems</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Vendor</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GA first; Skillable for platform issues</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WHO CAN DO WHAT</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Roles in </a:t>
            </a:r>
            <a:pPr indent="0" marL="0">
              <a:buNone/>
            </a:pPr>
            <a:r>
              <a:rPr lang="en-US" sz="3400" b="1" dirty="0">
                <a:solidFill>
                  <a:srgbClr val="E41E26"/>
                </a:solidFill>
                <a:latin typeface="Arial" pitchFamily="34" charset="0"/>
                <a:ea typeface="Arial" pitchFamily="34" charset="-122"/>
                <a:cs typeface="Arial" pitchFamily="34" charset="-120"/>
              </a:rPr>
              <a:t>TMS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2103120" cy="3657600"/>
          </a:xfrm>
          <a:prstGeom prst="rect">
            <a:avLst/>
          </a:prstGeom>
          <a:solidFill>
            <a:srgbClr val="EFEFEF"/>
          </a:solidFill>
          <a:ln w="12700">
            <a:solidFill>
              <a:srgbClr val="EFEFEF"/>
            </a:solidFill>
            <a:prstDash val="solid"/>
          </a:ln>
        </p:spPr>
      </p:sp>
      <p:pic>
        <p:nvPicPr>
          <p:cNvPr id="5" name="Icon LuSettings" descr="/home/claude/deck/img/LuSettings-k.png">    </p:cNvPr>
          <p:cNvPicPr>
            <a:picLocks noChangeAspect="1"/>
          </p:cNvPicPr>
          <p:nvPr/>
        </p:nvPicPr>
        <p:blipFill>
          <a:blip r:embed="rId1"/>
          <a:stretch>
            <a:fillRect/>
          </a:stretch>
        </p:blipFill>
        <p:spPr>
          <a:xfrm>
            <a:off x="777240" y="2011680"/>
            <a:ext cx="685800" cy="685800"/>
          </a:xfrm>
          <a:prstGeom prst="rect">
            <a:avLst/>
          </a:prstGeom>
        </p:spPr>
      </p:pic>
      <p:sp>
        <p:nvSpPr>
          <p:cNvPr id="6" name="Text 3"/>
          <p:cNvSpPr txBox="1"/>
          <p:nvPr/>
        </p:nvSpPr>
        <p:spPr>
          <a:xfrm>
            <a:off x="777240" y="2880360"/>
            <a:ext cx="1737360" cy="64008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Administrator</a:t>
            </a:r>
            <a:endParaRPr lang="en-US" sz="1700" dirty="0"/>
          </a:p>
        </p:txBody>
      </p:sp>
      <p:sp>
        <p:nvSpPr>
          <p:cNvPr id="7" name="Text 4"/>
          <p:cNvSpPr txBox="1"/>
          <p:nvPr/>
        </p:nvSpPr>
        <p:spPr>
          <a:xfrm>
            <a:off x="777240" y="3566160"/>
            <a:ext cx="169164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Manages users, classes and enrollments</a:t>
            </a:r>
            <a:endParaRPr lang="en-US" sz="1400" dirty="0"/>
          </a:p>
        </p:txBody>
      </p:sp>
      <p:sp>
        <p:nvSpPr>
          <p:cNvPr id="8" name="Text 5"/>
          <p:cNvSpPr txBox="1"/>
          <p:nvPr/>
        </p:nvSpPr>
        <p:spPr>
          <a:xfrm>
            <a:off x="777240" y="4937760"/>
            <a:ext cx="1737360" cy="27432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GA OPS</a:t>
            </a:r>
            <a:endParaRPr lang="en-US" sz="1000" dirty="0"/>
          </a:p>
        </p:txBody>
      </p:sp>
      <p:sp>
        <p:nvSpPr>
          <p:cNvPr id="9" name="Panel"/>
          <p:cNvSpPr/>
          <p:nvPr/>
        </p:nvSpPr>
        <p:spPr>
          <a:xfrm>
            <a:off x="2788920" y="1783080"/>
            <a:ext cx="2103120" cy="3657600"/>
          </a:xfrm>
          <a:prstGeom prst="rect">
            <a:avLst/>
          </a:prstGeom>
          <a:solidFill>
            <a:srgbClr val="EFEFEF"/>
          </a:solidFill>
          <a:ln w="12700">
            <a:solidFill>
              <a:srgbClr val="EFEFEF"/>
            </a:solidFill>
            <a:prstDash val="solid"/>
          </a:ln>
        </p:spPr>
      </p:sp>
      <p:pic>
        <p:nvPicPr>
          <p:cNvPr id="10" name="Icon LuUsers" descr="/home/claude/deck/img/LuUsers-k.png">    </p:cNvPr>
          <p:cNvPicPr>
            <a:picLocks noChangeAspect="1"/>
          </p:cNvPicPr>
          <p:nvPr/>
        </p:nvPicPr>
        <p:blipFill>
          <a:blip r:embed="rId2"/>
          <a:stretch>
            <a:fillRect/>
          </a:stretch>
        </p:blipFill>
        <p:spPr>
          <a:xfrm>
            <a:off x="3017520" y="2011680"/>
            <a:ext cx="685800" cy="685800"/>
          </a:xfrm>
          <a:prstGeom prst="rect">
            <a:avLst/>
          </a:prstGeom>
        </p:spPr>
      </p:pic>
      <p:sp>
        <p:nvSpPr>
          <p:cNvPr id="11" name="Text 7"/>
          <p:cNvSpPr txBox="1"/>
          <p:nvPr/>
        </p:nvSpPr>
        <p:spPr>
          <a:xfrm>
            <a:off x="3017520" y="2880360"/>
            <a:ext cx="1737360" cy="64008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Operations Manager</a:t>
            </a:r>
            <a:endParaRPr lang="en-US" sz="1700" dirty="0"/>
          </a:p>
        </p:txBody>
      </p:sp>
      <p:sp>
        <p:nvSpPr>
          <p:cNvPr id="12" name="Text 8"/>
          <p:cNvSpPr txBox="1"/>
          <p:nvPr/>
        </p:nvSpPr>
        <p:spPr>
          <a:xfrm>
            <a:off x="3017520" y="3566160"/>
            <a:ext cx="169164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Enrolls last-minute learners and connects them to classes</a:t>
            </a:r>
            <a:endParaRPr lang="en-US" sz="1400" dirty="0"/>
          </a:p>
        </p:txBody>
      </p:sp>
      <p:sp>
        <p:nvSpPr>
          <p:cNvPr id="13" name="Text 9"/>
          <p:cNvSpPr txBox="1"/>
          <p:nvPr/>
        </p:nvSpPr>
        <p:spPr>
          <a:xfrm>
            <a:off x="3017520" y="4937760"/>
            <a:ext cx="1737360" cy="27432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CSMS</a:t>
            </a:r>
            <a:endParaRPr lang="en-US" sz="1000" dirty="0"/>
          </a:p>
        </p:txBody>
      </p:sp>
      <p:sp>
        <p:nvSpPr>
          <p:cNvPr id="14" name="Panel"/>
          <p:cNvSpPr/>
          <p:nvPr/>
        </p:nvSpPr>
        <p:spPr>
          <a:xfrm>
            <a:off x="5029200" y="1783080"/>
            <a:ext cx="2103120" cy="3657600"/>
          </a:xfrm>
          <a:prstGeom prst="rect">
            <a:avLst/>
          </a:prstGeom>
          <a:solidFill>
            <a:srgbClr val="000000"/>
          </a:solidFill>
          <a:ln w="12700">
            <a:solidFill>
              <a:srgbClr val="000000"/>
            </a:solidFill>
            <a:prstDash val="solid"/>
          </a:ln>
        </p:spPr>
      </p:sp>
      <p:pic>
        <p:nvPicPr>
          <p:cNvPr id="15" name="Icon LuGraduationCap" descr="/home/claude/deck/img/LuGraduationCap-w.png">    </p:cNvPr>
          <p:cNvPicPr>
            <a:picLocks noChangeAspect="1"/>
          </p:cNvPicPr>
          <p:nvPr/>
        </p:nvPicPr>
        <p:blipFill>
          <a:blip r:embed="rId3"/>
          <a:stretch>
            <a:fillRect/>
          </a:stretch>
        </p:blipFill>
        <p:spPr>
          <a:xfrm>
            <a:off x="5257800" y="2011680"/>
            <a:ext cx="685800" cy="685800"/>
          </a:xfrm>
          <a:prstGeom prst="rect">
            <a:avLst/>
          </a:prstGeom>
        </p:spPr>
      </p:pic>
      <p:sp>
        <p:nvSpPr>
          <p:cNvPr id="16" name="Text 11"/>
          <p:cNvSpPr txBox="1"/>
          <p:nvPr/>
        </p:nvSpPr>
        <p:spPr>
          <a:xfrm>
            <a:off x="5257800" y="2880360"/>
            <a:ext cx="1737360" cy="6400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Instructor</a:t>
            </a:r>
            <a:endParaRPr lang="en-US" sz="1700" dirty="0"/>
          </a:p>
        </p:txBody>
      </p:sp>
      <p:sp>
        <p:nvSpPr>
          <p:cNvPr id="17" name="Text 12"/>
          <p:cNvSpPr txBox="1"/>
          <p:nvPr/>
        </p:nvSpPr>
        <p:spPr>
          <a:xfrm>
            <a:off x="5257800" y="3566160"/>
            <a:ext cx="1691640" cy="1188720"/>
          </a:xfrm>
          <a:prstGeom prst="rect">
            <a:avLst/>
          </a:prstGeom>
          <a:noFill/>
          <a:ln/>
        </p:spPr>
        <p:txBody>
          <a:bodyPr wrap="square" lIns="0" tIns="0" rIns="0" bIns="0" rtlCol="0" anchor="t"/>
          <a:lstStyle/>
          <a:p>
            <a:pPr indent="0" marL="0">
              <a:spcAft>
                <a:spcPts val="400"/>
              </a:spcAft>
              <a:buNone/>
            </a:pPr>
            <a:r>
              <a:rPr lang="en-US" sz="1400" dirty="0">
                <a:solidFill>
                  <a:srgbClr val="D9D9D9"/>
                </a:solidFill>
                <a:latin typeface="Cambria" pitchFamily="34" charset="0"/>
                <a:ea typeface="Cambria" pitchFamily="34" charset="-122"/>
                <a:cs typeface="Cambria" pitchFamily="34" charset="-120"/>
              </a:rPr>
              <a:t>Runs classes, monitors and assists learner labs</a:t>
            </a:r>
            <a:endParaRPr lang="en-US" sz="1400" dirty="0"/>
          </a:p>
        </p:txBody>
      </p:sp>
      <p:sp>
        <p:nvSpPr>
          <p:cNvPr id="18" name="Text 13"/>
          <p:cNvSpPr txBox="1"/>
          <p:nvPr/>
        </p:nvSpPr>
        <p:spPr>
          <a:xfrm>
            <a:off x="5257800" y="4937760"/>
            <a:ext cx="1737360" cy="27432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YOU</a:t>
            </a:r>
            <a:endParaRPr lang="en-US" sz="1000" dirty="0"/>
          </a:p>
        </p:txBody>
      </p:sp>
      <p:sp>
        <p:nvSpPr>
          <p:cNvPr id="19" name="Panel"/>
          <p:cNvSpPr/>
          <p:nvPr/>
        </p:nvSpPr>
        <p:spPr>
          <a:xfrm>
            <a:off x="7269480" y="1783080"/>
            <a:ext cx="2103120" cy="3657600"/>
          </a:xfrm>
          <a:prstGeom prst="rect">
            <a:avLst/>
          </a:prstGeom>
          <a:solidFill>
            <a:srgbClr val="EFEFEF"/>
          </a:solidFill>
          <a:ln w="12700">
            <a:solidFill>
              <a:srgbClr val="EFEFEF"/>
            </a:solidFill>
            <a:prstDash val="solid"/>
          </a:ln>
        </p:spPr>
      </p:sp>
      <p:pic>
        <p:nvPicPr>
          <p:cNvPr id="20" name="Icon LuLaptop" descr="/home/claude/deck/img/LuLaptop-k.png">    </p:cNvPr>
          <p:cNvPicPr>
            <a:picLocks noChangeAspect="1"/>
          </p:cNvPicPr>
          <p:nvPr/>
        </p:nvPicPr>
        <p:blipFill>
          <a:blip r:embed="rId4"/>
          <a:stretch>
            <a:fillRect/>
          </a:stretch>
        </p:blipFill>
        <p:spPr>
          <a:xfrm>
            <a:off x="7498080" y="2011680"/>
            <a:ext cx="685800" cy="685800"/>
          </a:xfrm>
          <a:prstGeom prst="rect">
            <a:avLst/>
          </a:prstGeom>
        </p:spPr>
      </p:pic>
      <p:sp>
        <p:nvSpPr>
          <p:cNvPr id="21" name="Text 15"/>
          <p:cNvSpPr txBox="1"/>
          <p:nvPr/>
        </p:nvSpPr>
        <p:spPr>
          <a:xfrm>
            <a:off x="7498080" y="2880360"/>
            <a:ext cx="1737360" cy="64008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Student</a:t>
            </a:r>
            <a:endParaRPr lang="en-US" sz="1700" dirty="0"/>
          </a:p>
        </p:txBody>
      </p:sp>
      <p:sp>
        <p:nvSpPr>
          <p:cNvPr id="22" name="Text 16"/>
          <p:cNvSpPr txBox="1"/>
          <p:nvPr/>
        </p:nvSpPr>
        <p:spPr>
          <a:xfrm>
            <a:off x="7498080" y="3566160"/>
            <a:ext cx="169164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Takes classes and launches labs</a:t>
            </a:r>
            <a:endParaRPr lang="en-US" sz="1400" dirty="0"/>
          </a:p>
        </p:txBody>
      </p:sp>
      <p:sp>
        <p:nvSpPr>
          <p:cNvPr id="23" name="Text 17"/>
          <p:cNvSpPr txBox="1"/>
          <p:nvPr/>
        </p:nvSpPr>
        <p:spPr>
          <a:xfrm>
            <a:off x="7498080" y="4937760"/>
            <a:ext cx="1737360" cy="27432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LEARNERS</a:t>
            </a:r>
            <a:endParaRPr lang="en-US" sz="1000" dirty="0"/>
          </a:p>
        </p:txBody>
      </p:sp>
      <p:sp>
        <p:nvSpPr>
          <p:cNvPr id="24" name="Panel"/>
          <p:cNvSpPr/>
          <p:nvPr/>
        </p:nvSpPr>
        <p:spPr>
          <a:xfrm>
            <a:off x="9509760" y="1783080"/>
            <a:ext cx="2103120" cy="3657600"/>
          </a:xfrm>
          <a:prstGeom prst="rect">
            <a:avLst/>
          </a:prstGeom>
          <a:solidFill>
            <a:srgbClr val="EFEFEF"/>
          </a:solidFill>
          <a:ln w="12700">
            <a:solidFill>
              <a:srgbClr val="EFEFEF"/>
            </a:solidFill>
            <a:prstDash val="solid"/>
          </a:ln>
        </p:spPr>
      </p:sp>
      <p:pic>
        <p:nvPicPr>
          <p:cNvPr id="25" name="Icon LuChartColumn" descr="/home/claude/deck/img/LuChartColumn-k.png">    </p:cNvPr>
          <p:cNvPicPr>
            <a:picLocks noChangeAspect="1"/>
          </p:cNvPicPr>
          <p:nvPr/>
        </p:nvPicPr>
        <p:blipFill>
          <a:blip r:embed="rId5"/>
          <a:stretch>
            <a:fillRect/>
          </a:stretch>
        </p:blipFill>
        <p:spPr>
          <a:xfrm>
            <a:off x="9738360" y="2011680"/>
            <a:ext cx="685800" cy="685800"/>
          </a:xfrm>
          <a:prstGeom prst="rect">
            <a:avLst/>
          </a:prstGeom>
        </p:spPr>
      </p:pic>
      <p:sp>
        <p:nvSpPr>
          <p:cNvPr id="26" name="Text 19"/>
          <p:cNvSpPr txBox="1"/>
          <p:nvPr/>
        </p:nvSpPr>
        <p:spPr>
          <a:xfrm>
            <a:off x="9738360" y="2880360"/>
            <a:ext cx="1737360" cy="64008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Lab Report Viewer</a:t>
            </a:r>
            <a:endParaRPr lang="en-US" sz="1700" dirty="0"/>
          </a:p>
        </p:txBody>
      </p:sp>
      <p:sp>
        <p:nvSpPr>
          <p:cNvPr id="27" name="Text 20"/>
          <p:cNvSpPr txBox="1"/>
          <p:nvPr/>
        </p:nvSpPr>
        <p:spPr>
          <a:xfrm>
            <a:off x="9738360" y="3566160"/>
            <a:ext cx="1691640" cy="118872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Reports on progress, completions and scores</a:t>
            </a:r>
            <a:endParaRPr lang="en-US" sz="1400" dirty="0"/>
          </a:p>
        </p:txBody>
      </p:sp>
      <p:sp>
        <p:nvSpPr>
          <p:cNvPr id="28" name="Text 21"/>
          <p:cNvSpPr txBox="1"/>
          <p:nvPr/>
        </p:nvSpPr>
        <p:spPr>
          <a:xfrm>
            <a:off x="9738360" y="4937760"/>
            <a:ext cx="1737360" cy="27432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CSMS, WHERE GRANTED</a:t>
            </a:r>
            <a:endParaRPr lang="en-US" sz="1000" dirty="0"/>
          </a:p>
        </p:txBody>
      </p:sp>
      <p:sp>
        <p:nvSpPr>
          <p:cNvPr id="29" name="Text 22"/>
          <p:cNvSpPr txBox="1"/>
          <p:nvPr/>
        </p:nvSpPr>
        <p:spPr>
          <a:xfrm>
            <a:off x="548640" y="5623560"/>
            <a:ext cx="10972800" cy="36576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Can’t see something on these slides? </a:t>
            </a:r>
            <a:pPr indent="0" marL="0">
              <a:spcAft>
                <a:spcPts val="400"/>
              </a:spcAft>
              <a:buNone/>
            </a:pPr>
            <a:r>
              <a:rPr lang="en-US" sz="1400" dirty="0">
                <a:solidFill>
                  <a:srgbClr val="000000"/>
                </a:solidFill>
                <a:latin typeface="Cambria" pitchFamily="34" charset="0"/>
                <a:ea typeface="Cambria" pitchFamily="34" charset="-122"/>
                <a:cs typeface="Cambria" pitchFamily="34" charset="-120"/>
              </a:rPr>
              <a:t>Your access depends on your role. Ask the Lab Platform Admin to check it.</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FOUR STEPS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Your first </a:t>
            </a:r>
            <a:pPr indent="0" marL="0">
              <a:buNone/>
            </a:pPr>
            <a:r>
              <a:rPr lang="en-US" sz="3400" b="1" dirty="0">
                <a:solidFill>
                  <a:srgbClr val="E41E26"/>
                </a:solidFill>
                <a:latin typeface="Arial" pitchFamily="34" charset="0"/>
                <a:ea typeface="Arial" pitchFamily="34" charset="-122"/>
                <a:cs typeface="Arial" pitchFamily="34" charset="-120"/>
              </a:rPr>
              <a:t>login</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2606040" cy="3291840"/>
          </a:xfrm>
          <a:prstGeom prst="rect">
            <a:avLst/>
          </a:prstGeom>
          <a:solidFill>
            <a:srgbClr val="EFEFEF"/>
          </a:solidFill>
          <a:ln w="12700">
            <a:solidFill>
              <a:srgbClr val="EFEFEF"/>
            </a:solidFill>
            <a:prstDash val="solid"/>
          </a:ln>
        </p:spPr>
      </p:sp>
      <p:sp>
        <p:nvSpPr>
          <p:cNvPr id="5" name="Text 3"/>
          <p:cNvSpPr txBox="1"/>
          <p:nvPr/>
        </p:nvSpPr>
        <p:spPr>
          <a:xfrm>
            <a:off x="822960" y="1965960"/>
            <a:ext cx="1371600" cy="82296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01</a:t>
            </a:r>
            <a:endParaRPr lang="en-US" sz="4400" dirty="0"/>
          </a:p>
        </p:txBody>
      </p:sp>
      <p:sp>
        <p:nvSpPr>
          <p:cNvPr id="6" name="Text 4"/>
          <p:cNvSpPr txBox="1"/>
          <p:nvPr/>
        </p:nvSpPr>
        <p:spPr>
          <a:xfrm>
            <a:off x="822960" y="2880360"/>
            <a:ext cx="2148840" cy="6858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Sign in</a:t>
            </a:r>
            <a:endParaRPr lang="en-US" sz="1800" dirty="0"/>
          </a:p>
        </p:txBody>
      </p:sp>
      <p:sp>
        <p:nvSpPr>
          <p:cNvPr id="7" name="Text 5"/>
          <p:cNvSpPr txBox="1"/>
          <p:nvPr/>
        </p:nvSpPr>
        <p:spPr>
          <a:xfrm>
            <a:off x="822960" y="3611880"/>
            <a:ext cx="2103120" cy="12801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At the TMS sign-in page, with the details GA sends you</a:t>
            </a:r>
            <a:endParaRPr lang="en-US" sz="1400" dirty="0"/>
          </a:p>
        </p:txBody>
      </p:sp>
      <p:sp>
        <p:nvSpPr>
          <p:cNvPr id="8" name="Panel"/>
          <p:cNvSpPr/>
          <p:nvPr/>
        </p:nvSpPr>
        <p:spPr>
          <a:xfrm>
            <a:off x="3346704" y="1783080"/>
            <a:ext cx="2606040" cy="3291840"/>
          </a:xfrm>
          <a:prstGeom prst="rect">
            <a:avLst/>
          </a:prstGeom>
          <a:solidFill>
            <a:srgbClr val="EFEFEF"/>
          </a:solidFill>
          <a:ln w="12700">
            <a:solidFill>
              <a:srgbClr val="EFEFEF"/>
            </a:solidFill>
            <a:prstDash val="solid"/>
          </a:ln>
        </p:spPr>
      </p:sp>
      <p:sp>
        <p:nvSpPr>
          <p:cNvPr id="9" name="Text 7"/>
          <p:cNvSpPr txBox="1"/>
          <p:nvPr/>
        </p:nvSpPr>
        <p:spPr>
          <a:xfrm>
            <a:off x="3621024" y="1965960"/>
            <a:ext cx="1371600" cy="82296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02</a:t>
            </a:r>
            <a:endParaRPr lang="en-US" sz="4400" dirty="0"/>
          </a:p>
        </p:txBody>
      </p:sp>
      <p:sp>
        <p:nvSpPr>
          <p:cNvPr id="10" name="Text 8"/>
          <p:cNvSpPr txBox="1"/>
          <p:nvPr/>
        </p:nvSpPr>
        <p:spPr>
          <a:xfrm>
            <a:off x="3621024" y="2880360"/>
            <a:ext cx="2148840" cy="6858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Change your password</a:t>
            </a:r>
            <a:endParaRPr lang="en-US" sz="1800" dirty="0"/>
          </a:p>
        </p:txBody>
      </p:sp>
      <p:sp>
        <p:nvSpPr>
          <p:cNvPr id="11" name="Text 9"/>
          <p:cNvSpPr txBox="1"/>
          <p:nvPr/>
        </p:nvSpPr>
        <p:spPr>
          <a:xfrm>
            <a:off x="3621024" y="3611880"/>
            <a:ext cx="2103120" cy="12801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When prompted. This signs you out; sign back in</a:t>
            </a:r>
            <a:endParaRPr lang="en-US" sz="1400" dirty="0"/>
          </a:p>
        </p:txBody>
      </p:sp>
      <p:sp>
        <p:nvSpPr>
          <p:cNvPr id="12" name="Panel"/>
          <p:cNvSpPr/>
          <p:nvPr/>
        </p:nvSpPr>
        <p:spPr>
          <a:xfrm>
            <a:off x="6144768" y="1783080"/>
            <a:ext cx="2606040" cy="3291840"/>
          </a:xfrm>
          <a:prstGeom prst="rect">
            <a:avLst/>
          </a:prstGeom>
          <a:solidFill>
            <a:srgbClr val="EFEFEF"/>
          </a:solidFill>
          <a:ln w="12700">
            <a:solidFill>
              <a:srgbClr val="EFEFEF"/>
            </a:solidFill>
            <a:prstDash val="solid"/>
          </a:ln>
        </p:spPr>
      </p:sp>
      <p:sp>
        <p:nvSpPr>
          <p:cNvPr id="13" name="Text 11"/>
          <p:cNvSpPr txBox="1"/>
          <p:nvPr/>
        </p:nvSpPr>
        <p:spPr>
          <a:xfrm>
            <a:off x="6419088" y="1965960"/>
            <a:ext cx="1371600" cy="82296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03</a:t>
            </a:r>
            <a:endParaRPr lang="en-US" sz="4400" dirty="0"/>
          </a:p>
        </p:txBody>
      </p:sp>
      <p:sp>
        <p:nvSpPr>
          <p:cNvPr id="14" name="Text 12"/>
          <p:cNvSpPr txBox="1"/>
          <p:nvPr/>
        </p:nvSpPr>
        <p:spPr>
          <a:xfrm>
            <a:off x="6419088" y="2880360"/>
            <a:ext cx="2148840" cy="68580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Land on your dashboard</a:t>
            </a:r>
            <a:endParaRPr lang="en-US" sz="1800" dirty="0"/>
          </a:p>
        </p:txBody>
      </p:sp>
      <p:sp>
        <p:nvSpPr>
          <p:cNvPr id="15" name="Text 13"/>
          <p:cNvSpPr txBox="1"/>
          <p:nvPr/>
        </p:nvSpPr>
        <p:spPr>
          <a:xfrm>
            <a:off x="6419088" y="3611880"/>
            <a:ext cx="2103120" cy="12801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Your starting point every time</a:t>
            </a:r>
            <a:endParaRPr lang="en-US" sz="1400" dirty="0"/>
          </a:p>
        </p:txBody>
      </p:sp>
      <p:sp>
        <p:nvSpPr>
          <p:cNvPr id="16" name="Panel"/>
          <p:cNvSpPr/>
          <p:nvPr/>
        </p:nvSpPr>
        <p:spPr>
          <a:xfrm>
            <a:off x="8942832" y="1783080"/>
            <a:ext cx="2606040" cy="3291840"/>
          </a:xfrm>
          <a:prstGeom prst="rect">
            <a:avLst/>
          </a:prstGeom>
          <a:solidFill>
            <a:srgbClr val="000000"/>
          </a:solidFill>
          <a:ln w="12700">
            <a:solidFill>
              <a:srgbClr val="000000"/>
            </a:solidFill>
            <a:prstDash val="solid"/>
          </a:ln>
        </p:spPr>
      </p:sp>
      <p:sp>
        <p:nvSpPr>
          <p:cNvPr id="17" name="Text 15"/>
          <p:cNvSpPr txBox="1"/>
          <p:nvPr/>
        </p:nvSpPr>
        <p:spPr>
          <a:xfrm>
            <a:off x="9217152" y="1965960"/>
            <a:ext cx="1371600" cy="822960"/>
          </a:xfrm>
          <a:prstGeom prst="rect">
            <a:avLst/>
          </a:prstGeom>
          <a:noFill/>
          <a:ln/>
        </p:spPr>
        <p:txBody>
          <a:bodyPr wrap="square" lIns="0" tIns="0" rIns="0" bIns="0" rtlCol="0" anchor="ctr"/>
          <a:lstStyle/>
          <a:p>
            <a:pPr indent="0" marL="0">
              <a:buNone/>
            </a:pPr>
            <a:r>
              <a:rPr lang="en-US" sz="4400" b="1" dirty="0">
                <a:solidFill>
                  <a:srgbClr val="E41E26"/>
                </a:solidFill>
                <a:latin typeface="Arial" pitchFamily="34" charset="0"/>
                <a:ea typeface="Arial" pitchFamily="34" charset="-122"/>
                <a:cs typeface="Arial" pitchFamily="34" charset="-120"/>
              </a:rPr>
              <a:t>04</a:t>
            </a:r>
            <a:endParaRPr lang="en-US" sz="4400" dirty="0"/>
          </a:p>
        </p:txBody>
      </p:sp>
      <p:sp>
        <p:nvSpPr>
          <p:cNvPr id="18" name="Text 16"/>
          <p:cNvSpPr txBox="1"/>
          <p:nvPr/>
        </p:nvSpPr>
        <p:spPr>
          <a:xfrm>
            <a:off x="9217152" y="2880360"/>
            <a:ext cx="2148840" cy="6858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Use the top navigation</a:t>
            </a:r>
            <a:endParaRPr lang="en-US" sz="1800" dirty="0"/>
          </a:p>
        </p:txBody>
      </p:sp>
      <p:sp>
        <p:nvSpPr>
          <p:cNvPr id="19" name="Text 17"/>
          <p:cNvSpPr txBox="1"/>
          <p:nvPr/>
        </p:nvSpPr>
        <p:spPr>
          <a:xfrm>
            <a:off x="9217152" y="3611880"/>
            <a:ext cx="2103120" cy="1280160"/>
          </a:xfrm>
          <a:prstGeom prst="rect">
            <a:avLst/>
          </a:prstGeom>
          <a:noFill/>
          <a:ln/>
        </p:spPr>
        <p:txBody>
          <a:bodyPr wrap="square" lIns="0" tIns="0" rIns="0" bIns="0" rtlCol="0" anchor="t"/>
          <a:lstStyle/>
          <a:p>
            <a:pPr indent="0" marL="0">
              <a:spcAft>
                <a:spcPts val="400"/>
              </a:spcAft>
              <a:buNone/>
            </a:pPr>
            <a:r>
              <a:rPr lang="en-US" sz="1400" dirty="0">
                <a:solidFill>
                  <a:srgbClr val="D9D9D9"/>
                </a:solidFill>
                <a:latin typeface="Cambria" pitchFamily="34" charset="0"/>
                <a:ea typeface="Cambria" pitchFamily="34" charset="-122"/>
                <a:cs typeface="Cambria" pitchFamily="34" charset="-120"/>
              </a:rPr>
              <a:t>My Calendar and My Classes are the two you’ll use most</a:t>
            </a:r>
            <a:endParaRPr lang="en-US" sz="1400" dirty="0"/>
          </a:p>
        </p:txBody>
      </p:sp>
      <p:sp>
        <p:nvSpPr>
          <p:cNvPr id="20" name="Panel"/>
          <p:cNvSpPr/>
          <p:nvPr/>
        </p:nvSpPr>
        <p:spPr>
          <a:xfrm>
            <a:off x="548640" y="5303520"/>
            <a:ext cx="11094415" cy="640080"/>
          </a:xfrm>
          <a:prstGeom prst="rect">
            <a:avLst/>
          </a:prstGeom>
          <a:solidFill>
            <a:srgbClr val="FFFFFF"/>
          </a:solidFill>
          <a:ln w="12700">
            <a:solidFill>
              <a:srgbClr val="FFFFFF"/>
            </a:solidFill>
            <a:prstDash val="solid"/>
          </a:ln>
        </p:spPr>
      </p:sp>
      <p:sp>
        <p:nvSpPr>
          <p:cNvPr id="21" name="Text 19"/>
          <p:cNvSpPr txBox="1"/>
          <p:nvPr/>
        </p:nvSpPr>
        <p:spPr>
          <a:xfrm>
            <a:off x="548640" y="5303520"/>
            <a:ext cx="10972800" cy="640080"/>
          </a:xfrm>
          <a:prstGeom prst="rect">
            <a:avLst/>
          </a:prstGeom>
          <a:noFill/>
          <a:ln/>
        </p:spPr>
        <p:txBody>
          <a:bodyPr wrap="square" lIns="0" tIns="0" rIns="0" bIns="0" rtlCol="0" anchor="ctr"/>
          <a:lstStyle/>
          <a:p>
            <a:pPr indent="0" marL="0">
              <a:buNone/>
            </a:pPr>
            <a:r>
              <a:rPr lang="en-US" sz="1200" b="1" spc="200" kern="0" dirty="0">
                <a:solidFill>
                  <a:srgbClr val="E41E26"/>
                </a:solidFill>
                <a:latin typeface="Arial" pitchFamily="34" charset="0"/>
                <a:ea typeface="Arial" pitchFamily="34" charset="-122"/>
                <a:cs typeface="Arial" pitchFamily="34" charset="-120"/>
              </a:rPr>
              <a:t>Sign-in page  </a:t>
            </a:r>
            <a:pPr indent="0" marL="0">
              <a:buNone/>
            </a:pPr>
            <a:r>
              <a:rPr lang="en-US" sz="1600" dirty="0">
                <a:solidFill>
                  <a:srgbClr val="000000"/>
                </a:solidFill>
                <a:latin typeface="Courier New" pitchFamily="34" charset="0"/>
                <a:ea typeface="Courier New" pitchFamily="34" charset="-122"/>
                <a:cs typeface="Courier New" pitchFamily="34" charset="-120"/>
              </a:rPr>
              <a:t>generalassembly.learnondemand.net</a:t>
            </a:r>
            <a:endParaRPr lang="en-US" sz="12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TWO ROUTES, ONE CLASS PAGE</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Finding your </a:t>
            </a:r>
            <a:pPr indent="0" marL="0">
              <a:buNone/>
            </a:pPr>
            <a:r>
              <a:rPr lang="en-US" sz="3400" b="1" dirty="0">
                <a:solidFill>
                  <a:srgbClr val="E41E26"/>
                </a:solidFill>
                <a:latin typeface="Arial" pitchFamily="34" charset="0"/>
                <a:ea typeface="Arial" pitchFamily="34" charset="-122"/>
                <a:cs typeface="Arial" pitchFamily="34" charset="-120"/>
              </a:rPr>
              <a:t>class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828800"/>
            <a:ext cx="4206240" cy="1783080"/>
          </a:xfrm>
          <a:prstGeom prst="rect">
            <a:avLst/>
          </a:prstGeom>
          <a:solidFill>
            <a:srgbClr val="EFEFEF"/>
          </a:solidFill>
          <a:ln w="12700">
            <a:solidFill>
              <a:srgbClr val="EFEFEF"/>
            </a:solidFill>
            <a:prstDash val="solid"/>
          </a:ln>
        </p:spPr>
      </p:sp>
      <p:pic>
        <p:nvPicPr>
          <p:cNvPr id="5" name="Icon LuCalendar" descr="/home/claude/deck/img/LuCalendar-k.png">    </p:cNvPr>
          <p:cNvPicPr>
            <a:picLocks noChangeAspect="1"/>
          </p:cNvPicPr>
          <p:nvPr/>
        </p:nvPicPr>
        <p:blipFill>
          <a:blip r:embed="rId1"/>
          <a:stretch>
            <a:fillRect/>
          </a:stretch>
        </p:blipFill>
        <p:spPr>
          <a:xfrm>
            <a:off x="822960" y="2103120"/>
            <a:ext cx="685800" cy="685800"/>
          </a:xfrm>
          <a:prstGeom prst="rect">
            <a:avLst/>
          </a:prstGeom>
        </p:spPr>
      </p:pic>
      <p:sp>
        <p:nvSpPr>
          <p:cNvPr id="6" name="Text 3"/>
          <p:cNvSpPr txBox="1"/>
          <p:nvPr/>
        </p:nvSpPr>
        <p:spPr>
          <a:xfrm>
            <a:off x="1737360" y="2121408"/>
            <a:ext cx="283464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My Calendar</a:t>
            </a:r>
            <a:endParaRPr lang="en-US" sz="1900" dirty="0"/>
          </a:p>
        </p:txBody>
      </p:sp>
      <p:sp>
        <p:nvSpPr>
          <p:cNvPr id="7" name="Text 4"/>
          <p:cNvSpPr txBox="1"/>
          <p:nvPr/>
        </p:nvSpPr>
        <p:spPr>
          <a:xfrm>
            <a:off x="1737360" y="2578608"/>
            <a:ext cx="2834640" cy="8229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Select the class name</a:t>
            </a:r>
            <a:endParaRPr lang="en-US" sz="1400" dirty="0"/>
          </a:p>
        </p:txBody>
      </p:sp>
      <p:sp>
        <p:nvSpPr>
          <p:cNvPr id="8" name="Text 5"/>
          <p:cNvSpPr txBox="1"/>
          <p:nvPr/>
        </p:nvSpPr>
        <p:spPr>
          <a:xfrm>
            <a:off x="4846320" y="2377440"/>
            <a:ext cx="822960" cy="640080"/>
          </a:xfrm>
          <a:prstGeom prst="rect">
            <a:avLst/>
          </a:prstGeom>
          <a:noFill/>
          <a:ln/>
        </p:spPr>
        <p:txBody>
          <a:bodyPr wrap="square" lIns="0" tIns="0" rIns="0" bIns="0" rtlCol="0" anchor="ctr"/>
          <a:lstStyle/>
          <a:p>
            <a:pPr algn="ctr" indent="0" marL="0">
              <a:buNone/>
            </a:pPr>
            <a:r>
              <a:rPr lang="en-US" sz="3000" b="1" dirty="0">
                <a:solidFill>
                  <a:srgbClr val="E41E26"/>
                </a:solidFill>
                <a:latin typeface="Arial" pitchFamily="34" charset="0"/>
                <a:ea typeface="Arial" pitchFamily="34" charset="-122"/>
                <a:cs typeface="Arial" pitchFamily="34" charset="-120"/>
              </a:rPr>
              <a:t>→</a:t>
            </a:r>
            <a:endParaRPr lang="en-US" sz="3000" dirty="0"/>
          </a:p>
        </p:txBody>
      </p:sp>
      <p:sp>
        <p:nvSpPr>
          <p:cNvPr id="9" name="Panel"/>
          <p:cNvSpPr/>
          <p:nvPr/>
        </p:nvSpPr>
        <p:spPr>
          <a:xfrm>
            <a:off x="548640" y="3886200"/>
            <a:ext cx="4206240" cy="1783080"/>
          </a:xfrm>
          <a:prstGeom prst="rect">
            <a:avLst/>
          </a:prstGeom>
          <a:solidFill>
            <a:srgbClr val="EFEFEF"/>
          </a:solidFill>
          <a:ln w="12700">
            <a:solidFill>
              <a:srgbClr val="EFEFEF"/>
            </a:solidFill>
            <a:prstDash val="solid"/>
          </a:ln>
        </p:spPr>
      </p:sp>
      <p:pic>
        <p:nvPicPr>
          <p:cNvPr id="10" name="Icon LuSchool" descr="/home/claude/deck/img/LuSchool-k.png">    </p:cNvPr>
          <p:cNvPicPr>
            <a:picLocks noChangeAspect="1"/>
          </p:cNvPicPr>
          <p:nvPr/>
        </p:nvPicPr>
        <p:blipFill>
          <a:blip r:embed="rId2"/>
          <a:stretch>
            <a:fillRect/>
          </a:stretch>
        </p:blipFill>
        <p:spPr>
          <a:xfrm>
            <a:off x="822960" y="4160520"/>
            <a:ext cx="685800" cy="685800"/>
          </a:xfrm>
          <a:prstGeom prst="rect">
            <a:avLst/>
          </a:prstGeom>
        </p:spPr>
      </p:pic>
      <p:sp>
        <p:nvSpPr>
          <p:cNvPr id="11" name="Text 7"/>
          <p:cNvSpPr txBox="1"/>
          <p:nvPr/>
        </p:nvSpPr>
        <p:spPr>
          <a:xfrm>
            <a:off x="1737360" y="4178808"/>
            <a:ext cx="283464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My Classes</a:t>
            </a:r>
            <a:endParaRPr lang="en-US" sz="1900" dirty="0"/>
          </a:p>
        </p:txBody>
      </p:sp>
      <p:sp>
        <p:nvSpPr>
          <p:cNvPr id="12" name="Text 8"/>
          <p:cNvSpPr txBox="1"/>
          <p:nvPr/>
        </p:nvSpPr>
        <p:spPr>
          <a:xfrm>
            <a:off x="1737360" y="4636008"/>
            <a:ext cx="2834640" cy="8229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In the top navigation, for current classes</a:t>
            </a:r>
            <a:endParaRPr lang="en-US" sz="1400" dirty="0"/>
          </a:p>
        </p:txBody>
      </p:sp>
      <p:sp>
        <p:nvSpPr>
          <p:cNvPr id="13" name="Text 9"/>
          <p:cNvSpPr txBox="1"/>
          <p:nvPr/>
        </p:nvSpPr>
        <p:spPr>
          <a:xfrm>
            <a:off x="4846320" y="4434840"/>
            <a:ext cx="822960" cy="640080"/>
          </a:xfrm>
          <a:prstGeom prst="rect">
            <a:avLst/>
          </a:prstGeom>
          <a:noFill/>
          <a:ln/>
        </p:spPr>
        <p:txBody>
          <a:bodyPr wrap="square" lIns="0" tIns="0" rIns="0" bIns="0" rtlCol="0" anchor="ctr"/>
          <a:lstStyle/>
          <a:p>
            <a:pPr algn="ctr" indent="0" marL="0">
              <a:buNone/>
            </a:pPr>
            <a:r>
              <a:rPr lang="en-US" sz="3000" b="1" dirty="0">
                <a:solidFill>
                  <a:srgbClr val="E41E26"/>
                </a:solidFill>
                <a:latin typeface="Arial" pitchFamily="34" charset="0"/>
                <a:ea typeface="Arial" pitchFamily="34" charset="-122"/>
                <a:cs typeface="Arial" pitchFamily="34" charset="-120"/>
              </a:rPr>
              <a:t>→</a:t>
            </a:r>
            <a:endParaRPr lang="en-US" sz="3000" dirty="0"/>
          </a:p>
        </p:txBody>
      </p:sp>
      <p:sp>
        <p:nvSpPr>
          <p:cNvPr id="14" name="Panel"/>
          <p:cNvSpPr/>
          <p:nvPr/>
        </p:nvSpPr>
        <p:spPr>
          <a:xfrm>
            <a:off x="5760720" y="1828800"/>
            <a:ext cx="5879592" cy="3840480"/>
          </a:xfrm>
          <a:prstGeom prst="rect">
            <a:avLst/>
          </a:prstGeom>
          <a:solidFill>
            <a:srgbClr val="000000"/>
          </a:solidFill>
          <a:ln w="12700">
            <a:solidFill>
              <a:srgbClr val="000000"/>
            </a:solidFill>
            <a:prstDash val="solid"/>
          </a:ln>
        </p:spPr>
      </p:sp>
      <p:pic>
        <p:nvPicPr>
          <p:cNvPr id="15" name="Image 2" descr="/home/claude/deck/img/fp-whorl-white.png">    </p:cNvPr>
          <p:cNvPicPr>
            <a:picLocks noChangeAspect="1"/>
          </p:cNvPicPr>
          <p:nvPr/>
        </p:nvPicPr>
        <p:blipFill>
          <a:blip r:embed="rId3"/>
          <a:stretch>
            <a:fillRect/>
          </a:stretch>
        </p:blipFill>
        <p:spPr>
          <a:xfrm>
            <a:off x="9692640" y="3017520"/>
            <a:ext cx="1691640" cy="2514600"/>
          </a:xfrm>
          <a:prstGeom prst="rect">
            <a:avLst/>
          </a:prstGeom>
        </p:spPr>
      </p:pic>
      <p:sp>
        <p:nvSpPr>
          <p:cNvPr id="16" name="Text 11"/>
          <p:cNvSpPr txBox="1"/>
          <p:nvPr/>
        </p:nvSpPr>
        <p:spPr>
          <a:xfrm>
            <a:off x="6080760" y="2103120"/>
            <a:ext cx="36576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THE CLASS PAGE SHOWS</a:t>
            </a:r>
            <a:endParaRPr lang="en-US" sz="1000" dirty="0"/>
          </a:p>
        </p:txBody>
      </p:sp>
      <p:sp>
        <p:nvSpPr>
          <p:cNvPr id="17" name="Text 12"/>
          <p:cNvSpPr txBox="1"/>
          <p:nvPr/>
        </p:nvSpPr>
        <p:spPr>
          <a:xfrm>
            <a:off x="6080760" y="25146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Dates</a:t>
            </a:r>
            <a:endParaRPr lang="en-US" sz="2000" dirty="0"/>
          </a:p>
        </p:txBody>
      </p:sp>
      <p:sp>
        <p:nvSpPr>
          <p:cNvPr id="18" name="Text 13"/>
          <p:cNvSpPr txBox="1"/>
          <p:nvPr/>
        </p:nvSpPr>
        <p:spPr>
          <a:xfrm>
            <a:off x="6080760" y="306324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Roster</a:t>
            </a:r>
            <a:endParaRPr lang="en-US" sz="2000" dirty="0"/>
          </a:p>
        </p:txBody>
      </p:sp>
      <p:sp>
        <p:nvSpPr>
          <p:cNvPr id="19" name="Text 14"/>
          <p:cNvSpPr txBox="1"/>
          <p:nvPr/>
        </p:nvSpPr>
        <p:spPr>
          <a:xfrm>
            <a:off x="6080760" y="361188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course and its labs</a:t>
            </a:r>
            <a:endParaRPr lang="en-US" sz="2000" dirty="0"/>
          </a:p>
        </p:txBody>
      </p:sp>
      <p:sp>
        <p:nvSpPr>
          <p:cNvPr id="20" name="Text 15"/>
          <p:cNvSpPr txBox="1"/>
          <p:nvPr/>
        </p:nvSpPr>
        <p:spPr>
          <a:xfrm>
            <a:off x="6080760" y="4343400"/>
            <a:ext cx="2194560" cy="502920"/>
          </a:xfrm>
          <a:prstGeom prst="rect">
            <a:avLst/>
          </a:prstGeom>
          <a:solidFill>
            <a:srgbClr val="E41E26"/>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Monitor Labs</a:t>
            </a:r>
            <a:endParaRPr lang="en-US" sz="1600" dirty="0"/>
          </a:p>
        </p:txBody>
      </p:sp>
      <p:sp>
        <p:nvSpPr>
          <p:cNvPr id="21" name="Text 16"/>
          <p:cNvSpPr txBox="1"/>
          <p:nvPr/>
        </p:nvSpPr>
        <p:spPr>
          <a:xfrm>
            <a:off x="8458200" y="4343400"/>
            <a:ext cx="2926080" cy="502920"/>
          </a:xfrm>
          <a:prstGeom prst="rect">
            <a:avLst/>
          </a:prstGeom>
          <a:noFill/>
          <a:ln/>
        </p:spPr>
        <p:txBody>
          <a:bodyPr wrap="square" lIns="0" tIns="0" rIns="0" bIns="0" rtlCol="0" anchor="ctr"/>
          <a:lstStyle/>
          <a:p>
            <a:pPr indent="0" marL="0">
              <a:spcAft>
                <a:spcPts val="400"/>
              </a:spcAft>
              <a:buNone/>
            </a:pPr>
            <a:r>
              <a:rPr lang="en-US" sz="1400" dirty="0">
                <a:solidFill>
                  <a:srgbClr val="D9D9D9"/>
                </a:solidFill>
                <a:latin typeface="Cambria" pitchFamily="34" charset="0"/>
                <a:ea typeface="Cambria" pitchFamily="34" charset="-122"/>
                <a:cs typeface="Cambria" pitchFamily="34" charset="-120"/>
              </a:rPr>
              <a:t>Your view of every running lab</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PREP</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Test the lab </a:t>
            </a:r>
            <a:pPr indent="0" marL="0">
              <a:buNone/>
            </a:pPr>
            <a:r>
              <a:rPr lang="en-US" sz="3400" b="1" dirty="0">
                <a:solidFill>
                  <a:srgbClr val="E41E26"/>
                </a:solidFill>
                <a:latin typeface="Arial" pitchFamily="34" charset="0"/>
                <a:ea typeface="Arial" pitchFamily="34" charset="-122"/>
                <a:cs typeface="Arial" pitchFamily="34" charset="-120"/>
              </a:rPr>
              <a:t>before</a:t>
            </a:r>
            <a:pPr indent="0" marL="0">
              <a:buNone/>
            </a:pPr>
            <a:r>
              <a:rPr lang="en-US" sz="3400" b="1" dirty="0">
                <a:solidFill>
                  <a:srgbClr val="000000"/>
                </a:solidFill>
                <a:latin typeface="Arial" pitchFamily="34" charset="0"/>
                <a:ea typeface="Arial" pitchFamily="34" charset="-122"/>
                <a:cs typeface="Arial" pitchFamily="34" charset="-120"/>
              </a:rPr>
              <a:t> learners do</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pic>
        <p:nvPicPr>
          <p:cNvPr id="4" name="Icon LuPlay" descr="/home/claude/deck/img/LuPlay-k.png">    </p:cNvPr>
          <p:cNvPicPr>
            <a:picLocks noChangeAspect="1"/>
          </p:cNvPicPr>
          <p:nvPr/>
        </p:nvPicPr>
        <p:blipFill>
          <a:blip r:embed="rId1"/>
          <a:stretch>
            <a:fillRect/>
          </a:stretch>
        </p:blipFill>
        <p:spPr>
          <a:xfrm>
            <a:off x="548640" y="1828800"/>
            <a:ext cx="658368" cy="658368"/>
          </a:xfrm>
          <a:prstGeom prst="rect">
            <a:avLst/>
          </a:prstGeom>
        </p:spPr>
      </p:pic>
      <p:sp>
        <p:nvSpPr>
          <p:cNvPr id="5" name="Text 2"/>
          <p:cNvSpPr txBox="1"/>
          <p:nvPr/>
        </p:nvSpPr>
        <p:spPr>
          <a:xfrm>
            <a:off x="1463040" y="1828800"/>
            <a:ext cx="5760720" cy="658368"/>
          </a:xfrm>
          <a:prstGeom prst="rect">
            <a:avLst/>
          </a:prstGeom>
          <a:noFill/>
          <a:ln/>
        </p:spPr>
        <p:txBody>
          <a:bodyPr wrap="square" lIns="0" tIns="0" rIns="0" bIns="0" rtlCol="0" anchor="ctr"/>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Launch every lab yourself before you teach it</a:t>
            </a:r>
            <a:endParaRPr lang="en-US" sz="1800" dirty="0"/>
          </a:p>
        </p:txBody>
      </p:sp>
      <p:pic>
        <p:nvPicPr>
          <p:cNvPr id="6" name="Icon LuListChecks" descr="/home/claude/deck/img/LuListChecks-k.png">    </p:cNvPr>
          <p:cNvPicPr>
            <a:picLocks noChangeAspect="1"/>
          </p:cNvPicPr>
          <p:nvPr/>
        </p:nvPicPr>
        <p:blipFill>
          <a:blip r:embed="rId2"/>
          <a:stretch>
            <a:fillRect/>
          </a:stretch>
        </p:blipFill>
        <p:spPr>
          <a:xfrm>
            <a:off x="548640" y="2834640"/>
            <a:ext cx="658368" cy="658368"/>
          </a:xfrm>
          <a:prstGeom prst="rect">
            <a:avLst/>
          </a:prstGeom>
        </p:spPr>
      </p:pic>
      <p:sp>
        <p:nvSpPr>
          <p:cNvPr id="7" name="Text 3"/>
          <p:cNvSpPr txBox="1"/>
          <p:nvPr/>
        </p:nvSpPr>
        <p:spPr>
          <a:xfrm>
            <a:off x="1463040" y="2834640"/>
            <a:ext cx="5760720" cy="658368"/>
          </a:xfrm>
          <a:prstGeom prst="rect">
            <a:avLst/>
          </a:prstGeom>
          <a:noFill/>
          <a:ln/>
        </p:spPr>
        <p:txBody>
          <a:bodyPr wrap="square" lIns="0" tIns="0" rIns="0" bIns="0" rtlCol="0" anchor="ctr"/>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Walk the setup steps and run the tooling</a:t>
            </a:r>
            <a:endParaRPr lang="en-US" sz="1800" dirty="0"/>
          </a:p>
        </p:txBody>
      </p:sp>
      <p:pic>
        <p:nvPicPr>
          <p:cNvPr id="8" name="Icon LuClock" descr="/home/claude/deck/img/LuClock-k.png">    </p:cNvPr>
          <p:cNvPicPr>
            <a:picLocks noChangeAspect="1"/>
          </p:cNvPicPr>
          <p:nvPr/>
        </p:nvPicPr>
        <p:blipFill>
          <a:blip r:embed="rId3"/>
          <a:stretch>
            <a:fillRect/>
          </a:stretch>
        </p:blipFill>
        <p:spPr>
          <a:xfrm>
            <a:off x="548640" y="3840480"/>
            <a:ext cx="658368" cy="658368"/>
          </a:xfrm>
          <a:prstGeom prst="rect">
            <a:avLst/>
          </a:prstGeom>
        </p:spPr>
      </p:pic>
      <p:sp>
        <p:nvSpPr>
          <p:cNvPr id="9" name="Text 4"/>
          <p:cNvSpPr txBox="1"/>
          <p:nvPr/>
        </p:nvSpPr>
        <p:spPr>
          <a:xfrm>
            <a:off x="1463040" y="3840480"/>
            <a:ext cx="5760720" cy="658368"/>
          </a:xfrm>
          <a:prstGeom prst="rect">
            <a:avLst/>
          </a:prstGeom>
          <a:noFill/>
          <a:ln/>
        </p:spPr>
        <p:txBody>
          <a:bodyPr wrap="square" lIns="0" tIns="0" rIns="0" bIns="0" rtlCol="0" anchor="ctr"/>
          <a:lstStyle/>
          <a:p>
            <a:pPr indent="0" marL="0">
              <a:spcAft>
                <a:spcPts val="400"/>
              </a:spcAft>
              <a:buNone/>
            </a:pPr>
            <a:r>
              <a:rPr lang="en-US" sz="1800" b="1" dirty="0">
                <a:solidFill>
                  <a:srgbClr val="000000"/>
                </a:solidFill>
                <a:latin typeface="Arial" pitchFamily="34" charset="0"/>
                <a:ea typeface="Arial" pitchFamily="34" charset="-122"/>
                <a:cs typeface="Arial" pitchFamily="34" charset="-120"/>
              </a:rPr>
              <a:t>Check the timeouts and lab duration</a:t>
            </a:r>
            <a:endParaRPr lang="en-US" sz="1800" dirty="0"/>
          </a:p>
        </p:txBody>
      </p:sp>
      <p:sp>
        <p:nvSpPr>
          <p:cNvPr id="10" name="Panel"/>
          <p:cNvSpPr/>
          <p:nvPr/>
        </p:nvSpPr>
        <p:spPr>
          <a:xfrm>
            <a:off x="7589520" y="1828800"/>
            <a:ext cx="4050792" cy="2788920"/>
          </a:xfrm>
          <a:prstGeom prst="rect">
            <a:avLst/>
          </a:prstGeom>
          <a:solidFill>
            <a:srgbClr val="E41E26"/>
          </a:solidFill>
          <a:ln w="12700">
            <a:solidFill>
              <a:srgbClr val="E41E26"/>
            </a:solidFill>
            <a:prstDash val="solid"/>
          </a:ln>
        </p:spPr>
      </p:sp>
      <p:sp>
        <p:nvSpPr>
          <p:cNvPr id="11" name="Text 6"/>
          <p:cNvSpPr txBox="1"/>
          <p:nvPr/>
        </p:nvSpPr>
        <p:spPr>
          <a:xfrm>
            <a:off x="7909560" y="1965960"/>
            <a:ext cx="1371600" cy="1463040"/>
          </a:xfrm>
          <a:prstGeom prst="rect">
            <a:avLst/>
          </a:prstGeom>
          <a:noFill/>
          <a:ln/>
        </p:spPr>
        <p:txBody>
          <a:bodyPr wrap="square" lIns="0" tIns="0" rIns="0" bIns="0" rtlCol="0" anchor="ctr"/>
          <a:lstStyle/>
          <a:p>
            <a:pPr indent="0" marL="0">
              <a:buNone/>
            </a:pPr>
            <a:r>
              <a:rPr lang="en-US" sz="9600" b="1" dirty="0">
                <a:solidFill>
                  <a:srgbClr val="FFFFFF"/>
                </a:solidFill>
                <a:latin typeface="Arial" pitchFamily="34" charset="0"/>
                <a:ea typeface="Arial" pitchFamily="34" charset="-122"/>
                <a:cs typeface="Arial" pitchFamily="34" charset="-120"/>
              </a:rPr>
              <a:t>5</a:t>
            </a:r>
            <a:endParaRPr lang="en-US" sz="9600" dirty="0"/>
          </a:p>
        </p:txBody>
      </p:sp>
      <p:sp>
        <p:nvSpPr>
          <p:cNvPr id="12" name="Text 7"/>
          <p:cNvSpPr txBox="1"/>
          <p:nvPr/>
        </p:nvSpPr>
        <p:spPr>
          <a:xfrm>
            <a:off x="9144000" y="2331720"/>
            <a:ext cx="2286000" cy="8229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saved labs per instructor</a:t>
            </a:r>
            <a:endParaRPr lang="en-US" sz="1800" dirty="0"/>
          </a:p>
        </p:txBody>
      </p:sp>
      <p:sp>
        <p:nvSpPr>
          <p:cNvPr id="13" name="Text 8"/>
          <p:cNvSpPr txBox="1"/>
          <p:nvPr/>
        </p:nvSpPr>
        <p:spPr>
          <a:xfrm>
            <a:off x="7909560" y="3566160"/>
            <a:ext cx="3474720" cy="82296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Cambria" pitchFamily="34" charset="0"/>
                <a:ea typeface="Cambria" pitchFamily="34" charset="-122"/>
                <a:cs typeface="Cambria" pitchFamily="34" charset="-120"/>
              </a:rPr>
              <a:t>Each kept for a 7-day save. Use them for demos and prep.</a:t>
            </a:r>
            <a:endParaRPr lang="en-US" sz="1500" dirty="0"/>
          </a:p>
        </p:txBody>
      </p:sp>
      <p:sp>
        <p:nvSpPr>
          <p:cNvPr id="14" name="Panel"/>
          <p:cNvSpPr/>
          <p:nvPr/>
        </p:nvSpPr>
        <p:spPr>
          <a:xfrm>
            <a:off x="548640" y="4937760"/>
            <a:ext cx="11094415" cy="1005840"/>
          </a:xfrm>
          <a:prstGeom prst="rect">
            <a:avLst/>
          </a:prstGeom>
          <a:solidFill>
            <a:srgbClr val="000000"/>
          </a:solidFill>
          <a:ln w="12700">
            <a:solidFill>
              <a:srgbClr val="000000"/>
            </a:solidFill>
            <a:prstDash val="solid"/>
          </a:ln>
        </p:spPr>
      </p:sp>
      <p:pic>
        <p:nvPicPr>
          <p:cNvPr id="15" name="Icon LuTriangleAlert" descr="/home/claude/deck/img/LuTriangleAlert-w.png">    </p:cNvPr>
          <p:cNvPicPr>
            <a:picLocks noChangeAspect="1"/>
          </p:cNvPicPr>
          <p:nvPr/>
        </p:nvPicPr>
        <p:blipFill>
          <a:blip r:embed="rId4"/>
          <a:stretch>
            <a:fillRect/>
          </a:stretch>
        </p:blipFill>
        <p:spPr>
          <a:xfrm>
            <a:off x="822960" y="5120640"/>
            <a:ext cx="640080" cy="640080"/>
          </a:xfrm>
          <a:prstGeom prst="rect">
            <a:avLst/>
          </a:prstGeom>
        </p:spPr>
      </p:pic>
      <p:sp>
        <p:nvSpPr>
          <p:cNvPr id="16" name="Text 10"/>
          <p:cNvSpPr txBox="1"/>
          <p:nvPr/>
        </p:nvSpPr>
        <p:spPr>
          <a:xfrm>
            <a:off x="1645920" y="4937760"/>
            <a:ext cx="9692640" cy="1005840"/>
          </a:xfrm>
          <a:prstGeom prst="rect">
            <a:avLst/>
          </a:prstGeom>
          <a:noFill/>
          <a:ln/>
        </p:spPr>
        <p:txBody>
          <a:bodyPr wrap="square" lIns="0" tIns="0" rIns="0" bIns="0" rtlCol="0" anchor="ctr"/>
          <a:lstStyle/>
          <a:p>
            <a:pPr indent="0" marL="0">
              <a:spcAft>
                <a:spcPts val="400"/>
              </a:spcAft>
              <a:buNone/>
            </a:pPr>
            <a:r>
              <a:rPr lang="en-US" sz="1700" b="1" dirty="0">
                <a:solidFill>
                  <a:srgbClr val="E41E26"/>
                </a:solidFill>
                <a:latin typeface="Arial" pitchFamily="34" charset="0"/>
                <a:ea typeface="Arial" pitchFamily="34" charset="-122"/>
                <a:cs typeface="Arial" pitchFamily="34" charset="-120"/>
              </a:rPr>
              <a:t>Your test lab is ephemeral too. </a:t>
            </a:r>
            <a:pPr indent="0" marL="0">
              <a:spcAft>
                <a:spcPts val="400"/>
              </a:spcAft>
              <a:buNone/>
            </a:pPr>
            <a:r>
              <a:rPr lang="en-US" sz="1700" dirty="0">
                <a:solidFill>
                  <a:srgbClr val="FFFFFF"/>
                </a:solidFill>
                <a:latin typeface="Arial" pitchFamily="34" charset="0"/>
                <a:ea typeface="Arial" pitchFamily="34" charset="-122"/>
                <a:cs typeface="Arial" pitchFamily="34" charset="-120"/>
              </a:rPr>
              <a:t>Changes you make don’t reach learners. Report image problems to the Lab Platform Admin.</a:t>
            </a:r>
            <a:endParaRPr lang="en-US" sz="17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ENROLLMENT</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How students get </a:t>
            </a:r>
            <a:pPr indent="0" marL="0">
              <a:buNone/>
            </a:pPr>
            <a:r>
              <a:rPr lang="en-US" sz="3400" b="1" dirty="0">
                <a:solidFill>
                  <a:srgbClr val="E41E26"/>
                </a:solidFill>
                <a:latin typeface="Arial" pitchFamily="34" charset="0"/>
                <a:ea typeface="Arial" pitchFamily="34" charset="-122"/>
                <a:cs typeface="Arial" pitchFamily="34" charset="-120"/>
              </a:rPr>
              <a:t>enrolled</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pic>
        <p:nvPicPr>
          <p:cNvPr id="4" name="Icon LuClipboardList" descr="/home/claude/deck/img/LuClipboardList-k.png">    </p:cNvPr>
          <p:cNvPicPr>
            <a:picLocks noChangeAspect="1"/>
          </p:cNvPicPr>
          <p:nvPr/>
        </p:nvPicPr>
        <p:blipFill>
          <a:blip r:embed="rId1"/>
          <a:stretch>
            <a:fillRect/>
          </a:stretch>
        </p:blipFill>
        <p:spPr>
          <a:xfrm>
            <a:off x="548640" y="1783080"/>
            <a:ext cx="685800" cy="685800"/>
          </a:xfrm>
          <a:prstGeom prst="rect">
            <a:avLst/>
          </a:prstGeom>
        </p:spPr>
      </p:pic>
      <p:sp>
        <p:nvSpPr>
          <p:cNvPr id="5" name="Text 2"/>
          <p:cNvSpPr txBox="1"/>
          <p:nvPr/>
        </p:nvSpPr>
        <p:spPr>
          <a:xfrm>
            <a:off x="1463040" y="1801368"/>
            <a:ext cx="60350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GA enrolls in advance</a:t>
            </a:r>
            <a:endParaRPr lang="en-US" sz="1800" dirty="0"/>
          </a:p>
        </p:txBody>
      </p:sp>
      <p:sp>
        <p:nvSpPr>
          <p:cNvPr id="6" name="Text 3"/>
          <p:cNvSpPr txBox="1"/>
          <p:nvPr/>
        </p:nvSpPr>
        <p:spPr>
          <a:xfrm>
            <a:off x="1463040" y="2194560"/>
            <a:ext cx="6035040" cy="8229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By uploading a roster CSV (name, email, temporary password). No self-enrollment codes: in our pilot they led to typos and duplicate accounts.</a:t>
            </a:r>
            <a:endParaRPr lang="en-US" sz="1400" dirty="0"/>
          </a:p>
        </p:txBody>
      </p:sp>
      <p:pic>
        <p:nvPicPr>
          <p:cNvPr id="7" name="Icon LuMail" descr="/home/claude/deck/img/LuMail-k.png">    </p:cNvPr>
          <p:cNvPicPr>
            <a:picLocks noChangeAspect="1"/>
          </p:cNvPicPr>
          <p:nvPr/>
        </p:nvPicPr>
        <p:blipFill>
          <a:blip r:embed="rId2"/>
          <a:stretch>
            <a:fillRect/>
          </a:stretch>
        </p:blipFill>
        <p:spPr>
          <a:xfrm>
            <a:off x="548640" y="3108960"/>
            <a:ext cx="685800" cy="685800"/>
          </a:xfrm>
          <a:prstGeom prst="rect">
            <a:avLst/>
          </a:prstGeom>
        </p:spPr>
      </p:pic>
      <p:sp>
        <p:nvSpPr>
          <p:cNvPr id="8" name="Text 4"/>
          <p:cNvSpPr txBox="1"/>
          <p:nvPr/>
        </p:nvSpPr>
        <p:spPr>
          <a:xfrm>
            <a:off x="1463040" y="3127248"/>
            <a:ext cx="60350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One email, one account</a:t>
            </a:r>
            <a:endParaRPr lang="en-US" sz="1800" dirty="0"/>
          </a:p>
        </p:txBody>
      </p:sp>
      <p:sp>
        <p:nvSpPr>
          <p:cNvPr id="9" name="Text 5"/>
          <p:cNvSpPr txBox="1"/>
          <p:nvPr/>
        </p:nvSpPr>
        <p:spPr>
          <a:xfrm>
            <a:off x="1463040" y="3520440"/>
            <a:ext cx="6035040" cy="8229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Every student account needs a unique email.</a:t>
            </a:r>
            <a:endParaRPr lang="en-US" sz="1400" dirty="0"/>
          </a:p>
        </p:txBody>
      </p:sp>
      <p:pic>
        <p:nvPicPr>
          <p:cNvPr id="10" name="Icon LuCircleCheck" descr="/home/claude/deck/img/LuCircleCheck-k.png">    </p:cNvPr>
          <p:cNvPicPr>
            <a:picLocks noChangeAspect="1"/>
          </p:cNvPicPr>
          <p:nvPr/>
        </p:nvPicPr>
        <p:blipFill>
          <a:blip r:embed="rId3"/>
          <a:stretch>
            <a:fillRect/>
          </a:stretch>
        </p:blipFill>
        <p:spPr>
          <a:xfrm>
            <a:off x="548640" y="4434840"/>
            <a:ext cx="685800" cy="685800"/>
          </a:xfrm>
          <a:prstGeom prst="rect">
            <a:avLst/>
          </a:prstGeom>
        </p:spPr>
      </p:pic>
      <p:sp>
        <p:nvSpPr>
          <p:cNvPr id="11" name="Text 6"/>
          <p:cNvSpPr txBox="1"/>
          <p:nvPr/>
        </p:nvSpPr>
        <p:spPr>
          <a:xfrm>
            <a:off x="1463040" y="4453128"/>
            <a:ext cx="603504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Enrolled means access</a:t>
            </a:r>
            <a:endParaRPr lang="en-US" sz="1800" dirty="0"/>
          </a:p>
        </p:txBody>
      </p:sp>
      <p:sp>
        <p:nvSpPr>
          <p:cNvPr id="12" name="Text 7"/>
          <p:cNvSpPr txBox="1"/>
          <p:nvPr/>
        </p:nvSpPr>
        <p:spPr>
          <a:xfrm>
            <a:off x="1463040" y="4846320"/>
            <a:ext cx="6035040" cy="822960"/>
          </a:xfrm>
          <a:prstGeom prst="rect">
            <a:avLst/>
          </a:prstGeom>
          <a:noFill/>
          <a:ln/>
        </p:spPr>
        <p:txBody>
          <a:bodyPr wrap="square" lIns="0" tIns="0" rIns="0" bIns="0" rtlCol="0" anchor="t"/>
          <a:lstStyle/>
          <a:p>
            <a:pPr indent="0" marL="0">
              <a:spcAft>
                <a:spcPts val="400"/>
              </a:spcAft>
              <a:buNone/>
            </a:pPr>
            <a:r>
              <a:rPr lang="en-US" sz="1400" dirty="0">
                <a:solidFill>
                  <a:srgbClr val="262626"/>
                </a:solidFill>
                <a:latin typeface="Cambria" pitchFamily="34" charset="0"/>
                <a:ea typeface="Cambria" pitchFamily="34" charset="-122"/>
                <a:cs typeface="Cambria" pitchFamily="34" charset="-120"/>
              </a:rPr>
              <a:t>Only an Enrolled status gives a learner access to the class.</a:t>
            </a:r>
            <a:endParaRPr lang="en-US" sz="1400" dirty="0"/>
          </a:p>
        </p:txBody>
      </p:sp>
      <p:sp>
        <p:nvSpPr>
          <p:cNvPr id="13" name="Panel"/>
          <p:cNvSpPr/>
          <p:nvPr/>
        </p:nvSpPr>
        <p:spPr>
          <a:xfrm>
            <a:off x="7863840" y="1783080"/>
            <a:ext cx="3776472" cy="4160520"/>
          </a:xfrm>
          <a:prstGeom prst="rect">
            <a:avLst/>
          </a:prstGeom>
          <a:solidFill>
            <a:srgbClr val="000000"/>
          </a:solidFill>
          <a:ln w="12700">
            <a:solidFill>
              <a:srgbClr val="000000"/>
            </a:solidFill>
            <a:prstDash val="solid"/>
          </a:ln>
        </p:spPr>
      </p:sp>
      <p:pic>
        <p:nvPicPr>
          <p:cNvPr id="14" name="Icon LuUserRound" descr="/home/claude/deck/img/LuUserRound-w.png">    </p:cNvPr>
          <p:cNvPicPr>
            <a:picLocks noChangeAspect="1"/>
          </p:cNvPicPr>
          <p:nvPr/>
        </p:nvPicPr>
        <p:blipFill>
          <a:blip r:embed="rId4"/>
          <a:stretch>
            <a:fillRect/>
          </a:stretch>
        </p:blipFill>
        <p:spPr>
          <a:xfrm>
            <a:off x="8183880" y="2103120"/>
            <a:ext cx="731520" cy="731520"/>
          </a:xfrm>
          <a:prstGeom prst="rect">
            <a:avLst/>
          </a:prstGeom>
        </p:spPr>
      </p:pic>
      <p:sp>
        <p:nvSpPr>
          <p:cNvPr id="15" name="Text 9"/>
          <p:cNvSpPr txBox="1"/>
          <p:nvPr/>
        </p:nvSpPr>
        <p:spPr>
          <a:xfrm>
            <a:off x="8183880" y="3017520"/>
            <a:ext cx="3200400" cy="82296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A learner is missing from your roster?</a:t>
            </a:r>
            <a:endParaRPr lang="en-US" sz="1900" dirty="0"/>
          </a:p>
        </p:txBody>
      </p:sp>
      <p:sp>
        <p:nvSpPr>
          <p:cNvPr id="16" name="Text 10"/>
          <p:cNvSpPr txBox="1"/>
          <p:nvPr/>
        </p:nvSpPr>
        <p:spPr>
          <a:xfrm>
            <a:off x="8183880" y="3931920"/>
            <a:ext cx="3154680" cy="1737360"/>
          </a:xfrm>
          <a:prstGeom prst="rect">
            <a:avLst/>
          </a:prstGeom>
          <a:noFill/>
          <a:ln/>
        </p:spPr>
        <p:txBody>
          <a:bodyPr wrap="square" lIns="0" tIns="0" rIns="0" bIns="0" rtlCol="0" anchor="t"/>
          <a:lstStyle/>
          <a:p>
            <a:pPr indent="0" marL="0">
              <a:spcAft>
                <a:spcPts val="600"/>
              </a:spcAft>
              <a:buNone/>
            </a:pPr>
            <a:r>
              <a:rPr lang="en-US" sz="1500" b="1" dirty="0">
                <a:solidFill>
                  <a:srgbClr val="E41E26"/>
                </a:solidFill>
                <a:latin typeface="Cambria" pitchFamily="34" charset="0"/>
                <a:ea typeface="Cambria" pitchFamily="34" charset="-122"/>
                <a:cs typeface="Cambria" pitchFamily="34" charset="-120"/>
              </a:rPr>
              <a:t>Don’t create a new account.</a:t>
            </a:r>
            <a:endParaRPr lang="en-US" sz="1500" dirty="0"/>
          </a:p>
          <a:p>
            <a:pPr indent="0" marL="0">
              <a:spcAft>
                <a:spcPts val="600"/>
              </a:spcAft>
              <a:buNone/>
            </a:pPr>
            <a:r>
              <a:rPr lang="en-US" sz="1500" dirty="0">
                <a:solidFill>
                  <a:srgbClr val="D9D9D9"/>
                </a:solidFill>
                <a:latin typeface="Cambria" pitchFamily="34" charset="0"/>
                <a:ea typeface="Cambria" pitchFamily="34" charset="-122"/>
                <a:cs typeface="Cambria" pitchFamily="34" charset="-120"/>
              </a:rPr>
              <a:t>Send the name and email to the program’s CSM, who can enroll last-minute learners.</a:t>
            </a:r>
            <a:endParaRPr lang="en-US" sz="15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CLASS PAGE → MONITOR LABS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Monitoring labs </a:t>
            </a:r>
            <a:pPr indent="0" marL="0">
              <a:buNone/>
            </a:pPr>
            <a:r>
              <a:rPr lang="en-US" sz="3400" b="1" dirty="0">
                <a:solidFill>
                  <a:srgbClr val="E41E26"/>
                </a:solidFill>
                <a:latin typeface="Arial" pitchFamily="34" charset="0"/>
                <a:ea typeface="Arial" pitchFamily="34" charset="-122"/>
                <a:cs typeface="Arial" pitchFamily="34" charset="-120"/>
              </a:rPr>
              <a:t>live</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graphicFrame>
        <p:nvGraphicFramePr>
          <p:cNvPr id="11" name="Monitor Labs mockup"/>
          <p:cNvGraphicFramePr>
            <a:graphicFrameLocks noGrp="1"/>
          </p:cNvGraphicFramePr>
          <p:nvPr>
            <p:extLst>
              <p:ext uri="{D42A27DB-BD31-4B8C-83A1-F6EECF244321}">
                <p14:modId xmlns:p14="http://schemas.microsoft.com/office/powerpoint/2010/main" val="1579011935"/>
              </p:ext>
            </p:extLst>
          </p:nvPr>
        </p:nvGraphicFramePr>
        <p:xfrm>
          <a:off x="548640" y="1828800"/>
          <a:ext cx="7315200" cy="914400"/>
        </p:xfrm>
        <a:graphic>
          <a:graphicData uri="http://schemas.openxmlformats.org/drawingml/2006/table">
            <a:tbl>
              <a:tblPr/>
              <a:tblGrid>
                <a:gridCol w="1325880"/>
                <a:gridCol w="2011680"/>
                <a:gridCol w="1371600"/>
                <a:gridCol w="1234440"/>
                <a:gridCol w="1371600"/>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Learner</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Lab</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Active VM</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Running for</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Since last activity</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502920">
                <a:tc>
                  <a:txBody>
                    <a:bodyPr/>
                    <a:lstStyle/>
                    <a:p>
                      <a:pPr indent="0" marL="0">
                        <a:buNone/>
                      </a:pPr>
                      <a:r>
                        <a:rPr lang="en-US" sz="1400" b="1" dirty="0">
                          <a:solidFill>
                            <a:srgbClr val="000000"/>
                          </a:solidFill>
                          <a:latin typeface="Arial" pitchFamily="34" charset="0"/>
                          <a:ea typeface="Arial" pitchFamily="34" charset="-122"/>
                          <a:cs typeface="Arial" pitchFamily="34" charset="-120"/>
                        </a:rPr>
                        <a:t>Learner 1</a:t>
                      </a:r>
                      <a:endParaRPr lang="en-US" sz="14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Week 3 Friday Lab</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Windows VM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1h 12m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1 min</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000000"/>
                          </a:solidFill>
                          <a:latin typeface="Arial" pitchFamily="34" charset="0"/>
                          <a:ea typeface="Arial" pitchFamily="34" charset="-122"/>
                          <a:cs typeface="Arial" pitchFamily="34" charset="-120"/>
                        </a:rPr>
                        <a:t>Learner 2</a:t>
                      </a:r>
                      <a:endParaRPr lang="en-US" sz="14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Week 3 Friday Lab</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Windows VM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1h 10m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3 min</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02920">
                <a:tc>
                  <a:txBody>
                    <a:bodyPr/>
                    <a:lstStyle/>
                    <a:p>
                      <a:pPr indent="0" marL="0">
                        <a:buNone/>
                      </a:pPr>
                      <a:r>
                        <a:rPr lang="en-US" sz="1400" b="1" dirty="0">
                          <a:solidFill>
                            <a:srgbClr val="000000"/>
                          </a:solidFill>
                          <a:latin typeface="Arial" pitchFamily="34" charset="0"/>
                          <a:ea typeface="Arial" pitchFamily="34" charset="-122"/>
                          <a:cs typeface="Arial" pitchFamily="34" charset="-120"/>
                        </a:rPr>
                        <a:t>Learner 3</a:t>
                      </a:r>
                      <a:endParaRPr lang="en-US" sz="14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E3E0"/>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Week 3 Friday Lab</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E3E0"/>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Windows VM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E3E0"/>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1h 08m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E3E0"/>
                    </a:solidFill>
                  </a:tcPr>
                </a:tc>
                <a:tc>
                  <a:txBody>
                    <a:bodyPr/>
                    <a:lstStyle/>
                    <a:p>
                      <a:pPr indent="0" marL="0">
                        <a:buNone/>
                      </a:pPr>
                      <a:r>
                        <a:rPr lang="en-US" sz="1400" b="1" dirty="0">
                          <a:solidFill>
                            <a:srgbClr val="E41E26"/>
                          </a:solidFill>
                          <a:latin typeface="Cambria" pitchFamily="34" charset="0"/>
                          <a:ea typeface="Cambria" pitchFamily="34" charset="-122"/>
                          <a:cs typeface="Cambria" pitchFamily="34" charset="-120"/>
                        </a:rPr>
                        <a:t>14 min</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E3E0"/>
                    </a:solidFill>
                  </a:tcPr>
                </a:tc>
              </a:tr>
              <a:tr h="502920">
                <a:tc>
                  <a:txBody>
                    <a:bodyPr/>
                    <a:lstStyle/>
                    <a:p>
                      <a:pPr indent="0" marL="0">
                        <a:buNone/>
                      </a:pPr>
                      <a:r>
                        <a:rPr lang="en-US" sz="1400" b="1" dirty="0">
                          <a:solidFill>
                            <a:srgbClr val="000000"/>
                          </a:solidFill>
                          <a:latin typeface="Arial" pitchFamily="34" charset="0"/>
                          <a:ea typeface="Arial" pitchFamily="34" charset="-122"/>
                          <a:cs typeface="Arial" pitchFamily="34" charset="-120"/>
                        </a:rPr>
                        <a:t>Learner 4</a:t>
                      </a:r>
                      <a:endParaRPr lang="en-US" sz="14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Week 3 Friday Lab</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Windows VM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58m</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dirty="0">
                          <a:solidFill>
                            <a:srgbClr val="000000"/>
                          </a:solidFill>
                          <a:latin typeface="Cambria" pitchFamily="34" charset="0"/>
                          <a:ea typeface="Cambria" pitchFamily="34" charset="-122"/>
                          <a:cs typeface="Cambria" pitchFamily="34" charset="-120"/>
                        </a:rPr>
                        <a:t>2 min</a:t>
                      </a:r>
                      <a:endParaRPr lang="en-US" sz="1400" dirty="0">
                        <a:latin typeface="Cambria" charset="0"/>
                        <a:ea typeface="Cambria" charset="0"/>
                        <a:cs typeface="Cambria"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5" name="Text 2"/>
          <p:cNvSpPr txBox="1"/>
          <p:nvPr/>
        </p:nvSpPr>
        <p:spPr>
          <a:xfrm>
            <a:off x="548640" y="4526280"/>
            <a:ext cx="2743200" cy="228600"/>
          </a:xfrm>
          <a:prstGeom prst="rect">
            <a:avLst/>
          </a:prstGeom>
          <a:noFill/>
          <a:ln/>
        </p:spPr>
        <p:txBody>
          <a:bodyPr wrap="square" lIns="0" tIns="0" rIns="0" bIns="0" rtlCol="0" anchor="ctr"/>
          <a:lstStyle/>
          <a:p>
            <a:pPr indent="0" marL="0">
              <a:buNone/>
            </a:pPr>
            <a:r>
              <a:rPr lang="en-US" sz="1000" b="1" spc="200" kern="0" dirty="0">
                <a:solidFill>
                  <a:srgbClr val="595959"/>
                </a:solidFill>
                <a:latin typeface="Arial" pitchFamily="34" charset="0"/>
                <a:ea typeface="Arial" pitchFamily="34" charset="-122"/>
                <a:cs typeface="Arial" pitchFamily="34" charset="-120"/>
              </a:rPr>
              <a:t>ILLUSTRATIVE VIEW</a:t>
            </a:r>
            <a:endParaRPr lang="en-US" sz="1000" dirty="0"/>
          </a:p>
        </p:txBody>
      </p:sp>
      <p:sp>
        <p:nvSpPr>
          <p:cNvPr id="6" name="Panel"/>
          <p:cNvSpPr/>
          <p:nvPr/>
        </p:nvSpPr>
        <p:spPr>
          <a:xfrm>
            <a:off x="8229600" y="1828800"/>
            <a:ext cx="3410712" cy="4114800"/>
          </a:xfrm>
          <a:prstGeom prst="rect">
            <a:avLst/>
          </a:prstGeom>
          <a:solidFill>
            <a:srgbClr val="EFEFEF"/>
          </a:solidFill>
          <a:ln w="12700">
            <a:solidFill>
              <a:srgbClr val="EFEFEF"/>
            </a:solidFill>
            <a:prstDash val="solid"/>
          </a:ln>
        </p:spPr>
      </p:sp>
      <p:pic>
        <p:nvPicPr>
          <p:cNvPr id="7" name="Icon LuEye" descr="/home/claude/deck/img/LuEye-k.png">    </p:cNvPr>
          <p:cNvPicPr>
            <a:picLocks noChangeAspect="1"/>
          </p:cNvPicPr>
          <p:nvPr/>
        </p:nvPicPr>
        <p:blipFill>
          <a:blip r:embed="rId1"/>
          <a:stretch>
            <a:fillRect/>
          </a:stretch>
        </p:blipFill>
        <p:spPr>
          <a:xfrm>
            <a:off x="8503920" y="2103120"/>
            <a:ext cx="685800" cy="685800"/>
          </a:xfrm>
          <a:prstGeom prst="rect">
            <a:avLst/>
          </a:prstGeom>
        </p:spPr>
      </p:pic>
      <p:sp>
        <p:nvSpPr>
          <p:cNvPr id="8" name="Text 4"/>
          <p:cNvSpPr txBox="1"/>
          <p:nvPr/>
        </p:nvSpPr>
        <p:spPr>
          <a:xfrm>
            <a:off x="8503920" y="2971800"/>
            <a:ext cx="292608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Your early warning</a:t>
            </a:r>
            <a:endParaRPr lang="en-US" sz="1900" dirty="0"/>
          </a:p>
        </p:txBody>
      </p:sp>
      <p:sp>
        <p:nvSpPr>
          <p:cNvPr id="9" name="Text 5"/>
          <p:cNvSpPr txBox="1"/>
          <p:nvPr/>
        </p:nvSpPr>
        <p:spPr>
          <a:xfrm>
            <a:off x="8503920" y="3474720"/>
            <a:ext cx="2880360" cy="219456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Sort by time since last activity to spot learners who have stepped away and may be heading for an idle timeout.</a:t>
            </a:r>
            <a:endParaRPr lang="en-US" sz="15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FROM MONITOR LABS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Helping a learner: </a:t>
            </a:r>
            <a:pPr indent="0" marL="0">
              <a:buNone/>
            </a:pPr>
            <a:r>
              <a:rPr lang="en-US" sz="3400" b="1" dirty="0">
                <a:solidFill>
                  <a:srgbClr val="E41E26"/>
                </a:solidFill>
                <a:latin typeface="Arial" pitchFamily="34" charset="0"/>
                <a:ea typeface="Arial" pitchFamily="34" charset="-122"/>
                <a:cs typeface="Arial" pitchFamily="34" charset="-120"/>
              </a:rPr>
              <a:t>watch</a:t>
            </a:r>
            <a:pPr indent="0" marL="0">
              <a:buNone/>
            </a:pPr>
            <a:r>
              <a:rPr lang="en-US" sz="3400" b="1" dirty="0">
                <a:solidFill>
                  <a:srgbClr val="000000"/>
                </a:solidFill>
                <a:latin typeface="Arial" pitchFamily="34" charset="0"/>
                <a:ea typeface="Arial" pitchFamily="34" charset="-122"/>
                <a:cs typeface="Arial" pitchFamily="34" charset="-120"/>
              </a:rPr>
              <a:t> or take control</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Card Monitor Student"/>
          <p:cNvSpPr/>
          <p:nvPr/>
        </p:nvSpPr>
        <p:spPr>
          <a:xfrm>
            <a:off x="548640" y="1783080"/>
            <a:ext cx="3538728" cy="2514600"/>
          </a:xfrm>
          <a:prstGeom prst="rect">
            <a:avLst/>
          </a:prstGeom>
          <a:solidFill>
            <a:srgbClr val="EFEFEF"/>
          </a:solidFill>
          <a:ln w="12700">
            <a:solidFill>
              <a:srgbClr val="EFEFEF"/>
            </a:solidFill>
            <a:prstDash val="solid"/>
          </a:ln>
        </p:spPr>
      </p:sp>
      <p:pic>
        <p:nvPicPr>
          <p:cNvPr id="5" name="Icon LuEye" descr="/home/claude/deck/img/LuEye-k.png">    </p:cNvPr>
          <p:cNvPicPr>
            <a:picLocks noChangeAspect="1"/>
          </p:cNvPicPr>
          <p:nvPr/>
        </p:nvPicPr>
        <p:blipFill>
          <a:blip r:embed="rId1"/>
          <a:stretch>
            <a:fillRect/>
          </a:stretch>
        </p:blipFill>
        <p:spPr>
          <a:xfrm>
            <a:off x="822960" y="2057400"/>
            <a:ext cx="731520" cy="731520"/>
          </a:xfrm>
          <a:prstGeom prst="rect">
            <a:avLst/>
          </a:prstGeom>
        </p:spPr>
      </p:pic>
      <p:sp>
        <p:nvSpPr>
          <p:cNvPr id="6" name="Text 3"/>
          <p:cNvSpPr txBox="1"/>
          <p:nvPr/>
        </p:nvSpPr>
        <p:spPr>
          <a:xfrm>
            <a:off x="822960" y="2971800"/>
            <a:ext cx="2990088" cy="4572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Monitor Student</a:t>
            </a:r>
            <a:endParaRPr lang="en-US" sz="1900" dirty="0"/>
          </a:p>
        </p:txBody>
      </p:sp>
      <p:sp>
        <p:nvSpPr>
          <p:cNvPr id="7" name="Text 4"/>
          <p:cNvSpPr txBox="1"/>
          <p:nvPr/>
        </p:nvSpPr>
        <p:spPr>
          <a:xfrm>
            <a:off x="822960" y="3474720"/>
            <a:ext cx="2990088" cy="77724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Watch the learner’s lab screen as they work.</a:t>
            </a:r>
            <a:endParaRPr lang="en-US" sz="1500" dirty="0"/>
          </a:p>
        </p:txBody>
      </p:sp>
      <p:sp>
        <p:nvSpPr>
          <p:cNvPr id="8" name="Card Take Control"/>
          <p:cNvSpPr/>
          <p:nvPr/>
        </p:nvSpPr>
        <p:spPr>
          <a:xfrm>
            <a:off x="4279392" y="1783080"/>
            <a:ext cx="3538728" cy="2514600"/>
          </a:xfrm>
          <a:prstGeom prst="rect">
            <a:avLst/>
          </a:prstGeom>
          <a:solidFill>
            <a:srgbClr val="EFEFEF"/>
          </a:solidFill>
          <a:ln w="12700">
            <a:solidFill>
              <a:srgbClr val="EFEFEF"/>
            </a:solidFill>
            <a:prstDash val="solid"/>
          </a:ln>
        </p:spPr>
      </p:sp>
      <p:pic>
        <p:nvPicPr>
          <p:cNvPr id="9" name="Icon LuMousePointerClick" descr="/home/claude/deck/img/LuMousePointerClick-k.png">    </p:cNvPr>
          <p:cNvPicPr>
            <a:picLocks noChangeAspect="1"/>
          </p:cNvPicPr>
          <p:nvPr/>
        </p:nvPicPr>
        <p:blipFill>
          <a:blip r:embed="rId2"/>
          <a:stretch>
            <a:fillRect/>
          </a:stretch>
        </p:blipFill>
        <p:spPr>
          <a:xfrm>
            <a:off x="4553712" y="2057400"/>
            <a:ext cx="731520" cy="731520"/>
          </a:xfrm>
          <a:prstGeom prst="rect">
            <a:avLst/>
          </a:prstGeom>
        </p:spPr>
      </p:pic>
      <p:sp>
        <p:nvSpPr>
          <p:cNvPr id="10" name="Text 6"/>
          <p:cNvSpPr txBox="1"/>
          <p:nvPr/>
        </p:nvSpPr>
        <p:spPr>
          <a:xfrm>
            <a:off x="4553712" y="2971800"/>
            <a:ext cx="2990088" cy="4572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Take Control</a:t>
            </a:r>
            <a:endParaRPr lang="en-US" sz="1900" dirty="0"/>
          </a:p>
        </p:txBody>
      </p:sp>
      <p:sp>
        <p:nvSpPr>
          <p:cNvPr id="11" name="Text 7"/>
          <p:cNvSpPr txBox="1"/>
          <p:nvPr/>
        </p:nvSpPr>
        <p:spPr>
          <a:xfrm>
            <a:off x="4553712" y="3474720"/>
            <a:ext cx="2990088" cy="77724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Work directly in their lab to fix something together.</a:t>
            </a:r>
            <a:endParaRPr lang="en-US" sz="1500" dirty="0"/>
          </a:p>
        </p:txBody>
      </p:sp>
      <p:sp>
        <p:nvSpPr>
          <p:cNvPr id="12" name="Card Share files"/>
          <p:cNvSpPr/>
          <p:nvPr/>
        </p:nvSpPr>
        <p:spPr>
          <a:xfrm>
            <a:off x="8010144" y="1783080"/>
            <a:ext cx="3538728" cy="2514600"/>
          </a:xfrm>
          <a:prstGeom prst="rect">
            <a:avLst/>
          </a:prstGeom>
          <a:solidFill>
            <a:srgbClr val="EFEFEF"/>
          </a:solidFill>
          <a:ln w="12700">
            <a:solidFill>
              <a:srgbClr val="EFEFEF"/>
            </a:solidFill>
            <a:prstDash val="solid"/>
          </a:ln>
        </p:spPr>
      </p:sp>
      <p:pic>
        <p:nvPicPr>
          <p:cNvPr id="13" name="Icon LuSend" descr="/home/claude/deck/img/LuSend-k.png">    </p:cNvPr>
          <p:cNvPicPr>
            <a:picLocks noChangeAspect="1"/>
          </p:cNvPicPr>
          <p:nvPr/>
        </p:nvPicPr>
        <p:blipFill>
          <a:blip r:embed="rId3"/>
          <a:stretch>
            <a:fillRect/>
          </a:stretch>
        </p:blipFill>
        <p:spPr>
          <a:xfrm>
            <a:off x="8284464" y="2057400"/>
            <a:ext cx="731520" cy="731520"/>
          </a:xfrm>
          <a:prstGeom prst="rect">
            <a:avLst/>
          </a:prstGeom>
        </p:spPr>
      </p:pic>
      <p:sp>
        <p:nvSpPr>
          <p:cNvPr id="14" name="Text 9"/>
          <p:cNvSpPr txBox="1"/>
          <p:nvPr/>
        </p:nvSpPr>
        <p:spPr>
          <a:xfrm>
            <a:off x="8284464" y="2971800"/>
            <a:ext cx="2990088" cy="457200"/>
          </a:xfrm>
          <a:prstGeom prst="rect">
            <a:avLst/>
          </a:prstGeom>
          <a:noFill/>
          <a:ln/>
        </p:spPr>
        <p:txBody>
          <a:bodyPr wrap="square" lIns="0" tIns="0" rIns="0" bIns="0" rtlCol="0" anchor="t"/>
          <a:lstStyle/>
          <a:p>
            <a:pPr indent="0" marL="0">
              <a:buNone/>
            </a:pPr>
            <a:r>
              <a:rPr lang="en-US" sz="1900" b="1" dirty="0">
                <a:solidFill>
                  <a:srgbClr val="000000"/>
                </a:solidFill>
                <a:latin typeface="Arial" pitchFamily="34" charset="0"/>
                <a:ea typeface="Arial" pitchFamily="34" charset="-122"/>
                <a:cs typeface="Arial" pitchFamily="34" charset="-120"/>
              </a:rPr>
              <a:t>Share files</a:t>
            </a:r>
            <a:endParaRPr lang="en-US" sz="1900" dirty="0"/>
          </a:p>
        </p:txBody>
      </p:sp>
      <p:sp>
        <p:nvSpPr>
          <p:cNvPr id="15" name="Text 10"/>
          <p:cNvSpPr txBox="1"/>
          <p:nvPr/>
        </p:nvSpPr>
        <p:spPr>
          <a:xfrm>
            <a:off x="8284464" y="3474720"/>
            <a:ext cx="2990088" cy="777240"/>
          </a:xfrm>
          <a:prstGeom prst="rect">
            <a:avLst/>
          </a:prstGeom>
          <a:noFill/>
          <a:ln/>
        </p:spPr>
        <p:txBody>
          <a:bodyPr wrap="square" lIns="0" tIns="0" rIns="0" bIns="0" rtlCol="0" anchor="t"/>
          <a:lstStyle/>
          <a:p>
            <a:pPr indent="0" marL="0">
              <a:spcAft>
                <a:spcPts val="400"/>
              </a:spcAft>
              <a:buNone/>
            </a:pPr>
            <a:r>
              <a:rPr lang="en-US" sz="1500" dirty="0">
                <a:solidFill>
                  <a:srgbClr val="262626"/>
                </a:solidFill>
                <a:latin typeface="Cambria" pitchFamily="34" charset="0"/>
                <a:ea typeface="Cambria" pitchFamily="34" charset="-122"/>
                <a:cs typeface="Cambria" pitchFamily="34" charset="-120"/>
              </a:rPr>
              <a:t>Push a file to learners’ labs.</a:t>
            </a:r>
            <a:endParaRPr lang="en-US" sz="1500" dirty="0"/>
          </a:p>
        </p:txBody>
      </p:sp>
      <p:sp>
        <p:nvSpPr>
          <p:cNvPr id="16" name="Panel"/>
          <p:cNvSpPr/>
          <p:nvPr/>
        </p:nvSpPr>
        <p:spPr>
          <a:xfrm>
            <a:off x="548640" y="4572000"/>
            <a:ext cx="11094415" cy="1371600"/>
          </a:xfrm>
          <a:prstGeom prst="rect">
            <a:avLst/>
          </a:prstGeom>
          <a:solidFill>
            <a:srgbClr val="000000"/>
          </a:solidFill>
          <a:ln w="12700">
            <a:solidFill>
              <a:srgbClr val="000000"/>
            </a:solidFill>
            <a:prstDash val="solid"/>
          </a:ln>
        </p:spPr>
      </p:sp>
      <p:sp>
        <p:nvSpPr>
          <p:cNvPr id="17" name="Text 12"/>
          <p:cNvSpPr txBox="1"/>
          <p:nvPr/>
        </p:nvSpPr>
        <p:spPr>
          <a:xfrm>
            <a:off x="868680" y="4754880"/>
            <a:ext cx="2743200" cy="228600"/>
          </a:xfrm>
          <a:prstGeom prst="rect">
            <a:avLst/>
          </a:prstGeom>
          <a:noFill/>
          <a:ln/>
        </p:spPr>
        <p:txBody>
          <a:bodyPr wrap="square" lIns="0" tIns="0" rIns="0" bIns="0" rtlCol="0" anchor="ctr"/>
          <a:lstStyle/>
          <a:p>
            <a:pPr indent="0" marL="0">
              <a:buNone/>
            </a:pPr>
            <a:r>
              <a:rPr lang="en-US" sz="1000" b="1" spc="200" kern="0" dirty="0">
                <a:solidFill>
                  <a:srgbClr val="E41E26"/>
                </a:solidFill>
                <a:latin typeface="Arial" pitchFamily="34" charset="0"/>
                <a:ea typeface="Arial" pitchFamily="34" charset="-122"/>
                <a:cs typeface="Arial" pitchFamily="34" charset="-120"/>
              </a:rPr>
              <a:t>ETIQUETTE</a:t>
            </a:r>
            <a:endParaRPr lang="en-US" sz="1000" dirty="0"/>
          </a:p>
        </p:txBody>
      </p:sp>
      <p:sp>
        <p:nvSpPr>
          <p:cNvPr id="18" name="Step 1"/>
          <p:cNvSpPr/>
          <p:nvPr/>
        </p:nvSpPr>
        <p:spPr>
          <a:xfrm>
            <a:off x="868680" y="5120640"/>
            <a:ext cx="502920" cy="502920"/>
          </a:xfrm>
          <a:prstGeom prst="ellipse">
            <a:avLst/>
          </a:prstGeom>
          <a:solidFill>
            <a:srgbClr val="E41E26"/>
          </a:solidFill>
          <a:ln w="12700">
            <a:solidFill>
              <a:srgbClr val="E41E26"/>
            </a:solidFill>
            <a:prstDash val="solid"/>
          </a:ln>
        </p:spPr>
      </p:sp>
      <p:sp>
        <p:nvSpPr>
          <p:cNvPr id="19" name="Text 14"/>
          <p:cNvSpPr txBox="1"/>
          <p:nvPr/>
        </p:nvSpPr>
        <p:spPr>
          <a:xfrm>
            <a:off x="868680"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0" name="Text 15"/>
          <p:cNvSpPr txBox="1"/>
          <p:nvPr/>
        </p:nvSpPr>
        <p:spPr>
          <a:xfrm>
            <a:off x="1508760" y="5120640"/>
            <a:ext cx="2834640" cy="5029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Say before you take control</a:t>
            </a:r>
            <a:endParaRPr lang="en-US" sz="1600" dirty="0"/>
          </a:p>
        </p:txBody>
      </p:sp>
      <p:sp>
        <p:nvSpPr>
          <p:cNvPr id="21" name="Step 2"/>
          <p:cNvSpPr/>
          <p:nvPr/>
        </p:nvSpPr>
        <p:spPr>
          <a:xfrm>
            <a:off x="4480560" y="5120640"/>
            <a:ext cx="502920" cy="502920"/>
          </a:xfrm>
          <a:prstGeom prst="ellipse">
            <a:avLst/>
          </a:prstGeom>
          <a:solidFill>
            <a:srgbClr val="E41E26"/>
          </a:solidFill>
          <a:ln w="12700">
            <a:solidFill>
              <a:srgbClr val="E41E26"/>
            </a:solidFill>
            <a:prstDash val="solid"/>
          </a:ln>
        </p:spPr>
      </p:sp>
      <p:sp>
        <p:nvSpPr>
          <p:cNvPr id="22" name="Text 17"/>
          <p:cNvSpPr txBox="1"/>
          <p:nvPr/>
        </p:nvSpPr>
        <p:spPr>
          <a:xfrm>
            <a:off x="4480560"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3" name="Text 18"/>
          <p:cNvSpPr txBox="1"/>
          <p:nvPr/>
        </p:nvSpPr>
        <p:spPr>
          <a:xfrm>
            <a:off x="5120640" y="5120640"/>
            <a:ext cx="2834640" cy="5029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Narrate what you’re doing</a:t>
            </a:r>
            <a:endParaRPr lang="en-US" sz="1600" dirty="0"/>
          </a:p>
        </p:txBody>
      </p:sp>
      <p:sp>
        <p:nvSpPr>
          <p:cNvPr id="24" name="Step 3"/>
          <p:cNvSpPr/>
          <p:nvPr/>
        </p:nvSpPr>
        <p:spPr>
          <a:xfrm>
            <a:off x="8092440" y="5120640"/>
            <a:ext cx="502920" cy="502920"/>
          </a:xfrm>
          <a:prstGeom prst="ellipse">
            <a:avLst/>
          </a:prstGeom>
          <a:solidFill>
            <a:srgbClr val="E41E26"/>
          </a:solidFill>
          <a:ln w="12700">
            <a:solidFill>
              <a:srgbClr val="E41E26"/>
            </a:solidFill>
            <a:prstDash val="solid"/>
          </a:ln>
        </p:spPr>
      </p:sp>
      <p:sp>
        <p:nvSpPr>
          <p:cNvPr id="25" name="Text 20"/>
          <p:cNvSpPr txBox="1"/>
          <p:nvPr/>
        </p:nvSpPr>
        <p:spPr>
          <a:xfrm>
            <a:off x="8092440" y="5120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6" name="Text 21"/>
          <p:cNvSpPr txBox="1"/>
          <p:nvPr/>
        </p:nvSpPr>
        <p:spPr>
          <a:xfrm>
            <a:off x="8732520" y="5120640"/>
            <a:ext cx="2834640" cy="5029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Hand back control explicitly</a:t>
            </a:r>
            <a:endParaRPr lang="en-US" sz="16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EVERY SESSION</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Your daily </a:t>
            </a:r>
            <a:pPr indent="0" marL="0">
              <a:buNone/>
            </a:pPr>
            <a:r>
              <a:rPr lang="en-US" sz="3400" b="1" dirty="0">
                <a:solidFill>
                  <a:srgbClr val="E41E26"/>
                </a:solidFill>
                <a:latin typeface="Arial" pitchFamily="34" charset="0"/>
                <a:ea typeface="Arial" pitchFamily="34" charset="-122"/>
                <a:cs typeface="Arial" pitchFamily="34" charset="-120"/>
              </a:rPr>
              <a:t>rhythm</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Timeline"/>
          <p:cNvSpPr/>
          <p:nvPr/>
        </p:nvSpPr>
        <p:spPr>
          <a:xfrm>
            <a:off x="795528" y="2075688"/>
            <a:ext cx="10545775" cy="0"/>
          </a:xfrm>
          <a:prstGeom prst="line">
            <a:avLst/>
          </a:prstGeom>
          <a:noFill/>
          <a:ln w="25400">
            <a:solidFill>
              <a:srgbClr val="E41E26"/>
            </a:solidFill>
            <a:prstDash val="solid"/>
          </a:ln>
        </p:spPr>
      </p:sp>
      <p:sp>
        <p:nvSpPr>
          <p:cNvPr id="5" name="Step 1"/>
          <p:cNvSpPr/>
          <p:nvPr/>
        </p:nvSpPr>
        <p:spPr>
          <a:xfrm>
            <a:off x="548640" y="1828800"/>
            <a:ext cx="502920" cy="502920"/>
          </a:xfrm>
          <a:prstGeom prst="ellipse">
            <a:avLst/>
          </a:prstGeom>
          <a:solidFill>
            <a:srgbClr val="E41E26"/>
          </a:solidFill>
          <a:ln w="12700">
            <a:solidFill>
              <a:srgbClr val="E41E26"/>
            </a:solidFill>
            <a:prstDash val="solid"/>
          </a:ln>
        </p:spPr>
      </p:sp>
      <p:sp>
        <p:nvSpPr>
          <p:cNvPr id="6" name="Text 4"/>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548640" y="2560320"/>
            <a:ext cx="3538728"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Start of session</a:t>
            </a:r>
            <a:endParaRPr lang="en-US" sz="2000" dirty="0"/>
          </a:p>
        </p:txBody>
      </p:sp>
      <p:sp>
        <p:nvSpPr>
          <p:cNvPr id="8" name="Panel"/>
          <p:cNvSpPr/>
          <p:nvPr/>
        </p:nvSpPr>
        <p:spPr>
          <a:xfrm>
            <a:off x="548640" y="3108960"/>
            <a:ext cx="3538728" cy="2834640"/>
          </a:xfrm>
          <a:prstGeom prst="rect">
            <a:avLst/>
          </a:prstGeom>
          <a:solidFill>
            <a:srgbClr val="EFEFEF"/>
          </a:solidFill>
          <a:ln w="12700">
            <a:solidFill>
              <a:srgbClr val="EFEFEF"/>
            </a:solidFill>
            <a:prstDash val="solid"/>
          </a:ln>
        </p:spPr>
      </p:sp>
      <p:sp>
        <p:nvSpPr>
          <p:cNvPr id="9" name="Text 7"/>
          <p:cNvSpPr txBox="1"/>
          <p:nvPr/>
        </p:nvSpPr>
        <p:spPr>
          <a:xfrm>
            <a:off x="777240" y="3337560"/>
            <a:ext cx="3081528" cy="23774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000000"/>
                </a:solidFill>
                <a:latin typeface="Cambria" pitchFamily="34" charset="0"/>
                <a:ea typeface="Cambria" pitchFamily="34" charset="-122"/>
                <a:cs typeface="Cambria" pitchFamily="34" charset="-120"/>
              </a:rPr>
              <a:t>Name the exact lab to launch</a:t>
            </a:r>
            <a:endParaRPr lang="en-US" sz="1500" dirty="0"/>
          </a:p>
          <a:p>
            <a:pPr marL="342900" indent="-342900">
              <a:spcAft>
                <a:spcPts val="1200"/>
              </a:spcAft>
              <a:buSzPct val="100000"/>
              <a:buChar char="•"/>
            </a:pPr>
            <a:r>
              <a:rPr lang="en-US" sz="1500" dirty="0">
                <a:solidFill>
                  <a:srgbClr val="000000"/>
                </a:solidFill>
                <a:latin typeface="Cambria" pitchFamily="34" charset="0"/>
                <a:ea typeface="Cambria" pitchFamily="34" charset="-122"/>
                <a:cs typeface="Cambria" pitchFamily="34" charset="-120"/>
              </a:rPr>
              <a:t>Show the start-up routine: clone or pull, sign in, set keys</a:t>
            </a:r>
            <a:endParaRPr lang="en-US" sz="1500" dirty="0"/>
          </a:p>
        </p:txBody>
      </p:sp>
      <p:sp>
        <p:nvSpPr>
          <p:cNvPr id="10" name="Step 2"/>
          <p:cNvSpPr/>
          <p:nvPr/>
        </p:nvSpPr>
        <p:spPr>
          <a:xfrm>
            <a:off x="4279392" y="1828800"/>
            <a:ext cx="502920" cy="502920"/>
          </a:xfrm>
          <a:prstGeom prst="ellipse">
            <a:avLst/>
          </a:prstGeom>
          <a:solidFill>
            <a:srgbClr val="E41E26"/>
          </a:solidFill>
          <a:ln w="12700">
            <a:solidFill>
              <a:srgbClr val="E41E26"/>
            </a:solidFill>
            <a:prstDash val="solid"/>
          </a:ln>
        </p:spPr>
      </p:sp>
      <p:sp>
        <p:nvSpPr>
          <p:cNvPr id="11" name="Text 9"/>
          <p:cNvSpPr txBox="1"/>
          <p:nvPr/>
        </p:nvSpPr>
        <p:spPr>
          <a:xfrm>
            <a:off x="4279392" y="1828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4279392" y="2560320"/>
            <a:ext cx="3538728"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During</a:t>
            </a:r>
            <a:endParaRPr lang="en-US" sz="2000" dirty="0"/>
          </a:p>
        </p:txBody>
      </p:sp>
      <p:sp>
        <p:nvSpPr>
          <p:cNvPr id="13" name="Panel"/>
          <p:cNvSpPr/>
          <p:nvPr/>
        </p:nvSpPr>
        <p:spPr>
          <a:xfrm>
            <a:off x="4279392" y="3108960"/>
            <a:ext cx="3538728" cy="2834640"/>
          </a:xfrm>
          <a:prstGeom prst="rect">
            <a:avLst/>
          </a:prstGeom>
          <a:solidFill>
            <a:srgbClr val="EFEFEF"/>
          </a:solidFill>
          <a:ln w="12700">
            <a:solidFill>
              <a:srgbClr val="EFEFEF"/>
            </a:solidFill>
            <a:prstDash val="solid"/>
          </a:ln>
        </p:spPr>
      </p:sp>
      <p:sp>
        <p:nvSpPr>
          <p:cNvPr id="14" name="Text 12"/>
          <p:cNvSpPr txBox="1"/>
          <p:nvPr/>
        </p:nvSpPr>
        <p:spPr>
          <a:xfrm>
            <a:off x="4507992" y="3337560"/>
            <a:ext cx="3081528" cy="23774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000000"/>
                </a:solidFill>
                <a:latin typeface="Cambria" pitchFamily="34" charset="0"/>
                <a:ea typeface="Cambria" pitchFamily="34" charset="-122"/>
                <a:cs typeface="Cambria" pitchFamily="34" charset="-120"/>
              </a:rPr>
              <a:t>Keep Monitor Labs open in a tab</a:t>
            </a:r>
            <a:endParaRPr lang="en-US" sz="1500" dirty="0"/>
          </a:p>
          <a:p>
            <a:pPr marL="342900" indent="-342900">
              <a:spcAft>
                <a:spcPts val="1200"/>
              </a:spcAft>
              <a:buSzPct val="100000"/>
              <a:buChar char="•"/>
            </a:pPr>
            <a:r>
              <a:rPr lang="en-US" sz="1500" dirty="0">
                <a:solidFill>
                  <a:srgbClr val="000000"/>
                </a:solidFill>
                <a:latin typeface="Cambria" pitchFamily="34" charset="0"/>
                <a:ea typeface="Cambria" pitchFamily="34" charset="-122"/>
                <a:cs typeface="Cambria" pitchFamily="34" charset="-120"/>
              </a:rPr>
              <a:t>Check in on anyone idle for a long time</a:t>
            </a:r>
            <a:endParaRPr lang="en-US" sz="1500" dirty="0"/>
          </a:p>
        </p:txBody>
      </p:sp>
      <p:sp>
        <p:nvSpPr>
          <p:cNvPr id="15" name="Step 3"/>
          <p:cNvSpPr/>
          <p:nvPr/>
        </p:nvSpPr>
        <p:spPr>
          <a:xfrm>
            <a:off x="8010144" y="1828800"/>
            <a:ext cx="502920" cy="502920"/>
          </a:xfrm>
          <a:prstGeom prst="ellipse">
            <a:avLst/>
          </a:prstGeom>
          <a:solidFill>
            <a:srgbClr val="E41E26"/>
          </a:solidFill>
          <a:ln w="12700">
            <a:solidFill>
              <a:srgbClr val="E41E26"/>
            </a:solidFill>
            <a:prstDash val="solid"/>
          </a:ln>
        </p:spPr>
      </p:sp>
      <p:sp>
        <p:nvSpPr>
          <p:cNvPr id="16" name="Text 14"/>
          <p:cNvSpPr txBox="1"/>
          <p:nvPr/>
        </p:nvSpPr>
        <p:spPr>
          <a:xfrm>
            <a:off x="8010144" y="1828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010144" y="2560320"/>
            <a:ext cx="3538728" cy="41148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End of session</a:t>
            </a:r>
            <a:endParaRPr lang="en-US" sz="2000" dirty="0"/>
          </a:p>
        </p:txBody>
      </p:sp>
      <p:sp>
        <p:nvSpPr>
          <p:cNvPr id="18" name="Panel"/>
          <p:cNvSpPr/>
          <p:nvPr/>
        </p:nvSpPr>
        <p:spPr>
          <a:xfrm>
            <a:off x="8010144" y="3108960"/>
            <a:ext cx="3538728" cy="2834640"/>
          </a:xfrm>
          <a:prstGeom prst="rect">
            <a:avLst/>
          </a:prstGeom>
          <a:solidFill>
            <a:srgbClr val="000000"/>
          </a:solidFill>
          <a:ln w="12700">
            <a:solidFill>
              <a:srgbClr val="000000"/>
            </a:solidFill>
            <a:prstDash val="solid"/>
          </a:ln>
        </p:spPr>
      </p:sp>
      <p:sp>
        <p:nvSpPr>
          <p:cNvPr id="19" name="Text 17"/>
          <p:cNvSpPr txBox="1"/>
          <p:nvPr/>
        </p:nvSpPr>
        <p:spPr>
          <a:xfrm>
            <a:off x="8238744" y="3337560"/>
            <a:ext cx="3081528" cy="23774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FFFFFF"/>
                </a:solidFill>
                <a:latin typeface="Cambria" pitchFamily="34" charset="0"/>
                <a:ea typeface="Cambria" pitchFamily="34" charset="-122"/>
                <a:cs typeface="Cambria" pitchFamily="34" charset="-120"/>
              </a:rPr>
              <a:t>15 minutes before: “Commit, push, confirm on GitHub”</a:t>
            </a:r>
            <a:endParaRPr lang="en-US" sz="1500" dirty="0"/>
          </a:p>
          <a:p>
            <a:pPr marL="342900" indent="-342900">
              <a:spcAft>
                <a:spcPts val="1200"/>
              </a:spcAft>
              <a:buSzPct val="100000"/>
              <a:buChar char="•"/>
            </a:pPr>
            <a:r>
              <a:rPr lang="en-US" sz="1500" dirty="0">
                <a:solidFill>
                  <a:srgbClr val="FFFFFF"/>
                </a:solidFill>
                <a:latin typeface="Cambria" pitchFamily="34" charset="0"/>
                <a:ea typeface="Cambria" pitchFamily="34" charset="-122"/>
                <a:cs typeface="Cambria" pitchFamily="34" charset="-120"/>
              </a:rPr>
              <a:t>Then Save and Close or End, as the program specifies</a:t>
            </a:r>
            <a:endParaRPr lang="en-US" sz="15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ROUTING</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Who to </a:t>
            </a:r>
            <a:pPr indent="0" marL="0">
              <a:buNone/>
            </a:pPr>
            <a:r>
              <a:rPr lang="en-US" sz="3400" b="1" dirty="0">
                <a:solidFill>
                  <a:srgbClr val="E41E26"/>
                </a:solidFill>
                <a:latin typeface="Arial" pitchFamily="34" charset="0"/>
                <a:ea typeface="Arial" pitchFamily="34" charset="-122"/>
                <a:cs typeface="Arial" pitchFamily="34" charset="-120"/>
              </a:rPr>
              <a:t>contact</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graphicFrame>
        <p:nvGraphicFramePr>
          <p:cNvPr id="14" name="Contact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5486400"/>
                <a:gridCol w="5605272"/>
              </a:tblGrid>
              <a:tr h="512064">
                <a:tc>
                  <a:txBody>
                    <a:bodyPr/>
                    <a:lstStyle/>
                    <a:p>
                      <a:pPr indent="0" marL="0">
                        <a:buNone/>
                      </a:pPr>
                      <a:r>
                        <a:rPr lang="en-US" sz="1200" b="1" dirty="0">
                          <a:solidFill>
                            <a:srgbClr val="FFFFFF"/>
                          </a:solidFill>
                          <a:latin typeface="Arial" pitchFamily="34" charset="0"/>
                          <a:ea typeface="Arial" pitchFamily="34" charset="-122"/>
                          <a:cs typeface="Arial" pitchFamily="34" charset="-120"/>
                        </a:rPr>
                        <a:t>Issue</a:t>
                      </a:r>
                      <a:endParaRPr lang="en-US" sz="12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Contact</a:t>
                      </a:r>
                      <a:endParaRPr lang="en-US" sz="12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41E26"/>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Learner can’t sign in or isn’t on the roster</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The program’s CSM</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Tool missing, VM broken, lab settings</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Lab Platform Admin</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Lab instruction errors</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The course LED / SME, who sends the fix to the Lab Platform Admin</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Whole platform down</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Check status.skillable.com, then tell the Lab Platform Admin</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Any lab issue outside the Lab Platform Admin’s hours (e.g. UK daytime)</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Skillable support directly (next slide)</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000000"/>
                          </a:solidFill>
                          <a:latin typeface="Arial" pitchFamily="34" charset="0"/>
                          <a:ea typeface="Arial" pitchFamily="34" charset="-122"/>
                          <a:cs typeface="Arial" pitchFamily="34" charset="-120"/>
                        </a:rPr>
                        <a:t>Urgent during a live class</a:t>
                      </a:r>
                      <a:endParaRPr lang="en-US" sz="1400" dirty="0">
                        <a:latin typeface="Arial" charset="0"/>
                        <a:ea typeface="Arial" charset="0"/>
                        <a:cs typeface="Arial"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400" b="1" dirty="0">
                          <a:solidFill>
                            <a:srgbClr val="000000"/>
                          </a:solidFill>
                          <a:latin typeface="Cambria" pitchFamily="34" charset="0"/>
                          <a:ea typeface="Cambria" pitchFamily="34" charset="-122"/>
                          <a:cs typeface="Cambria" pitchFamily="34" charset="-120"/>
                        </a:rPr>
                        <a:t>The program’s CSM, who escalates if needed</a:t>
                      </a:r>
                      <a:endParaRPr lang="en-US" sz="1400" dirty="0">
                        <a:latin typeface="Cambria" charset="0"/>
                        <a:ea typeface="Cambria" charset="0"/>
                        <a:cs typeface="Cambria" charset="0"/>
                      </a:endParaRPr>
                    </a:p>
                  </a:txBody>
                  <a:tcPr marL="128016" marR="12801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r>
            </a:tbl>
          </a:graphicData>
        </a:graphic>
      </p:graphicFrame>
      <p:sp>
        <p:nvSpPr>
          <p:cNvPr id="5" name="Text 2"/>
          <p:cNvSpPr txBox="1"/>
          <p:nvPr/>
        </p:nvSpPr>
        <p:spPr>
          <a:xfrm>
            <a:off x="548640" y="5532120"/>
            <a:ext cx="10972800" cy="41148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latin typeface="Cambria" pitchFamily="34" charset="0"/>
                <a:ea typeface="Cambria" pitchFamily="34" charset="-122"/>
                <a:cs typeface="Cambria" pitchFamily="34" charset="-120"/>
              </a:rPr>
              <a:t>During the Lab Platform Admin’s hours, </a:t>
            </a:r>
            <a:pPr indent="0" marL="0">
              <a:spcAft>
                <a:spcPts val="400"/>
              </a:spcAft>
              <a:buNone/>
            </a:pPr>
            <a:r>
              <a:rPr lang="en-US" sz="1400" dirty="0">
                <a:solidFill>
                  <a:srgbClr val="000000"/>
                </a:solidFill>
                <a:latin typeface="Cambria" pitchFamily="34" charset="0"/>
                <a:ea typeface="Cambria" pitchFamily="34" charset="-122"/>
                <a:cs typeface="Cambria" pitchFamily="34" charset="-120"/>
              </a:rPr>
              <a:t>route issues through GA so there’s one thread and one record.</a:t>
            </a:r>
            <a:endParaRPr lang="en-US" sz="14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AFTER HOURS OR OTHER TIME ZONES</a:t>
            </a:r>
            <a:endParaRPr lang="en-US" sz="1200" dirty="0"/>
          </a:p>
        </p:txBody>
      </p:sp>
      <p:sp>
        <p:nvSpPr>
          <p:cNvPr id="3"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000000"/>
                </a:solidFill>
                <a:latin typeface="Arial" pitchFamily="34" charset="0"/>
                <a:ea typeface="Arial" pitchFamily="34" charset="-122"/>
                <a:cs typeface="Arial" pitchFamily="34" charset="-120"/>
              </a:rPr>
              <a:t>Contacting Skillable </a:t>
            </a:r>
            <a:pPr indent="0" marL="0">
              <a:buNone/>
            </a:pPr>
            <a:r>
              <a:rPr lang="en-US" sz="3400" b="1" dirty="0">
                <a:solidFill>
                  <a:srgbClr val="E41E26"/>
                </a:solidFill>
                <a:latin typeface="Arial" pitchFamily="34" charset="0"/>
                <a:ea typeface="Arial" pitchFamily="34" charset="-122"/>
                <a:cs typeface="Arial" pitchFamily="34" charset="-120"/>
              </a:rPr>
              <a:t>support</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4" name="Panel"/>
          <p:cNvSpPr/>
          <p:nvPr/>
        </p:nvSpPr>
        <p:spPr>
          <a:xfrm>
            <a:off x="548640" y="1783080"/>
            <a:ext cx="5120640" cy="4160520"/>
          </a:xfrm>
          <a:prstGeom prst="rect">
            <a:avLst/>
          </a:prstGeom>
          <a:solidFill>
            <a:srgbClr val="000000"/>
          </a:solidFill>
          <a:ln w="12700">
            <a:solidFill>
              <a:srgbClr val="000000"/>
            </a:solidFill>
            <a:prstDash val="solid"/>
          </a:ln>
        </p:spPr>
      </p:sp>
      <p:pic>
        <p:nvPicPr>
          <p:cNvPr id="5" name="Image 0" descr="/home/claude/deck/img/fp-whorl-white.png">    </p:cNvPr>
          <p:cNvPicPr>
            <a:picLocks noChangeAspect="1"/>
          </p:cNvPicPr>
          <p:nvPr/>
        </p:nvPicPr>
        <p:blipFill>
          <a:blip r:embed="rId1"/>
          <a:stretch>
            <a:fillRect/>
          </a:stretch>
        </p:blipFill>
        <p:spPr>
          <a:xfrm>
            <a:off x="3611880" y="3246120"/>
            <a:ext cx="1783080" cy="2606040"/>
          </a:xfrm>
          <a:prstGeom prst="rect">
            <a:avLst/>
          </a:prstGeom>
        </p:spPr>
      </p:pic>
      <p:pic>
        <p:nvPicPr>
          <p:cNvPr id="6" name="Icon LuTicket" descr="/home/claude/deck/img/LuTicket-w.png">    </p:cNvPr>
          <p:cNvPicPr>
            <a:picLocks noChangeAspect="1"/>
          </p:cNvPicPr>
          <p:nvPr/>
        </p:nvPicPr>
        <p:blipFill>
          <a:blip r:embed="rId2"/>
          <a:stretch>
            <a:fillRect/>
          </a:stretch>
        </p:blipFill>
        <p:spPr>
          <a:xfrm>
            <a:off x="868680" y="2103120"/>
            <a:ext cx="731520" cy="731520"/>
          </a:xfrm>
          <a:prstGeom prst="rect">
            <a:avLst/>
          </a:prstGeom>
        </p:spPr>
      </p:pic>
      <p:sp>
        <p:nvSpPr>
          <p:cNvPr id="7" name="Text 3"/>
          <p:cNvSpPr txBox="1"/>
          <p:nvPr/>
        </p:nvSpPr>
        <p:spPr>
          <a:xfrm>
            <a:off x="868680" y="3017520"/>
            <a:ext cx="448056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Open a support ticket</a:t>
            </a:r>
            <a:endParaRPr lang="en-US" sz="2000" dirty="0"/>
          </a:p>
        </p:txBody>
      </p:sp>
      <p:sp>
        <p:nvSpPr>
          <p:cNvPr id="8" name="Text 4"/>
          <p:cNvSpPr txBox="1"/>
          <p:nvPr/>
        </p:nvSpPr>
        <p:spPr>
          <a:xfrm>
            <a:off x="868680" y="3474720"/>
            <a:ext cx="4480560" cy="365760"/>
          </a:xfrm>
          <a:prstGeom prst="rect">
            <a:avLst/>
          </a:prstGeom>
          <a:noFill/>
          <a:ln/>
        </p:spPr>
        <p:txBody>
          <a:bodyPr wrap="square" lIns="0" tIns="0" rIns="0" bIns="0" rtlCol="0" anchor="t"/>
          <a:lstStyle/>
          <a:p>
            <a:pPr indent="0" marL="0">
              <a:spcAft>
                <a:spcPts val="400"/>
              </a:spcAft>
              <a:buNone/>
            </a:pPr>
            <a:r>
              <a:rPr lang="en-US" sz="1500" dirty="0">
                <a:solidFill>
                  <a:srgbClr val="D9D9D9"/>
                </a:solidFill>
                <a:latin typeface="Cambria" pitchFamily="34" charset="0"/>
                <a:ea typeface="Cambria" pitchFamily="34" charset="-122"/>
                <a:cs typeface="Cambria" pitchFamily="34" charset="-120"/>
              </a:rPr>
              <a:t>skillable.com/customer-support</a:t>
            </a:r>
            <a:endParaRPr lang="en-US" sz="1500" dirty="0"/>
          </a:p>
        </p:txBody>
      </p:sp>
      <p:sp>
        <p:nvSpPr>
          <p:cNvPr id="9" name="Text 5"/>
          <p:cNvSpPr txBox="1"/>
          <p:nvPr/>
        </p:nvSpPr>
        <p:spPr>
          <a:xfrm>
            <a:off x="868680" y="4023360"/>
            <a:ext cx="3291840" cy="1737360"/>
          </a:xfrm>
          <a:prstGeom prst="rect">
            <a:avLst/>
          </a:prstGeom>
          <a:noFill/>
          <a:ln/>
        </p:spPr>
        <p:txBody>
          <a:bodyPr wrap="square" lIns="0" tIns="0" rIns="0" bIns="0" rtlCol="0" anchor="t"/>
          <a:lstStyle/>
          <a:p>
            <a:pPr indent="0" marL="0">
              <a:spcAft>
                <a:spcPts val="1000"/>
              </a:spcAft>
              <a:buNone/>
            </a:pPr>
            <a:r>
              <a:rPr lang="en-US" sz="1500" b="1" dirty="0">
                <a:solidFill>
                  <a:srgbClr val="E41E26"/>
                </a:solidFill>
                <a:latin typeface="Cambria" pitchFamily="34" charset="0"/>
                <a:ea typeface="Cambria" pitchFamily="34" charset="-122"/>
                <a:cs typeface="Cambria" pitchFamily="34" charset="-120"/>
              </a:rPr>
              <a:t>24/7 </a:t>
            </a:r>
            <a:pPr indent="0" marL="0">
              <a:spcAft>
                <a:spcPts val="1000"/>
              </a:spcAft>
              <a:buNone/>
            </a:pPr>
            <a:r>
              <a:rPr lang="en-US" sz="1500" dirty="0">
                <a:solidFill>
                  <a:srgbClr val="FFFFFF"/>
                </a:solidFill>
                <a:latin typeface="Cambria" pitchFamily="34" charset="0"/>
                <a:ea typeface="Cambria" pitchFamily="34" charset="-122"/>
                <a:cs typeface="Cambria" pitchFamily="34" charset="-120"/>
              </a:rPr>
              <a:t>support, on our premium tier: tickets are picked up right away.</a:t>
            </a:r>
            <a:endParaRPr lang="en-US" sz="1500" dirty="0"/>
          </a:p>
          <a:p>
            <a:pPr indent="0" marL="0">
              <a:spcAft>
                <a:spcPts val="1000"/>
              </a:spcAft>
              <a:buNone/>
            </a:pPr>
            <a:r>
              <a:rPr lang="en-US" sz="1500" b="1" dirty="0">
                <a:solidFill>
                  <a:srgbClr val="E41E26"/>
                </a:solidFill>
                <a:latin typeface="Cambria" pitchFamily="34" charset="0"/>
                <a:ea typeface="Cambria" pitchFamily="34" charset="-122"/>
                <a:cs typeface="Cambria" pitchFamily="34" charset="-120"/>
              </a:rPr>
              <a:t>LIVE CLASS </a:t>
            </a:r>
            <a:pPr indent="0" marL="0">
              <a:spcAft>
                <a:spcPts val="1000"/>
              </a:spcAft>
              <a:buNone/>
            </a:pPr>
            <a:r>
              <a:rPr lang="en-US" sz="1500" dirty="0">
                <a:solidFill>
                  <a:srgbClr val="FFFFFF"/>
                </a:solidFill>
                <a:latin typeface="Cambria" pitchFamily="34" charset="0"/>
                <a:ea typeface="Cambria" pitchFamily="34" charset="-122"/>
                <a:cs typeface="Cambria" pitchFamily="34" charset="-120"/>
              </a:rPr>
              <a:t>in the subject line if a class is blocked.</a:t>
            </a:r>
            <a:endParaRPr lang="en-US" sz="1500" dirty="0"/>
          </a:p>
        </p:txBody>
      </p:sp>
      <p:sp>
        <p:nvSpPr>
          <p:cNvPr id="10" name="Text 6"/>
          <p:cNvSpPr txBox="1"/>
          <p:nvPr/>
        </p:nvSpPr>
        <p:spPr>
          <a:xfrm>
            <a:off x="6035040" y="1783080"/>
            <a:ext cx="5486400" cy="411480"/>
          </a:xfrm>
          <a:prstGeom prst="rect">
            <a:avLst/>
          </a:prstGeom>
          <a:noFill/>
          <a:ln/>
        </p:spPr>
        <p:txBody>
          <a:bodyPr wrap="square" lIns="0" tIns="0" rIns="0" bIns="0" rtlCol="0" anchor="ctr"/>
          <a:lstStyle/>
          <a:p>
            <a:pPr indent="0" marL="0">
              <a:buNone/>
            </a:pPr>
            <a:r>
              <a:rPr lang="en-US" sz="1900" b="1" dirty="0">
                <a:solidFill>
                  <a:srgbClr val="000000"/>
                </a:solidFill>
                <a:latin typeface="Arial" pitchFamily="34" charset="0"/>
                <a:ea typeface="Arial" pitchFamily="34" charset="-122"/>
                <a:cs typeface="Arial" pitchFamily="34" charset="-120"/>
              </a:rPr>
              <a:t>Include in every ticket</a:t>
            </a:r>
            <a:endParaRPr lang="en-US" sz="1900" dirty="0"/>
          </a:p>
        </p:txBody>
      </p:sp>
      <p:sp>
        <p:nvSpPr>
          <p:cNvPr id="11" name="Checkbox"/>
          <p:cNvSpPr/>
          <p:nvPr/>
        </p:nvSpPr>
        <p:spPr>
          <a:xfrm>
            <a:off x="6035040" y="2432304"/>
            <a:ext cx="256032" cy="256032"/>
          </a:xfrm>
          <a:prstGeom prst="rect">
            <a:avLst/>
          </a:prstGeom>
          <a:solidFill>
            <a:srgbClr val="FFFFFF"/>
          </a:solidFill>
          <a:ln w="19050">
            <a:solidFill>
              <a:srgbClr val="E41E26"/>
            </a:solidFill>
            <a:prstDash val="solid"/>
          </a:ln>
        </p:spPr>
      </p:sp>
      <p:sp>
        <p:nvSpPr>
          <p:cNvPr id="12" name="Text 8"/>
          <p:cNvSpPr txBox="1"/>
          <p:nvPr/>
        </p:nvSpPr>
        <p:spPr>
          <a:xfrm>
            <a:off x="6446520" y="2377440"/>
            <a:ext cx="5212080" cy="54864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Lab instance ID for each affected learner (Help panel)</a:t>
            </a:r>
            <a:endParaRPr lang="en-US" sz="1500" dirty="0"/>
          </a:p>
        </p:txBody>
      </p:sp>
      <p:sp>
        <p:nvSpPr>
          <p:cNvPr id="13" name="Checkbox"/>
          <p:cNvSpPr/>
          <p:nvPr/>
        </p:nvSpPr>
        <p:spPr>
          <a:xfrm>
            <a:off x="6035040" y="3054096"/>
            <a:ext cx="256032" cy="256032"/>
          </a:xfrm>
          <a:prstGeom prst="rect">
            <a:avLst/>
          </a:prstGeom>
          <a:solidFill>
            <a:srgbClr val="FFFFFF"/>
          </a:solidFill>
          <a:ln w="19050">
            <a:solidFill>
              <a:srgbClr val="E41E26"/>
            </a:solidFill>
            <a:prstDash val="solid"/>
          </a:ln>
        </p:spPr>
      </p:sp>
      <p:sp>
        <p:nvSpPr>
          <p:cNvPr id="14" name="Text 10"/>
          <p:cNvSpPr txBox="1"/>
          <p:nvPr/>
        </p:nvSpPr>
        <p:spPr>
          <a:xfrm>
            <a:off x="6446520" y="2999232"/>
            <a:ext cx="5212080" cy="54864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Class page link and learner names if you don’t have IDs</a:t>
            </a:r>
            <a:endParaRPr lang="en-US" sz="1500" dirty="0"/>
          </a:p>
        </p:txBody>
      </p:sp>
      <p:sp>
        <p:nvSpPr>
          <p:cNvPr id="15" name="Checkbox"/>
          <p:cNvSpPr/>
          <p:nvPr/>
        </p:nvSpPr>
        <p:spPr>
          <a:xfrm>
            <a:off x="6035040" y="3675888"/>
            <a:ext cx="256032" cy="256032"/>
          </a:xfrm>
          <a:prstGeom prst="rect">
            <a:avLst/>
          </a:prstGeom>
          <a:solidFill>
            <a:srgbClr val="FFFFFF"/>
          </a:solidFill>
          <a:ln w="19050">
            <a:solidFill>
              <a:srgbClr val="E41E26"/>
            </a:solidFill>
            <a:prstDash val="solid"/>
          </a:ln>
        </p:spPr>
      </p:sp>
      <p:sp>
        <p:nvSpPr>
          <p:cNvPr id="16" name="Text 12"/>
          <p:cNvSpPr txBox="1"/>
          <p:nvPr/>
        </p:nvSpPr>
        <p:spPr>
          <a:xfrm>
            <a:off x="6446520" y="3621024"/>
            <a:ext cx="5212080" cy="54864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How many learners are affected</a:t>
            </a:r>
            <a:endParaRPr lang="en-US" sz="1500" dirty="0"/>
          </a:p>
        </p:txBody>
      </p:sp>
      <p:sp>
        <p:nvSpPr>
          <p:cNvPr id="17" name="Checkbox"/>
          <p:cNvSpPr/>
          <p:nvPr/>
        </p:nvSpPr>
        <p:spPr>
          <a:xfrm>
            <a:off x="6035040" y="4297680"/>
            <a:ext cx="256032" cy="256032"/>
          </a:xfrm>
          <a:prstGeom prst="rect">
            <a:avLst/>
          </a:prstGeom>
          <a:solidFill>
            <a:srgbClr val="FFFFFF"/>
          </a:solidFill>
          <a:ln w="19050">
            <a:solidFill>
              <a:srgbClr val="E41E26"/>
            </a:solidFill>
            <a:prstDash val="solid"/>
          </a:ln>
        </p:spPr>
      </p:sp>
      <p:sp>
        <p:nvSpPr>
          <p:cNvPr id="18" name="Text 14"/>
          <p:cNvSpPr txBox="1"/>
          <p:nvPr/>
        </p:nvSpPr>
        <p:spPr>
          <a:xfrm>
            <a:off x="6446520" y="4242816"/>
            <a:ext cx="5212080" cy="54864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What you expected vs. what happened, with screenshots</a:t>
            </a:r>
            <a:endParaRPr lang="en-US" sz="1500" dirty="0"/>
          </a:p>
        </p:txBody>
      </p:sp>
      <p:sp>
        <p:nvSpPr>
          <p:cNvPr id="19" name="Checkbox"/>
          <p:cNvSpPr/>
          <p:nvPr/>
        </p:nvSpPr>
        <p:spPr>
          <a:xfrm>
            <a:off x="6035040" y="4919472"/>
            <a:ext cx="256032" cy="256032"/>
          </a:xfrm>
          <a:prstGeom prst="rect">
            <a:avLst/>
          </a:prstGeom>
          <a:solidFill>
            <a:srgbClr val="FFFFFF"/>
          </a:solidFill>
          <a:ln w="19050">
            <a:solidFill>
              <a:srgbClr val="E41E26"/>
            </a:solidFill>
            <a:prstDash val="solid"/>
          </a:ln>
        </p:spPr>
      </p:sp>
      <p:sp>
        <p:nvSpPr>
          <p:cNvPr id="20" name="Text 16"/>
          <p:cNvSpPr txBox="1"/>
          <p:nvPr/>
        </p:nvSpPr>
        <p:spPr>
          <a:xfrm>
            <a:off x="6446520" y="4864608"/>
            <a:ext cx="5212080" cy="548640"/>
          </a:xfrm>
          <a:prstGeom prst="rect">
            <a:avLst/>
          </a:prstGeom>
          <a:noFill/>
          <a:ln/>
        </p:spPr>
        <p:txBody>
          <a:bodyPr wrap="square" lIns="0" tIns="0" rIns="0" bIns="0" rtlCol="0" anchor="t"/>
          <a:lstStyle/>
          <a:p>
            <a:pPr indent="0" marL="0">
              <a:spcAft>
                <a:spcPts val="400"/>
              </a:spcAft>
              <a:buNone/>
            </a:pPr>
            <a:r>
              <a:rPr lang="en-US" sz="1500" dirty="0">
                <a:solidFill>
                  <a:srgbClr val="000000"/>
                </a:solidFill>
                <a:latin typeface="Cambria" pitchFamily="34" charset="0"/>
                <a:ea typeface="Cambria" pitchFamily="34" charset="-122"/>
                <a:cs typeface="Cambria" pitchFamily="34" charset="-120"/>
              </a:rPr>
              <a:t>Constant or intermittent, and what you’ve tried</a:t>
            </a:r>
            <a:endParaRPr lang="en-US" sz="1500" dirty="0"/>
          </a:p>
        </p:txBody>
      </p:sp>
      <p:sp>
        <p:nvSpPr>
          <p:cNvPr id="21" name="Text 17"/>
          <p:cNvSpPr txBox="1"/>
          <p:nvPr/>
        </p:nvSpPr>
        <p:spPr>
          <a:xfrm>
            <a:off x="6035040" y="5532120"/>
            <a:ext cx="5577840" cy="411480"/>
          </a:xfrm>
          <a:prstGeom prst="rect">
            <a:avLst/>
          </a:prstGeom>
          <a:noFill/>
          <a:ln/>
        </p:spPr>
        <p:txBody>
          <a:bodyPr wrap="square" lIns="0" tIns="0" rIns="0" bIns="0" rtlCol="0" anchor="t"/>
          <a:lstStyle/>
          <a:p>
            <a:pPr indent="0" marL="0">
              <a:spcAft>
                <a:spcPts val="400"/>
              </a:spcAft>
              <a:buNone/>
            </a:pPr>
            <a:r>
              <a:rPr lang="en-US" sz="1500" b="1" dirty="0">
                <a:solidFill>
                  <a:srgbClr val="E41E26"/>
                </a:solidFill>
                <a:latin typeface="Cambria" pitchFamily="34" charset="0"/>
                <a:ea typeface="Cambria" pitchFamily="34" charset="-122"/>
                <a:cs typeface="Cambria" pitchFamily="34" charset="-120"/>
              </a:rPr>
              <a:t>Afterwards: </a:t>
            </a:r>
            <a:pPr indent="0" marL="0">
              <a:spcAft>
                <a:spcPts val="400"/>
              </a:spcAft>
              <a:buNone/>
            </a:pPr>
            <a:r>
              <a:rPr lang="en-US" sz="1500" dirty="0">
                <a:solidFill>
                  <a:srgbClr val="000000"/>
                </a:solidFill>
                <a:latin typeface="Cambria" pitchFamily="34" charset="0"/>
                <a:ea typeface="Cambria" pitchFamily="34" charset="-122"/>
                <a:cs typeface="Cambria" pitchFamily="34" charset="-120"/>
              </a:rPr>
              <a:t>send the ticket number to the Lab Platform Admin.</a:t>
            </a:r>
            <a:endParaRPr lang="en-US" sz="15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Fingerprint" descr="/home/claude/deck/img/fp-loop-white.png">    </p:cNvPr>
          <p:cNvPicPr>
            <a:picLocks noChangeAspect="1"/>
          </p:cNvPicPr>
          <p:nvPr/>
        </p:nvPicPr>
        <p:blipFill>
          <a:blip r:embed="rId1"/>
          <a:stretch>
            <a:fillRect/>
          </a:stretch>
        </p:blipFill>
        <p:spPr>
          <a:xfrm>
            <a:off x="8778240" y="-365760"/>
            <a:ext cx="3566160" cy="5760720"/>
          </a:xfrm>
          <a:prstGeom prst="rect">
            <a:avLst/>
          </a:prstGeom>
        </p:spPr>
      </p:pic>
      <p:sp>
        <p:nvSpPr>
          <p:cNvPr id="3" name="Eyebrow"/>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41E26"/>
                </a:solidFill>
                <a:latin typeface="Arial" pitchFamily="34" charset="0"/>
                <a:ea typeface="Arial" pitchFamily="34" charset="-122"/>
                <a:cs typeface="Arial" pitchFamily="34" charset="-120"/>
              </a:rPr>
              <a:t>REMEMBER</a:t>
            </a:r>
            <a:endParaRPr lang="en-US" sz="1200" dirty="0"/>
          </a:p>
        </p:txBody>
      </p:sp>
      <p:sp>
        <p:nvSpPr>
          <p:cNvPr id="4" name="Title"/>
          <p:cNvSpPr txBox="1"/>
          <p:nvPr/>
        </p:nvSpPr>
        <p:spPr>
          <a:xfrm>
            <a:off x="548640" y="658368"/>
            <a:ext cx="11064240" cy="7772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Key </a:t>
            </a:r>
            <a:pPr indent="0" marL="0">
              <a:buNone/>
            </a:pPr>
            <a:r>
              <a:rPr lang="en-US" sz="3400" b="1" dirty="0">
                <a:solidFill>
                  <a:srgbClr val="E41E26"/>
                </a:solidFill>
                <a:latin typeface="Arial" pitchFamily="34" charset="0"/>
                <a:ea typeface="Arial" pitchFamily="34" charset="-122"/>
                <a:cs typeface="Arial" pitchFamily="34" charset="-120"/>
              </a:rPr>
              <a:t>takeaways</a:t>
            </a:r>
            <a:pPr indent="0" marL="0">
              <a:buNone/>
            </a:pPr>
            <a:r>
              <a:rPr lang="en-US" sz="3400" b="1" dirty="0">
                <a:solidFill>
                  <a:srgbClr val="E41E26"/>
                </a:solidFill>
                <a:latin typeface="Arial" pitchFamily="34" charset="0"/>
                <a:ea typeface="Arial" pitchFamily="34" charset="-122"/>
                <a:cs typeface="Arial" pitchFamily="34" charset="-120"/>
              </a:rPr>
              <a:t>.</a:t>
            </a:r>
            <a:endParaRPr lang="en-US" sz="3400" dirty="0"/>
          </a:p>
        </p:txBody>
      </p:sp>
      <p:sp>
        <p:nvSpPr>
          <p:cNvPr id="5" name="Text 2"/>
          <p:cNvSpPr txBox="1"/>
          <p:nvPr/>
        </p:nvSpPr>
        <p:spPr>
          <a:xfrm>
            <a:off x="548640" y="1828800"/>
            <a:ext cx="822960" cy="548640"/>
          </a:xfrm>
          <a:prstGeom prst="rect">
            <a:avLst/>
          </a:prstGeom>
          <a:noFill/>
          <a:ln/>
        </p:spPr>
        <p:txBody>
          <a:bodyPr wrap="square" lIns="0" tIns="0" rIns="0" bIns="0" rtlCol="0" anchor="ctr"/>
          <a:lstStyle/>
          <a:p>
            <a:pPr indent="0" marL="0">
              <a:buNone/>
            </a:pPr>
            <a:r>
              <a:rPr lang="en-US" sz="3000" b="1" dirty="0">
                <a:solidFill>
                  <a:srgbClr val="E41E26"/>
                </a:solidFill>
                <a:latin typeface="Arial" pitchFamily="34" charset="0"/>
                <a:ea typeface="Arial" pitchFamily="34" charset="-122"/>
                <a:cs typeface="Arial" pitchFamily="34" charset="-120"/>
              </a:rPr>
              <a:t>01</a:t>
            </a:r>
            <a:endParaRPr lang="en-US" sz="3000" dirty="0"/>
          </a:p>
        </p:txBody>
      </p:sp>
      <p:sp>
        <p:nvSpPr>
          <p:cNvPr id="6" name="Text 3"/>
          <p:cNvSpPr txBox="1"/>
          <p:nvPr/>
        </p:nvSpPr>
        <p:spPr>
          <a:xfrm>
            <a:off x="1463040" y="1874520"/>
            <a:ext cx="3931920" cy="10972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TMS is your classroom.</a:t>
            </a:r>
            <a:endParaRPr lang="en-US" sz="1900" dirty="0"/>
          </a:p>
          <a:p>
            <a:pPr indent="0" marL="0">
              <a:buNone/>
            </a:pPr>
            <a:r>
              <a:rPr lang="en-US" sz="1900" dirty="0">
                <a:solidFill>
                  <a:srgbClr val="BFBFBF"/>
                </a:solidFill>
                <a:latin typeface="Arial" pitchFamily="34" charset="0"/>
                <a:ea typeface="Arial" pitchFamily="34" charset="-122"/>
                <a:cs typeface="Arial" pitchFamily="34" charset="-120"/>
              </a:rPr>
              <a:t>Studio is the workshop.</a:t>
            </a:r>
            <a:endParaRPr lang="en-US" sz="1900" dirty="0"/>
          </a:p>
        </p:txBody>
      </p:sp>
      <p:sp>
        <p:nvSpPr>
          <p:cNvPr id="7" name="Text 4"/>
          <p:cNvSpPr txBox="1"/>
          <p:nvPr/>
        </p:nvSpPr>
        <p:spPr>
          <a:xfrm>
            <a:off x="5669280" y="1828800"/>
            <a:ext cx="822960" cy="548640"/>
          </a:xfrm>
          <a:prstGeom prst="rect">
            <a:avLst/>
          </a:prstGeom>
          <a:noFill/>
          <a:ln/>
        </p:spPr>
        <p:txBody>
          <a:bodyPr wrap="square" lIns="0" tIns="0" rIns="0" bIns="0" rtlCol="0" anchor="ctr"/>
          <a:lstStyle/>
          <a:p>
            <a:pPr indent="0" marL="0">
              <a:buNone/>
            </a:pPr>
            <a:r>
              <a:rPr lang="en-US" sz="3000" b="1" dirty="0">
                <a:solidFill>
                  <a:srgbClr val="E41E26"/>
                </a:solidFill>
                <a:latin typeface="Arial" pitchFamily="34" charset="0"/>
                <a:ea typeface="Arial" pitchFamily="34" charset="-122"/>
                <a:cs typeface="Arial" pitchFamily="34" charset="-120"/>
              </a:rPr>
              <a:t>02</a:t>
            </a:r>
            <a:endParaRPr lang="en-US" sz="3000" dirty="0"/>
          </a:p>
        </p:txBody>
      </p:sp>
      <p:sp>
        <p:nvSpPr>
          <p:cNvPr id="8" name="Text 5"/>
          <p:cNvSpPr txBox="1"/>
          <p:nvPr/>
        </p:nvSpPr>
        <p:spPr>
          <a:xfrm>
            <a:off x="6583680" y="1874520"/>
            <a:ext cx="3931920" cy="10972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Lab machines are copies.</a:t>
            </a:r>
            <a:endParaRPr lang="en-US" sz="1900" dirty="0"/>
          </a:p>
          <a:p>
            <a:pPr indent="0" marL="0">
              <a:buNone/>
            </a:pPr>
            <a:r>
              <a:rPr lang="en-US" sz="1900" dirty="0">
                <a:solidFill>
                  <a:srgbClr val="BFBFBF"/>
                </a:solidFill>
                <a:latin typeface="Arial" pitchFamily="34" charset="0"/>
                <a:ea typeface="Arial" pitchFamily="34" charset="-122"/>
                <a:cs typeface="Arial" pitchFamily="34" charset="-120"/>
              </a:rPr>
              <a:t>GitHub is the backup.</a:t>
            </a:r>
            <a:endParaRPr lang="en-US" sz="1900" dirty="0"/>
          </a:p>
        </p:txBody>
      </p:sp>
      <p:sp>
        <p:nvSpPr>
          <p:cNvPr id="9" name="Text 6"/>
          <p:cNvSpPr txBox="1"/>
          <p:nvPr/>
        </p:nvSpPr>
        <p:spPr>
          <a:xfrm>
            <a:off x="548640" y="3520440"/>
            <a:ext cx="822960" cy="548640"/>
          </a:xfrm>
          <a:prstGeom prst="rect">
            <a:avLst/>
          </a:prstGeom>
          <a:noFill/>
          <a:ln/>
        </p:spPr>
        <p:txBody>
          <a:bodyPr wrap="square" lIns="0" tIns="0" rIns="0" bIns="0" rtlCol="0" anchor="ctr"/>
          <a:lstStyle/>
          <a:p>
            <a:pPr indent="0" marL="0">
              <a:buNone/>
            </a:pPr>
            <a:r>
              <a:rPr lang="en-US" sz="3000" b="1" dirty="0">
                <a:solidFill>
                  <a:srgbClr val="E41E26"/>
                </a:solidFill>
                <a:latin typeface="Arial" pitchFamily="34" charset="0"/>
                <a:ea typeface="Arial" pitchFamily="34" charset="-122"/>
                <a:cs typeface="Arial" pitchFamily="34" charset="-120"/>
              </a:rPr>
              <a:t>03</a:t>
            </a:r>
            <a:endParaRPr lang="en-US" sz="3000" dirty="0"/>
          </a:p>
        </p:txBody>
      </p:sp>
      <p:sp>
        <p:nvSpPr>
          <p:cNvPr id="10" name="Text 7"/>
          <p:cNvSpPr txBox="1"/>
          <p:nvPr/>
        </p:nvSpPr>
        <p:spPr>
          <a:xfrm>
            <a:off x="1463040" y="3566160"/>
            <a:ext cx="3931920" cy="10972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Monitor Labs + Take Control</a:t>
            </a:r>
            <a:endParaRPr lang="en-US" sz="1900" dirty="0"/>
          </a:p>
          <a:p>
            <a:pPr indent="0" marL="0">
              <a:buNone/>
            </a:pPr>
            <a:r>
              <a:rPr lang="en-US" sz="1900" dirty="0">
                <a:solidFill>
                  <a:srgbClr val="BFBFBF"/>
                </a:solidFill>
                <a:latin typeface="Arial" pitchFamily="34" charset="0"/>
                <a:ea typeface="Arial" pitchFamily="34" charset="-122"/>
                <a:cs typeface="Arial" pitchFamily="34" charset="-120"/>
              </a:rPr>
              <a:t>is your superpower.</a:t>
            </a:r>
            <a:endParaRPr lang="en-US" sz="1900" dirty="0"/>
          </a:p>
        </p:txBody>
      </p:sp>
      <p:sp>
        <p:nvSpPr>
          <p:cNvPr id="11" name="Text 8"/>
          <p:cNvSpPr txBox="1"/>
          <p:nvPr/>
        </p:nvSpPr>
        <p:spPr>
          <a:xfrm>
            <a:off x="5669280" y="3520440"/>
            <a:ext cx="822960" cy="548640"/>
          </a:xfrm>
          <a:prstGeom prst="rect">
            <a:avLst/>
          </a:prstGeom>
          <a:noFill/>
          <a:ln/>
        </p:spPr>
        <p:txBody>
          <a:bodyPr wrap="square" lIns="0" tIns="0" rIns="0" bIns="0" rtlCol="0" anchor="ctr"/>
          <a:lstStyle/>
          <a:p>
            <a:pPr indent="0" marL="0">
              <a:buNone/>
            </a:pPr>
            <a:r>
              <a:rPr lang="en-US" sz="3000" b="1" dirty="0">
                <a:solidFill>
                  <a:srgbClr val="E41E26"/>
                </a:solidFill>
                <a:latin typeface="Arial" pitchFamily="34" charset="0"/>
                <a:ea typeface="Arial" pitchFamily="34" charset="-122"/>
                <a:cs typeface="Arial" pitchFamily="34" charset="-120"/>
              </a:rPr>
              <a:t>04</a:t>
            </a:r>
            <a:endParaRPr lang="en-US" sz="3000" dirty="0"/>
          </a:p>
        </p:txBody>
      </p:sp>
      <p:sp>
        <p:nvSpPr>
          <p:cNvPr id="12" name="Text 9"/>
          <p:cNvSpPr txBox="1"/>
          <p:nvPr/>
        </p:nvSpPr>
        <p:spPr>
          <a:xfrm>
            <a:off x="6583680" y="3566160"/>
            <a:ext cx="3931920" cy="10972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Problems route through GA first.</a:t>
            </a:r>
            <a:endParaRPr lang="en-US" sz="1900" dirty="0"/>
          </a:p>
          <a:p>
            <a:pPr indent="0" marL="0">
              <a:buNone/>
            </a:pPr>
            <a:r>
              <a:rPr lang="en-US" sz="1900" dirty="0">
                <a:solidFill>
                  <a:srgbClr val="BFBFBF"/>
                </a:solidFill>
                <a:latin typeface="Arial" pitchFamily="34" charset="0"/>
                <a:ea typeface="Arial" pitchFamily="34" charset="-122"/>
                <a:cs typeface="Arial" pitchFamily="34" charset="-120"/>
              </a:rPr>
              <a:t>Skillable after hours.</a:t>
            </a:r>
            <a:endParaRPr lang="en-US" sz="1900" dirty="0"/>
          </a:p>
        </p:txBody>
      </p:sp>
      <p:sp>
        <p:nvSpPr>
          <p:cNvPr id="13" name="Text 10"/>
          <p:cNvSpPr txBox="1"/>
          <p:nvPr/>
        </p:nvSpPr>
        <p:spPr>
          <a:xfrm>
            <a:off x="548640" y="5486400"/>
            <a:ext cx="10058400" cy="365760"/>
          </a:xfrm>
          <a:prstGeom prst="rect">
            <a:avLst/>
          </a:prstGeom>
          <a:noFill/>
          <a:ln/>
        </p:spPr>
        <p:txBody>
          <a:bodyPr wrap="square" lIns="0" tIns="0" rIns="0" bIns="0" rtlCol="0" anchor="ctr"/>
          <a:lstStyle/>
          <a:p>
            <a:pPr indent="0" marL="0">
              <a:buNone/>
            </a:pPr>
            <a:r>
              <a:rPr lang="en-US" sz="1300" dirty="0">
                <a:solidFill>
                  <a:srgbClr val="BFBFBF"/>
                </a:solidFill>
                <a:latin typeface="Arial" pitchFamily="34" charset="0"/>
                <a:ea typeface="Arial" pitchFamily="34" charset="-122"/>
                <a:cs typeface="Arial" pitchFamily="34" charset="-120"/>
              </a:rPr>
              <a:t>Next reads: 02 How Skillable labs work  ·  03 MTA cohort guide (if relevant)  ·  07 Glossary  ·  11 Troubleshooting</a:t>
            </a:r>
            <a:endParaRPr lang="en-US" sz="1300" dirty="0"/>
          </a:p>
        </p:txBody>
      </p:sp>
      <p:sp>
        <p:nvSpPr>
          <p:cNvPr id="25" name="Slide Number Placeholder 0"/>
          <p:cNvSpPr>
            <a:spLocks noGrp="1"/>
          </p:cNvSpPr>
          <p:nvPr>
            <p:ph type="sldNum" sz="quarter" idx="4294967295"/>
          </p:nvPr>
        </p:nvSpPr>
        <p:spPr>
          <a:xfrm>
            <a:off x="548640" y="638251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latin typeface="Arial"/>
                <a:ea typeface="Arial"/>
                <a:cs typeface="Arial"/>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Fingerprint" descr="/home/claude/deck/img/fp-arch-white.png">    </p:cNvPr>
          <p:cNvPicPr>
            <a:picLocks noChangeAspect="1"/>
          </p:cNvPicPr>
          <p:nvPr/>
        </p:nvPicPr>
        <p:blipFill>
          <a:blip r:embed="rId1"/>
          <a:stretch>
            <a:fillRect/>
          </a:stretch>
        </p:blipFill>
        <p:spPr>
          <a:xfrm>
            <a:off x="7863840" y="365760"/>
            <a:ext cx="3840480" cy="5715000"/>
          </a:xfrm>
          <a:prstGeom prst="rect">
            <a:avLst/>
          </a:prstGeom>
        </p:spPr>
      </p:pic>
      <p:sp>
        <p:nvSpPr>
          <p:cNvPr id="3" name="Angled shape"/>
          <p:cNvSpPr/>
          <p:nvPr/>
        </p:nvSpPr>
        <p:spPr>
          <a:xfrm flipH="1">
            <a:off x="0" y="5486400"/>
            <a:ext cx="12191695" cy="1371600"/>
          </a:xfrm>
          <a:prstGeom prst="rtTriangle">
            <a:avLst/>
          </a:prstGeom>
          <a:solidFill>
            <a:srgbClr val="E41E26"/>
          </a:solidFill>
          <a:ln w="12700">
            <a:solidFill>
              <a:srgbClr val="E41E26"/>
            </a:solidFill>
            <a:prstDash val="solid"/>
          </a:ln>
        </p:spPr>
      </p:sp>
      <p:pic>
        <p:nvPicPr>
          <p:cNvPr id="4" name="Image 1" descr="/home/claude/assets/logo-dark.png">    </p:cNvPr>
          <p:cNvPicPr>
            <a:picLocks noChangeAspect="1"/>
          </p:cNvPicPr>
          <p:nvPr/>
        </p:nvPicPr>
        <p:blipFill>
          <a:blip r:embed="rId2"/>
          <a:stretch>
            <a:fillRect/>
          </a:stretch>
        </p:blipFill>
        <p:spPr>
          <a:xfrm>
            <a:off x="548640" y="548640"/>
            <a:ext cx="2194560" cy="238658"/>
          </a:xfrm>
          <a:prstGeom prst="rect">
            <a:avLst/>
          </a:prstGeom>
        </p:spPr>
      </p:pic>
      <p:sp>
        <p:nvSpPr>
          <p:cNvPr id="5" name="Text 1"/>
          <p:cNvSpPr txBox="1"/>
          <p:nvPr/>
        </p:nvSpPr>
        <p:spPr>
          <a:xfrm>
            <a:off x="548640" y="2103120"/>
            <a:ext cx="7315200" cy="118872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Questions</a:t>
            </a:r>
            <a:pPr indent="0" marL="0">
              <a:buNone/>
            </a:pPr>
            <a:r>
              <a:rPr lang="en-US" sz="6600" b="1" dirty="0">
                <a:solidFill>
                  <a:srgbClr val="E41E26"/>
                </a:solidFill>
                <a:latin typeface="Arial" pitchFamily="34" charset="0"/>
                <a:ea typeface="Arial" pitchFamily="34" charset="-122"/>
                <a:cs typeface="Arial" pitchFamily="34" charset="-120"/>
              </a:rPr>
              <a:t>.</a:t>
            </a:r>
            <a:endParaRPr lang="en-US" sz="6600" dirty="0"/>
          </a:p>
        </p:txBody>
      </p:sp>
      <p:sp>
        <p:nvSpPr>
          <p:cNvPr id="6" name="Text 2"/>
          <p:cNvSpPr txBox="1"/>
          <p:nvPr/>
        </p:nvSpPr>
        <p:spPr>
          <a:xfrm>
            <a:off x="548640" y="3520440"/>
            <a:ext cx="6400800" cy="11887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Lauren Perez</a:t>
            </a:r>
            <a:endParaRPr lang="en-US" sz="1600" dirty="0"/>
          </a:p>
          <a:p>
            <a:pPr indent="0" marL="0">
              <a:buNone/>
            </a:pPr>
            <a:r>
              <a:rPr lang="en-US" sz="1600" dirty="0">
                <a:solidFill>
                  <a:srgbClr val="BFBFBF"/>
                </a:solidFill>
                <a:latin typeface="Arial" pitchFamily="34" charset="0"/>
                <a:ea typeface="Arial" pitchFamily="34" charset="-122"/>
                <a:cs typeface="Arial" pitchFamily="34" charset="-120"/>
              </a:rPr>
              <a:t>Lab Platform Admin</a:t>
            </a:r>
            <a:endParaRPr lang="en-US" sz="1600" dirty="0"/>
          </a:p>
          <a:p>
            <a:pPr indent="0" marL="0">
              <a:buNone/>
            </a:pPr>
            <a:r>
              <a:rPr lang="en-US" sz="1600" b="1" dirty="0">
                <a:solidFill>
                  <a:srgbClr val="E41E26"/>
                </a:solidFill>
                <a:latin typeface="Arial" pitchFamily="34" charset="0"/>
                <a:ea typeface="Arial" pitchFamily="34" charset="-122"/>
                <a:cs typeface="Arial" pitchFamily="34" charset="-120"/>
              </a:rPr>
              <a:t>lauren.perez@generalassemb.ly</a:t>
            </a:r>
            <a:endParaRPr lang="en-US" sz="1600" dirty="0"/>
          </a:p>
        </p:txBody>
      </p:sp>
    </p:spTree>
  </p:cSld>
  <p:clrMapOvr>
    <a:masterClrMapping/>
  </p:clrMapOvr>
</p:sld>
</file>

<file path=ppt/theme/theme1.xml><?xml version="1.0" encoding="utf-8"?>
<a:theme xmlns:a="http://schemas.openxmlformats.org/drawingml/2006/main" name="GA Brand">
  <a:themeElements>
    <a:clrScheme name="GA Brand">
      <a:dk1>
        <a:srgbClr val="000000"/>
      </a:dk1>
      <a:lt1>
        <a:srgbClr val="FFFFFF"/>
      </a:lt1>
      <a:dk2>
        <a:srgbClr val="262626"/>
      </a:dk2>
      <a:lt2>
        <a:srgbClr val="EFEFEF"/>
      </a:lt2>
      <a:accent1>
        <a:srgbClr val="E41E26"/>
      </a:accent1>
      <a:accent2>
        <a:srgbClr val="000000"/>
      </a:accent2>
      <a:accent3>
        <a:srgbClr val="595959"/>
      </a:accent3>
      <a:accent4>
        <a:srgbClr val="A6A6A6"/>
      </a:accent4>
      <a:accent5>
        <a:srgbClr val="FF484F"/>
      </a:accent5>
      <a:accent6>
        <a:srgbClr val="5C0702"/>
      </a:accent6>
      <a:hlink>
        <a:srgbClr val="E41E26"/>
      </a:hlink>
      <a:folHlink>
        <a:srgbClr val="5C0702"/>
      </a:folHlink>
    </a:clrScheme>
    <a:fontScheme name="GA Bra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General Assembly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Instructor Onboarding: Skillable &amp; TMS</dc:title>
  <dc:subject>PptxGenJS Presentation</dc:subject>
  <dc:creator>Lauren Perez, Lab Platform Admin</dc:creator>
  <cp:lastModifiedBy>Lauren Perez, Lab Platform Admin</cp:lastModifiedBy>
  <cp:revision>1</cp:revision>
  <dcterms:created xsi:type="dcterms:W3CDTF">2026-10-16T01:37:33Z</dcterms:created>
  <dcterms:modified xsi:type="dcterms:W3CDTF">2026-10-16T01:37:33Z</dcterms:modified>
</cp:coreProperties>
</file>